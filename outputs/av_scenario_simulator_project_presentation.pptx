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c2fd835a274322" /><Relationship Type="http://schemas.openxmlformats.org/officeDocument/2006/relationships/extended-properties" Target="/docProps/app.xml" Id="R430ae7d1083d42e7" /><Relationship Type="http://schemas.openxmlformats.org/officeDocument/2006/relationships/officeDocument" Target="/ppt/presentation.xml" Id="Rce9bb59ebd2a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4a7bc6c4b47ce"/>
  </p:sldMasterIdLst>
  <p:notesMasterIdLst>
    <p:notesMasterId xmlns:r="http://schemas.openxmlformats.org/officeDocument/2006/relationships" r:id="Re8959e070cd3419f"/>
  </p:notesMasterIdLst>
  <p:sldIdLst>
    <p:sldId xmlns:r="http://schemas.openxmlformats.org/officeDocument/2006/relationships" id="256" r:id="R3c1cc84cb64c4b10"/>
    <p:sldId xmlns:r="http://schemas.openxmlformats.org/officeDocument/2006/relationships" id="257" r:id="Rd97f5515c7174059"/>
    <p:sldId xmlns:r="http://schemas.openxmlformats.org/officeDocument/2006/relationships" id="258" r:id="R7a32be8954da484c"/>
    <p:sldId xmlns:r="http://schemas.openxmlformats.org/officeDocument/2006/relationships" id="259" r:id="R383e9aa8f3e242bc"/>
    <p:sldId xmlns:r="http://schemas.openxmlformats.org/officeDocument/2006/relationships" id="260" r:id="R29c9e2e932d34347"/>
    <p:sldId xmlns:r="http://schemas.openxmlformats.org/officeDocument/2006/relationships" id="261" r:id="R7b756022acca4399"/>
    <p:sldId xmlns:r="http://schemas.openxmlformats.org/officeDocument/2006/relationships" id="262" r:id="R873917c1f06e4529"/>
    <p:sldId xmlns:r="http://schemas.openxmlformats.org/officeDocument/2006/relationships" id="263" r:id="R54cb0f44cf604e3b"/>
    <p:sldId xmlns:r="http://schemas.openxmlformats.org/officeDocument/2006/relationships" id="264" r:id="Rc99456ee6f124d85"/>
    <p:sldId xmlns:r="http://schemas.openxmlformats.org/officeDocument/2006/relationships" id="265" r:id="R71b632cffb104a40"/>
    <p:sldId xmlns:r="http://schemas.openxmlformats.org/officeDocument/2006/relationships" id="266" r:id="Ra49aca9bd71d4749"/>
    <p:sldId xmlns:r="http://schemas.openxmlformats.org/officeDocument/2006/relationships" id="267" r:id="R31b2816dbbd846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e01b802cc4300" /><Relationship Type="http://schemas.openxmlformats.org/officeDocument/2006/relationships/slideMaster" Target="/ppt/slideMasters/slideMaster1.xml" Id="R6404a7bc6c4b47ce" /><Relationship Type="http://schemas.openxmlformats.org/officeDocument/2006/relationships/notesMaster" Target="/ppt/notesMasters/notesMaster1.xml" Id="Re8959e070cd3419f" /><Relationship Type="http://schemas.openxmlformats.org/officeDocument/2006/relationships/presProps" Target="/ppt/presProps.xml" Id="Rf4d7384ffa4941dc" /><Relationship Type="http://schemas.openxmlformats.org/officeDocument/2006/relationships/tableStyles" Target="/ppt/tableStyles.xml" Id="R01a8989d71a64864" /><Relationship Type="http://schemas.openxmlformats.org/officeDocument/2006/relationships/slide" Target="/ppt/slides/slide1.xml" Id="R3c1cc84cb64c4b10" /><Relationship Type="http://schemas.openxmlformats.org/officeDocument/2006/relationships/slide" Target="/ppt/slides/slide2.xml" Id="Rd97f5515c7174059" /><Relationship Type="http://schemas.openxmlformats.org/officeDocument/2006/relationships/slide" Target="/ppt/slides/slide3.xml" Id="R7a32be8954da484c" /><Relationship Type="http://schemas.openxmlformats.org/officeDocument/2006/relationships/slide" Target="/ppt/slides/slide4.xml" Id="R383e9aa8f3e242bc" /><Relationship Type="http://schemas.openxmlformats.org/officeDocument/2006/relationships/slide" Target="/ppt/slides/slide5.xml" Id="R29c9e2e932d34347" /><Relationship Type="http://schemas.openxmlformats.org/officeDocument/2006/relationships/slide" Target="/ppt/slides/slide6.xml" Id="R7b756022acca4399" /><Relationship Type="http://schemas.openxmlformats.org/officeDocument/2006/relationships/slide" Target="/ppt/slides/slide7.xml" Id="R873917c1f06e4529" /><Relationship Type="http://schemas.openxmlformats.org/officeDocument/2006/relationships/slide" Target="/ppt/slides/slide8.xml" Id="R54cb0f44cf604e3b" /><Relationship Type="http://schemas.openxmlformats.org/officeDocument/2006/relationships/slide" Target="/ppt/slides/slide9.xml" Id="Rc99456ee6f124d85" /><Relationship Type="http://schemas.openxmlformats.org/officeDocument/2006/relationships/slide" Target="/ppt/slides/slide10.xml" Id="R71b632cffb104a40" /><Relationship Type="http://schemas.openxmlformats.org/officeDocument/2006/relationships/slide" Target="/ppt/slides/slide11.xml" Id="Ra49aca9bd71d4749" /><Relationship Type="http://schemas.openxmlformats.org/officeDocument/2006/relationships/slide" Target="/ppt/slides/slide12.xml" Id="R31b2816dbbd846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81dd31b30b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9f4192eed4e25" /><Relationship Type="http://schemas.openxmlformats.org/officeDocument/2006/relationships/notesMaster" Target="/ppt/notesMasters/notesMaster1.xml" Id="R8447b595094f44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5fc754c974a05" /><Relationship Type="http://schemas.openxmlformats.org/officeDocument/2006/relationships/notesMaster" Target="/ppt/notesMasters/notesMaster1.xml" Id="R5f066ad26ff9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abccdfaf84eee" /><Relationship Type="http://schemas.openxmlformats.org/officeDocument/2006/relationships/notesMaster" Target="/ppt/notesMasters/notesMaster1.xml" Id="R906242c9c70b40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3327b3d2624058" /><Relationship Type="http://schemas.openxmlformats.org/officeDocument/2006/relationships/notesMaster" Target="/ppt/notesMasters/notesMaster1.xml" Id="R8c4bafcccf6d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e4a92a7374c26" /><Relationship Type="http://schemas.openxmlformats.org/officeDocument/2006/relationships/notesMaster" Target="/ppt/notesMasters/notesMaster1.xml" Id="Rd7029e4e6a6b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84bb9fb2945d1" /><Relationship Type="http://schemas.openxmlformats.org/officeDocument/2006/relationships/notesMaster" Target="/ppt/notesMasters/notesMaster1.xml" Id="Rd3c426b5065f4c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8863b14f647a0" /><Relationship Type="http://schemas.openxmlformats.org/officeDocument/2006/relationships/notesMaster" Target="/ppt/notesMasters/notesMaster1.xml" Id="R7ac46a2e6bfd4b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7b332ab22424e" /><Relationship Type="http://schemas.openxmlformats.org/officeDocument/2006/relationships/notesMaster" Target="/ppt/notesMasters/notesMaster1.xml" Id="R3e86d05b9fc44d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b9a8ae04c462e" /><Relationship Type="http://schemas.openxmlformats.org/officeDocument/2006/relationships/notesMaster" Target="/ppt/notesMasters/notesMaster1.xml" Id="R70043a8e715241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ab7047236c40d8" /><Relationship Type="http://schemas.openxmlformats.org/officeDocument/2006/relationships/notesMaster" Target="/ppt/notesMasters/notesMaster1.xml" Id="R49d5e895f83d4e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4d558fe2504400" /><Relationship Type="http://schemas.openxmlformats.org/officeDocument/2006/relationships/notesMaster" Target="/ppt/notesMasters/notesMaster1.xml" Id="Rb467c3d4630d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01858279d04d12" /><Relationship Type="http://schemas.openxmlformats.org/officeDocument/2006/relationships/notesMaster" Target="/ppt/notesMasters/notesMaster1.xml" Id="R4f27361daa2a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system as a joint-state simulator, not a conventional Poisson arrival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best understood as six asynchronous renewal processes whose current values form one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simulator.py:42-52</a:t>
            </a:r>
          </a:p>
          <a:p xmlns:a="http://schemas.openxmlformats.org/drawingml/2006/main">
            <a:r>
              <a:t>- simulator.py:1118-1164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layers run simultaneously rather than as sequential processing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config.yaml:85-119</a:t>
            </a:r>
          </a:p>
          <a:p xmlns:a="http://schemas.openxmlformats.org/drawingml/2006/main">
            <a:r>
              <a:t>- simulator.py:42-52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shown are reproducible with the current element-count and rarity-assignment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config.yaml:45-119</a:t>
            </a:r>
          </a:p>
          <a:p xmlns:a="http://schemas.openxmlformats.org/drawingml/2006/main">
            <a:r>
              <a:t>- simulator.py:549-557</a:t>
            </a:r>
          </a:p>
          <a:p xmlns:a="http://schemas.openxmlformats.org/drawingml/2006/main">
            <a:r>
              <a:t>- simulator.py:703-749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Selection share is not occupancy share because rarity classes have different duration distributions.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DOCUMENTATION.md:24-63</a:t>
            </a:r>
          </a:p>
          <a:p xmlns:a="http://schemas.openxmlformats.org/drawingml/2006/main">
            <a:r>
              <a:t>- simulator.py:718-735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the street layer to make the configured non-overlapping mean bands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config.yaml:67-79</a:t>
            </a:r>
          </a:p>
          <a:p xmlns:a="http://schemas.openxmlformats.org/drawingml/2006/main">
            <a:r>
              <a:t>- simulator.py:673-700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fixed time step is used. Multiple layers expiring together are handled at the same event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simulator.py:1167-1252</a:t>
            </a:r>
          </a:p>
          <a:p xmlns:a="http://schemas.openxmlformats.org/drawingml/2006/main">
            <a:r>
              <a:t>- simulator.py:1284-1462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configuration selects 40 C3, 30 C4, 20 C5, and 10 C6 rules without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config.yaml:81-91</a:t>
            </a:r>
          </a:p>
          <a:p xmlns:a="http://schemas.openxmlformats.org/drawingml/2006/main">
            <a:r>
              <a:t>- simulator.py:974-1039</a:t>
            </a:r>
          </a:p>
          <a:p xmlns:a="http://schemas.openxmlformats.org/drawingml/2006/main">
            <a:r>
              <a:t>- simulator.py:1150-1164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semantic change in simulator version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README.md:44-57</a:t>
            </a:r>
          </a:p>
          <a:p xmlns:a="http://schemas.openxmlformats.org/drawingml/2006/main">
            <a:r>
              <a:t>- simulator.py:1045-1065</a:t>
            </a:r>
          </a:p>
          <a:p xmlns:a="http://schemas.openxmlformats.org/drawingml/2006/main">
            <a:r>
              <a:t>- simulator.py:1244-1251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50 mph, 20,000 simulated hours correspond to one million derived miles.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config.yaml:9-27</a:t>
            </a:r>
          </a:p>
          <a:p xmlns:a="http://schemas.openxmlformats.org/drawingml/2006/main">
            <a:r>
              <a:t>- simulator.py:1121-1148</a:t>
            </a:r>
          </a:p>
          <a:p xmlns:a="http://schemas.openxmlformats.org/drawingml/2006/main">
            <a:r>
              <a:t>- simulator.py:1358-1377</a:t>
            </a:r>
          </a:p>
          <a:p xmlns:a="http://schemas.openxmlformats.org/drawingml/2006/main">
            <a:r>
              <a:t>- run_simulation.py:682-717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cumulative line is a realized output from the current seeded configuration, not a theoretical curve.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run_simulation.py:30-63</a:t>
            </a:r>
          </a:p>
          <a:p xmlns:a="http://schemas.openxmlformats.org/drawingml/2006/main">
            <a:r>
              <a:t>- run_simulation.py:336-382</a:t>
            </a:r>
          </a:p>
          <a:p xmlns:a="http://schemas.openxmlformats.org/drawingml/2006/main">
            <a:r>
              <a:t>- version 6/stats.json</a:t>
            </a:r>
          </a:p>
          <a:p xmlns:a="http://schemas.openxmlformats.org/drawingml/2006/main">
            <a:r>
              <a:t>- version 6/plots/cumulative_episodes.png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the interpretation: Poisson-style statistics are outputs used for analysis, not the mechanism that drives the simulation.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DOCUMENTATION.md</a:t>
            </a:r>
          </a:p>
          <a:p xmlns:a="http://schemas.openxmlformats.org/drawingml/2006/main">
            <a:r>
              <a:t>- simulator.py:1-18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6bf32d049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c8485508347fe" /><Relationship Type="http://schemas.openxmlformats.org/officeDocument/2006/relationships/slideLayout" Target="/ppt/slideLayouts/slideLayout1.xml" Id="Racc434171323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c434171323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cb8a5f408489a" /><Relationship Type="http://schemas.openxmlformats.org/officeDocument/2006/relationships/notesSlide" Target="/ppt/notesSlides/notesSlide1.xml" Id="R4a25402c046641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baa0e5c914598" /><Relationship Type="http://schemas.openxmlformats.org/officeDocument/2006/relationships/notesSlide" Target="/ppt/notesSlides/notesSlide2.xml" Id="Rdc036614f0d8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c036197fd42ce" /><Relationship Type="http://schemas.openxmlformats.org/officeDocument/2006/relationships/notesSlide" Target="/ppt/notesSlides/notesSlide3.xml" Id="R614dd9683e7343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09686144c4f6a" /><Relationship Type="http://schemas.openxmlformats.org/officeDocument/2006/relationships/notesSlide" Target="/ppt/notesSlides/notesSlide4.xml" Id="R0dc0a1b11cf6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301f4999540d9" /><Relationship Type="http://schemas.openxmlformats.org/officeDocument/2006/relationships/notesSlide" Target="/ppt/notesSlides/notesSlide5.xml" Id="Rdd2a4e4cd4c2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58a5218524d85" /><Relationship Type="http://schemas.openxmlformats.org/officeDocument/2006/relationships/chart" Target="/ppt/slides/charts/chart1.xml" Id="R98f80bf85a00467e" /><Relationship Type="http://schemas.openxmlformats.org/officeDocument/2006/relationships/notesSlide" Target="/ppt/notesSlides/notesSlide6.xml" Id="Rc5397146d680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1c406d5274f7e" /><Relationship Type="http://schemas.openxmlformats.org/officeDocument/2006/relationships/notesSlide" Target="/ppt/notesSlides/notesSlide7.xml" Id="R040a8d269e8d48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77f5d362b4dff" /><Relationship Type="http://schemas.openxmlformats.org/officeDocument/2006/relationships/notesSlide" Target="/ppt/notesSlides/notesSlide8.xml" Id="Rb2ae45ecdfd1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d76d224ae47cb" /><Relationship Type="http://schemas.openxmlformats.org/officeDocument/2006/relationships/notesSlide" Target="/ppt/notesSlides/notesSlide9.xml" Id="Re5b94b5b174547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9f61f91064352" /><Relationship Type="http://schemas.openxmlformats.org/officeDocument/2006/relationships/notesSlide" Target="/ppt/notesSlides/notesSlide10.xml" Id="Rdd651e28b06c47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b075557834432" /><Relationship Type="http://schemas.openxmlformats.org/officeDocument/2006/relationships/image" Target="/ppt/media/image.png" Id="Rba856007429b4386" /><Relationship Type="http://schemas.openxmlformats.org/officeDocument/2006/relationships/notesSlide" Target="/ppt/notesSlides/notesSlide11.xml" Id="R6b075148f48248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6d8b81e5b4eee" /><Relationship Type="http://schemas.openxmlformats.org/officeDocument/2006/relationships/notesSlide" Target="/ppt/notesSlides/notesSlide12.xml" Id="Rbba888956ae240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Minimum mean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202.5</c:v>
              </c:pt>
              <c:pt idx="2">
                <c:v>75</c:v>
              </c:pt>
            </c:numLit>
          </c:val>
        </c:ser>
        <c:ser>
          <c:idx val="1"/>
          <c:order val="1"/>
          <c:tx>
            <c:v>Maximum mean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Common</c:v>
              </c:pt>
              <c:pt idx="1">
                <c:v>Rare</c:v>
              </c:pt>
              <c:pt idx="2">
                <c:v>Unknown</c:v>
              </c:pt>
            </c:strLit>
          </c:cat>
          <c:val>
            <c:numLit>
              <c:formatCode>General</c:formatCode>
              <c:ptCount val="3"/>
              <c:pt idx="0">
                <c:v>495</c:v>
              </c:pt>
              <c:pt idx="1">
                <c:v>247.5</c:v>
              </c:pt>
              <c:pt idx="2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4B5563"/>
                    </a:solidFill>
                  </a:rPr>
                  <a:t>Street mean duration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B311C38-01D3-4FB7-A9B6-6C1BF8D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Autonomous-Vehicle
Scenario Simulator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1A5654E-0F89-43C9-A20F-2EF48B0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reproducible, event-driven model of layered driving scenarios and exact rare-combination episodes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FB86695-5102-4FA5-8B9F-055CF4AB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EXPLAINER</a:t>
            </a:r>
          </a:p>
        </p:txBody>
      </p:sp>
    </p:spTree>
    <p:extLst>
      <p:ext uri="{BB962C8B-B14F-4D97-AF65-F5344CB8AC3E}">
        <p14:creationId xmlns:p14="http://schemas.microsoft.com/office/powerpoint/2010/main" val="1559526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C135DF0-E874-491A-95DB-D36F49C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8CF77AF-5208-460A-8538-B26D44C0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concurrent layers form one evolving scenario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BD2263E-B347-429F-B592-0F680503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Parallel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active element per layer defines the current state.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F36957B-6BDE-4801-8487-0B1871A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Joint classification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full state is checked against exact rare-element rules.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1F777C38-8DFD-45A0-B0E9-FC0DD48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Independent clocks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element holds for a sampled Gamma duration.</a:t>
            </a:r>
          </a:p>
        </p:txBody>
      </p:sp>
    </p:spTree>
    <p:extLst>
      <p:ext uri="{BB962C8B-B14F-4D97-AF65-F5344CB8AC3E}">
        <p14:creationId xmlns:p14="http://schemas.microsoft.com/office/powerpoint/2010/main" val="16152136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8E5FADD-F8BF-4D21-A7AB-A6106B2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6A4AD1B-A8A7-43C6-A09D-3003602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six layers describe complementary context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Street — persistent road and lane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Temporal modifications — work zones and temporary traffic management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Ego maneuver — the autonomous vehicle's current maneuver class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Road-user maneuver — surrounding vehicle and road-user behavior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05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Environmental conditions — weather, visibility, and ambient context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D8DFF"/>
                          </a:solidFill>
                        </a:rPr>
                        <a:t>06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Triggering conditions — unexpected conditions that can complete a rare scenario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94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2245F7C-48C8-4FD1-907F-7B9AD58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4B692EA-D809-452C-8EA7-B511C19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elements preserve the target class mix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B7F7F954-AB48-4406-A740-64D18B0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SEEDED CONFIGURATION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Largest-remainder allocation converts 70% common / 20% rare / 10% unknown targets into exact integer counts.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Common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Rare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Unknown</a:t>
                      </a:r>
                    </a:p>
                  </a:txBody>
                  <a:tcPr marL="95250" marR="95250" marT="66675" marB="66675" anchor="ctr">
                    <a:solidFill>
                      <a:srgbClr val="000000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Street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Temporal modifications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Ego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Road-user maneuver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Environmental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Triggering conditions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95250" marR="95250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All layers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204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145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40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95250" marR="95250" marT="66675" marB="66675" anchor="ctr">
                    <a:solidFill>
                      <a:srgbClr val="D0EDFA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Configured target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70%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20%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3D8DFF"/>
                          </a:solidFill>
                        </a:rPr>
                        <a:t>10%</a:t>
                      </a:r>
                    </a:p>
                  </a:txBody>
                  <a:tcPr marL="95250" marR="95250" marT="66675" marB="66675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379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B199B91-255C-4542-A032-D575E38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8933A87-4A79-417B-85B3-AA1F855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BCACAA7-0E33-4752-8546-AFEB3351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23D9787-DE9A-4AD0-8B29-FA86B7B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60F2881-B13D-4849-A3BD-EFF7FFAC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Selection mass is exact; time occupancy is not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4A5A6B-A48F-425E-9327-AAA0064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common transition mass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B7F3670-3F0D-4EA1-B3EA-05744B0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unknown transition mass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87E4E5C-2C68-46F3-B2FE-14B443F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rare transition mass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6751BD5-8E41-44E7-8468-FD6F64A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E67D3D0-3AA5-48FF-B404-40113501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33431E-F4E7-42BC-8C23-988753E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E1BFCA9-5737-41FA-963F-7F35E40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TWO DIFFERENT PERCENTAGE CONTROLS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 percentages set class counts. Selection percentages set total transition mass. A Dirichlet draw only redistributes probability within each class.</a:t>
            </a:r>
          </a:p>
        </p:txBody>
      </p:sp>
    </p:spTree>
    <p:extLst>
      <p:ext uri="{BB962C8B-B14F-4D97-AF65-F5344CB8AC3E}">
        <p14:creationId xmlns:p14="http://schemas.microsoft.com/office/powerpoint/2010/main" val="11314134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4B3EF94-1485-4A97-BF07-E37DAD3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CBBCAF-32DD-4575-9A1C-3F8CF58A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Gamma clocks vary by element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A92CB7A-B83A-4A5E-ADB2-E5783A5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5A9CC00-E526-485F-9368-F3EAEEF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Rare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Middle band
0.75× layer mean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EFD1D3BA-076E-4BBF-820B-C5AF4FF7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0899F8-DE74-426E-A483-96C8B11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Common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Longest band
1.50× layer mean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BF3B100-E156-4C08-8F2C-66B2D5E7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C3F74FE-6A38-4C74-9A09-AF610BB7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Shortest band
0.25× layer mean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f80bf85a00467e"/>
          </a:graphicData>
        </a:graphic>
      </p:graphicFrame>
    </p:spTree>
    <p:extLst>
      <p:ext uri="{BB962C8B-B14F-4D97-AF65-F5344CB8AC3E}">
        <p14:creationId xmlns:p14="http://schemas.microsoft.com/office/powerpoint/2010/main" val="13867725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757B048-5E9E-45AB-9939-C38E8A9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5F5AE24-E454-48BB-8919-99AC4A2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engine jumps from one expiry to the next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D4C09D1-6585-433A-8C65-B1F4D42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E513DBC-4012-4A56-B406-0E165C6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45D9041-2121-43E6-8D5E-49874B8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FB8968B-4D28-4FD4-BCAB-D4CBD57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D0A4F5B-AADD-48CE-AB69-28069DB2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Initialize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one element and sample one duration for all six layers.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A89B7AA-5192-4EC3-8F8A-235E5EE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52F2C74-0327-4BFA-B46A-6F19B6B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Advance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Jump by the smallest remaining duration and derive mileage from elapsed time.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999E5CEB-5912-42F7-8528-D0371E9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F0A0DD4-FB3F-4BB4-ADEE-AD417F8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Replace + classify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Resample expired layers, then open, continue, or close the matching episode.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F894C91-FCF1-415C-A10A-C49D781B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expiry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A7D2798-23F0-4DAC-A996-443D62A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= 0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11919DC-222B-4F96-85FF-6222CEEF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0099170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C2CEF10-12EC-49D7-A9BF-2D0D18E6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5DEE048-17A9-4B76-90CE-00A5AEA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unknown episode requires an exact rare set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397AC353-06D3-49A3-AE55-0B69DA4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0F954722-6099-4284-9BC7-F955B874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8114D28-0B54-4AB0-BF62-8BC1ECCE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Trigger required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C3–C6 rule includes a rare triggering condition.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22C6D3F-8FA1-4244-9D8D-1B62BF5B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Unknown disqualifies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Any unknown-rarity element prevents a match.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8AF02AFF-FE77-49B5-A2E8-D6533E4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A3299EB-F900-4A14-B9C4-166D2D97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58FA2E1-5E13-4BB7-8412-F75CC53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BDD1497-648F-4CA4-9494-59C8FB3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 rare set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additional rare element may be active.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5E557D86-BB23-4A34-B650-1BEAB55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7071AFCD-BF08-49C6-8A9F-88D1275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EXAMPLE SELECTED C3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street_000 + temporal_001 + trigger_032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remaining three layers must all be common.</a:t>
            </a:r>
          </a:p>
        </p:txBody>
      </p:sp>
    </p:spTree>
    <p:extLst>
      <p:ext uri="{BB962C8B-B14F-4D97-AF65-F5344CB8AC3E}">
        <p14:creationId xmlns:p14="http://schemas.microsoft.com/office/powerpoint/2010/main" val="1918983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5F5C983-A2FC-444B-8486-55B0988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43F5532-BE34-469F-8214-21FCC8E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“Unknown” means two different things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58E7E61-BDB0-4661-AF30-7CD167A5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5E114A4-6208-459A-946A-B13FED3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D8894D8-592A-49C3-9F89-5E2166E5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generated element class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Has its own probability and Gamma law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Does not open an episode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61B0FB8-FA1A-45DA-9B0F-738C5D7F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CB4845F-7AFA-47C3-8F21-C141516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 scenario episode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978C3CB-3530-4E69-BC53-9AF8DD3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One selected C3–C6 rare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Starts when the full joint state matches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Ends when that exact match breaks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D2960B3-657A-48F3-A031-AA5B4BC7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DISTINCTION PREVENTS MISREADING THE RESULTS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Unknown-rarity elements participate in ordinary selection and duration statistics. Only exact rare combinations create reportable episodes.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38250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B84D85A-A420-417E-9E1E-BEF4231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8D054BF-70E3-4074-8FA2-9AD5F3D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4EC7683-E9A5-44E2-A686-352660B6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55FED82-D5F6-4B39-832F-B103665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86FC7B1-9E0A-41E4-8E47-A77AF92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Seeds and boundary rules make runs repeatable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12AA2CD-CCE1-4BE3-8E36-E4DF21B7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configured time horizon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1120F74-033B-498A-A34B-0E44108C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intentional overshoot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5654290-9CA0-4955-8093-97A5295E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independent RNG streams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9C9BB96-49C4-4108-8161-A82B9637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20,000 h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1FCCDBD-EEF2-400A-860E-044B2BD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5077F18-ABE1-408E-B54C-27877E2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68ECAEB-7FA9-40CE-8752-F66E209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DESIGNED FOR CONTROLLED EXPERIMENTS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random streams isolate model decisions, while checkpointing preserves generator state for bit-identical resumed execution.</a:t>
            </a:r>
          </a:p>
        </p:txBody>
      </p:sp>
    </p:spTree>
    <p:extLst>
      <p:ext uri="{BB962C8B-B14F-4D97-AF65-F5344CB8AC3E}">
        <p14:creationId xmlns:p14="http://schemas.microsoft.com/office/powerpoint/2010/main" val="1794057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5B1BE50-0409-48E8-95E9-A5FCE8B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Outputs turn episodes into measurable evidence</a:t>
            </a:r>
          </a:p>
        </p:txBody>
      </p:sp>
      <p:sp>
        <p:nvSpPr>
          <p:cNvPr id="2" name="slide-11-body">
            <a:extLst xmlns:a="http://schemas.openxmlformats.org/drawingml/2006/main">
              <a:ext uri="{FF2B5EF4-FFF2-40B4-BE49-F238E27FC236}">
                <a16:creationId xmlns:a16="http://schemas.microsoft.com/office/drawing/2014/main" id="{712AE3DB-C624-4DF6-A353-B28AFAC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3952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runner produces: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episodes.csv — start, end, duration, inter-arrival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windows.csv — starts per complete mileage window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stats.json — rates, occupancy, composition, diagnostics</a:t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summary.md and plots — review-ready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seeded run: 495 episodes across 1,000,000 derived miles.</a:t>
            </a:r>
          </a:p>
        </p:txBody>
      </p:sp>
      <p:sp>
        <p:nvSpPr>
          <p:cNvPr id="3" name="plot-frame">
            <a:extLst xmlns:a="http://schemas.openxmlformats.org/drawingml/2006/main">
              <a:ext uri="{FF2B5EF4-FFF2-40B4-BE49-F238E27FC236}">
                <a16:creationId xmlns:a16="http://schemas.microsoft.com/office/drawing/2014/main" id="{16CE8C97-A4A2-4F42-A4DA-33FF72F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703897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56007429b4386"/>
          <a:stretch xmlns:a="http://schemas.openxmlformats.org/drawingml/2006/main"/>
        </p:blipFill>
        <p:spPr>
          <a:xfrm xmlns:a="http://schemas.openxmlformats.org/drawingml/2006/main">
            <a:off x="4876800" y="1765829"/>
            <a:ext cx="6810375" cy="3783542"/>
          </a:xfrm>
          <a:prstGeom xmlns:a="http://schemas.openxmlformats.org/drawingml/2006/main" prst="rect">
            <a:avLst/>
          </a:prstGeom>
        </p:spPr>
      </p:pic>
      <p:sp>
        <p:nvSpPr>
          <p:cNvPr id="5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400C2EB5-9940-424D-9228-C02D25E8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0608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68656E0-3FA9-48FA-B3D9-6A1276ED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reproducible joint-state engine—
not a Poisson clock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C9C45B0-32C9-4C21-899A-5EA32BF3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asynchronous layers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Element-specific Gamma sojourns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C3–C6 episode rules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C0C8227-24D6-4567-8AAB-21D5CB6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CORE TAKEAWAY</a:t>
            </a:r>
          </a:p>
        </p:txBody>
      </p:sp>
    </p:spTree>
    <p:extLst>
      <p:ext uri="{BB962C8B-B14F-4D97-AF65-F5344CB8AC3E}">
        <p14:creationId xmlns:p14="http://schemas.microsoft.com/office/powerpoint/2010/main" val="2083404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2026-08-08T11:26:51.7360000Z</dcterms:created>
  <dcterms:modified xsi:type="dcterms:W3CDTF">2026-08-08T11:26:51.7360000Z</dcterms:modified>
</coreProperties>
</file>