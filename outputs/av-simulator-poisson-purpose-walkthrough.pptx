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6526c2085d47c2" /><Relationship Type="http://schemas.openxmlformats.org/officeDocument/2006/relationships/extended-properties" Target="/docProps/app.xml" Id="Ra91e258641294262" /><Relationship Type="http://schemas.openxmlformats.org/officeDocument/2006/relationships/officeDocument" Target="/ppt/presentation.xml" Id="Rd7a594fd86954d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61d61b3961400d"/>
  </p:sldMasterIdLst>
  <p:notesMasterIdLst>
    <p:notesMasterId xmlns:r="http://schemas.openxmlformats.org/officeDocument/2006/relationships" r:id="R422b79d64b784866"/>
  </p:notesMasterIdLst>
  <p:sldIdLst>
    <p:sldId xmlns:r="http://schemas.openxmlformats.org/officeDocument/2006/relationships" id="256" r:id="R9c3137977f0c432e"/>
    <p:sldId xmlns:r="http://schemas.openxmlformats.org/officeDocument/2006/relationships" id="257" r:id="R58c9fa362eef4152"/>
    <p:sldId xmlns:r="http://schemas.openxmlformats.org/officeDocument/2006/relationships" id="258" r:id="Rd8d9777af45e47c6"/>
    <p:sldId xmlns:r="http://schemas.openxmlformats.org/officeDocument/2006/relationships" id="259" r:id="Rf69ad7a68d994529"/>
    <p:sldId xmlns:r="http://schemas.openxmlformats.org/officeDocument/2006/relationships" id="260" r:id="R4a990b7291b74784"/>
    <p:sldId xmlns:r="http://schemas.openxmlformats.org/officeDocument/2006/relationships" id="261" r:id="R05b61497a533422d"/>
    <p:sldId xmlns:r="http://schemas.openxmlformats.org/officeDocument/2006/relationships" id="262" r:id="Rc3ea6fe1a2304583"/>
    <p:sldId xmlns:r="http://schemas.openxmlformats.org/officeDocument/2006/relationships" id="263" r:id="Rffa5ee0514324f8e"/>
    <p:sldId xmlns:r="http://schemas.openxmlformats.org/officeDocument/2006/relationships" id="264" r:id="R860551f81c1e4f97"/>
    <p:sldId xmlns:r="http://schemas.openxmlformats.org/officeDocument/2006/relationships" id="265" r:id="R0d5f959134414493"/>
    <p:sldId xmlns:r="http://schemas.openxmlformats.org/officeDocument/2006/relationships" id="266" r:id="R89b6dadf3cec47ae"/>
    <p:sldId xmlns:r="http://schemas.openxmlformats.org/officeDocument/2006/relationships" id="267" r:id="Rb980bf5e820d47a6"/>
    <p:sldId xmlns:r="http://schemas.openxmlformats.org/officeDocument/2006/relationships" id="268" r:id="R5788dfd63f9a49d5"/>
    <p:sldId xmlns:r="http://schemas.openxmlformats.org/officeDocument/2006/relationships" id="269" r:id="Rc2070bd6f0904042"/>
    <p:sldId xmlns:r="http://schemas.openxmlformats.org/officeDocument/2006/relationships" id="270" r:id="Raaae6a9dca964bd7"/>
    <p:sldId xmlns:r="http://schemas.openxmlformats.org/officeDocument/2006/relationships" id="271" r:id="Rf0dd8d7dc9f44fe8"/>
    <p:sldId xmlns:r="http://schemas.openxmlformats.org/officeDocument/2006/relationships" id="272" r:id="R9efb091129554ac5"/>
    <p:sldId xmlns:r="http://schemas.openxmlformats.org/officeDocument/2006/relationships" id="273" r:id="Re15d38150bcb4e05"/>
    <p:sldId xmlns:r="http://schemas.openxmlformats.org/officeDocument/2006/relationships" id="274" r:id="Ree00cfd9299d41a6"/>
    <p:sldId xmlns:r="http://schemas.openxmlformats.org/officeDocument/2006/relationships" id="275" r:id="Rcc24767a599a40f1"/>
    <p:sldId xmlns:r="http://schemas.openxmlformats.org/officeDocument/2006/relationships" id="276" r:id="R6c0bd6dd1c324060"/>
    <p:sldId xmlns:r="http://schemas.openxmlformats.org/officeDocument/2006/relationships" id="277" r:id="R29429f55b61d4c31"/>
    <p:sldId xmlns:r="http://schemas.openxmlformats.org/officeDocument/2006/relationships" id="278" r:id="R3849bcfe073f4722"/>
    <p:sldId xmlns:r="http://schemas.openxmlformats.org/officeDocument/2006/relationships" id="279" r:id="R2d2036a96e464b58"/>
    <p:sldId xmlns:r="http://schemas.openxmlformats.org/officeDocument/2006/relationships" id="280" r:id="Rc0654220219a43fb"/>
    <p:sldId xmlns:r="http://schemas.openxmlformats.org/officeDocument/2006/relationships" id="281" r:id="R8097cd4fe55947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c273c94ff64c17" /><Relationship Type="http://schemas.openxmlformats.org/officeDocument/2006/relationships/slideMaster" Target="/ppt/slideMasters/slideMaster1.xml" Id="Rbc61d61b3961400d" /><Relationship Type="http://schemas.openxmlformats.org/officeDocument/2006/relationships/notesMaster" Target="/ppt/notesMasters/notesMaster1.xml" Id="R422b79d64b784866" /><Relationship Type="http://schemas.openxmlformats.org/officeDocument/2006/relationships/presProps" Target="/ppt/presProps.xml" Id="R69b1d8f8469f471e" /><Relationship Type="http://schemas.openxmlformats.org/officeDocument/2006/relationships/tableStyles" Target="/ppt/tableStyles.xml" Id="R33d61d1e68da45e4" /><Relationship Type="http://schemas.openxmlformats.org/officeDocument/2006/relationships/slide" Target="/ppt/slides/slide1.xml" Id="R9c3137977f0c432e" /><Relationship Type="http://schemas.openxmlformats.org/officeDocument/2006/relationships/slide" Target="/ppt/slides/slide2.xml" Id="R58c9fa362eef4152" /><Relationship Type="http://schemas.openxmlformats.org/officeDocument/2006/relationships/slide" Target="/ppt/slides/slide3.xml" Id="Rd8d9777af45e47c6" /><Relationship Type="http://schemas.openxmlformats.org/officeDocument/2006/relationships/slide" Target="/ppt/slides/slide4.xml" Id="Rf69ad7a68d994529" /><Relationship Type="http://schemas.openxmlformats.org/officeDocument/2006/relationships/slide" Target="/ppt/slides/slide5.xml" Id="R4a990b7291b74784" /><Relationship Type="http://schemas.openxmlformats.org/officeDocument/2006/relationships/slide" Target="/ppt/slides/slide6.xml" Id="R05b61497a533422d" /><Relationship Type="http://schemas.openxmlformats.org/officeDocument/2006/relationships/slide" Target="/ppt/slides/slide7.xml" Id="Rc3ea6fe1a2304583" /><Relationship Type="http://schemas.openxmlformats.org/officeDocument/2006/relationships/slide" Target="/ppt/slides/slide8.xml" Id="Rffa5ee0514324f8e" /><Relationship Type="http://schemas.openxmlformats.org/officeDocument/2006/relationships/slide" Target="/ppt/slides/slide9.xml" Id="R860551f81c1e4f97" /><Relationship Type="http://schemas.openxmlformats.org/officeDocument/2006/relationships/slide" Target="/ppt/slides/slide10.xml" Id="R0d5f959134414493" /><Relationship Type="http://schemas.openxmlformats.org/officeDocument/2006/relationships/slide" Target="/ppt/slides/slide11.xml" Id="R89b6dadf3cec47ae" /><Relationship Type="http://schemas.openxmlformats.org/officeDocument/2006/relationships/slide" Target="/ppt/slides/slide12.xml" Id="Rb980bf5e820d47a6" /><Relationship Type="http://schemas.openxmlformats.org/officeDocument/2006/relationships/slide" Target="/ppt/slides/slide13.xml" Id="R5788dfd63f9a49d5" /><Relationship Type="http://schemas.openxmlformats.org/officeDocument/2006/relationships/slide" Target="/ppt/slides/slide14.xml" Id="Rc2070bd6f0904042" /><Relationship Type="http://schemas.openxmlformats.org/officeDocument/2006/relationships/slide" Target="/ppt/slides/slide15.xml" Id="Raaae6a9dca964bd7" /><Relationship Type="http://schemas.openxmlformats.org/officeDocument/2006/relationships/slide" Target="/ppt/slides/slide16.xml" Id="Rf0dd8d7dc9f44fe8" /><Relationship Type="http://schemas.openxmlformats.org/officeDocument/2006/relationships/slide" Target="/ppt/slides/slide17.xml" Id="R9efb091129554ac5" /><Relationship Type="http://schemas.openxmlformats.org/officeDocument/2006/relationships/slide" Target="/ppt/slides/slide18.xml" Id="Re15d38150bcb4e05" /><Relationship Type="http://schemas.openxmlformats.org/officeDocument/2006/relationships/slide" Target="/ppt/slides/slide19.xml" Id="Ree00cfd9299d41a6" /><Relationship Type="http://schemas.openxmlformats.org/officeDocument/2006/relationships/slide" Target="/ppt/slides/slide20.xml" Id="Rcc24767a599a40f1" /><Relationship Type="http://schemas.openxmlformats.org/officeDocument/2006/relationships/slide" Target="/ppt/slides/slide21.xml" Id="R6c0bd6dd1c324060" /><Relationship Type="http://schemas.openxmlformats.org/officeDocument/2006/relationships/slide" Target="/ppt/slides/slide22.xml" Id="R29429f55b61d4c31" /><Relationship Type="http://schemas.openxmlformats.org/officeDocument/2006/relationships/slide" Target="/ppt/slides/slide23.xml" Id="R3849bcfe073f4722" /><Relationship Type="http://schemas.openxmlformats.org/officeDocument/2006/relationships/slide" Target="/ppt/slides/slide24.xml" Id="R2d2036a96e464b58" /><Relationship Type="http://schemas.openxmlformats.org/officeDocument/2006/relationships/slide" Target="/ppt/slides/slide25.xml" Id="Rc0654220219a43fb" /><Relationship Type="http://schemas.openxmlformats.org/officeDocument/2006/relationships/slide" Target="/ppt/slides/slide26.xml" Id="R8097cd4fe55947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4197d9bd3c44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a5fe54ee56c4dd9" /><Relationship Type="http://schemas.openxmlformats.org/officeDocument/2006/relationships/notesMaster" Target="/ppt/notesMasters/notesMaster1.xml" Id="Rf213fff08d4046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e5dcfb09fd4842" /><Relationship Type="http://schemas.openxmlformats.org/officeDocument/2006/relationships/notesMaster" Target="/ppt/notesMasters/notesMaster1.xml" Id="R2d84d81a7d0d4e5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f1e7750d7b4174" /><Relationship Type="http://schemas.openxmlformats.org/officeDocument/2006/relationships/notesMaster" Target="/ppt/notesMasters/notesMaster1.xml" Id="R36a0674e22164ee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3cbcfc74804eb5" /><Relationship Type="http://schemas.openxmlformats.org/officeDocument/2006/relationships/notesMaster" Target="/ppt/notesMasters/notesMaster1.xml" Id="R4738cb0fc7f149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84c04df1314d9c" /><Relationship Type="http://schemas.openxmlformats.org/officeDocument/2006/relationships/notesMaster" Target="/ppt/notesMasters/notesMaster1.xml" Id="R42b92c491e3445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afd6cd83f7c4426" /><Relationship Type="http://schemas.openxmlformats.org/officeDocument/2006/relationships/notesMaster" Target="/ppt/notesMasters/notesMaster1.xml" Id="R7d054679923a46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836d02747a4ffa" /><Relationship Type="http://schemas.openxmlformats.org/officeDocument/2006/relationships/notesMaster" Target="/ppt/notesMasters/notesMaster1.xml" Id="Rc076ed094e5b42c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95cca6402a4c99" /><Relationship Type="http://schemas.openxmlformats.org/officeDocument/2006/relationships/notesMaster" Target="/ppt/notesMasters/notesMaster1.xml" Id="R54db6242aa7240d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52594c89d044f11" /><Relationship Type="http://schemas.openxmlformats.org/officeDocument/2006/relationships/notesMaster" Target="/ppt/notesMasters/notesMaster1.xml" Id="R91143616ccf4407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596d85d7bc4413" /><Relationship Type="http://schemas.openxmlformats.org/officeDocument/2006/relationships/notesMaster" Target="/ppt/notesMasters/notesMaster1.xml" Id="Rb429f2b34edb46f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7a0b2c5c6545b8" /><Relationship Type="http://schemas.openxmlformats.org/officeDocument/2006/relationships/notesMaster" Target="/ppt/notesMasters/notesMaster1.xml" Id="Rcb393a38913f47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698010716284f76" /><Relationship Type="http://schemas.openxmlformats.org/officeDocument/2006/relationships/notesMaster" Target="/ppt/notesMasters/notesMaster1.xml" Id="R3e6165cf87ef43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2de52cfc9e44b8" /><Relationship Type="http://schemas.openxmlformats.org/officeDocument/2006/relationships/notesMaster" Target="/ppt/notesMasters/notesMaster1.xml" Id="Rc79bf4c968064f6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e350918837641ec" /><Relationship Type="http://schemas.openxmlformats.org/officeDocument/2006/relationships/notesMaster" Target="/ppt/notesMasters/notesMaster1.xml" Id="R61d327ac2b0441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36b38a3aa2468a" /><Relationship Type="http://schemas.openxmlformats.org/officeDocument/2006/relationships/notesMaster" Target="/ppt/notesMasters/notesMaster1.xml" Id="R6421998936974b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be3dcef1c6d4f99" /><Relationship Type="http://schemas.openxmlformats.org/officeDocument/2006/relationships/notesMaster" Target="/ppt/notesMasters/notesMaster1.xml" Id="R69baf5b0ed294e8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6e40e6e5a4f46f4" /><Relationship Type="http://schemas.openxmlformats.org/officeDocument/2006/relationships/notesMaster" Target="/ppt/notesMasters/notesMaster1.xml" Id="Rf7bc6f7a89764a4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9f196f0a9964d69" /><Relationship Type="http://schemas.openxmlformats.org/officeDocument/2006/relationships/notesMaster" Target="/ppt/notesMasters/notesMaster1.xml" Id="R37288753325647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a9454c25de042e5" /><Relationship Type="http://schemas.openxmlformats.org/officeDocument/2006/relationships/notesMaster" Target="/ppt/notesMasters/notesMaster1.xml" Id="R7f089b10f55749f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513c1c054d44673" /><Relationship Type="http://schemas.openxmlformats.org/officeDocument/2006/relationships/notesMaster" Target="/ppt/notesMasters/notesMaster1.xml" Id="R6ffe28534c1843c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5c36bc006df4512" /><Relationship Type="http://schemas.openxmlformats.org/officeDocument/2006/relationships/notesMaster" Target="/ppt/notesMasters/notesMaster1.xml" Id="R7aa3d21737d8415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1e5e12077434d06" /><Relationship Type="http://schemas.openxmlformats.org/officeDocument/2006/relationships/notesMaster" Target="/ppt/notesMasters/notesMaster1.xml" Id="Rec8e43bda258421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0f15b9c450c40e3" /><Relationship Type="http://schemas.openxmlformats.org/officeDocument/2006/relationships/notesMaster" Target="/ppt/notesMasters/notesMaster1.xml" Id="Rba86da1144e8456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a76bfc2557040dd" /><Relationship Type="http://schemas.openxmlformats.org/officeDocument/2006/relationships/notesMaster" Target="/ppt/notesMasters/notesMaster1.xml" Id="Rb38e7a07944f4fd3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a423ef5995b406e" /><Relationship Type="http://schemas.openxmlformats.org/officeDocument/2006/relationships/notesMaster" Target="/ppt/notesMasters/notesMaster1.xml" Id="Radb268590b5d4c3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1e293edec234278" /><Relationship Type="http://schemas.openxmlformats.org/officeDocument/2006/relationships/notesMaster" Target="/ppt/notesMasters/notesMaster1.xml" Id="Rff4cbeecbef042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deck now opens with the project objective: verify the Poisson assumption before using it for mileage or risk decisions.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C:\Users\SJAEQD\Downloads\Poisson Assumption Verification.pptx (local reference; slides 2, 4–5)</a:t>
            </a:r>
          </a:p>
          <a:p xmlns:a="http://schemas.openxmlformats.org/drawingml/2006/main">
            <a:r>
              <a:t>- C:\Users\SJAEQD\Poisson\simulator.py (local simulator mechanics and episode definition)</a:t>
            </a:r>
          </a:p>
          <a:p xmlns:a="http://schemas.openxmlformats.org/drawingml/2006/main">
            <a:r>
              <a:t>- C:\Users\SJAEQD\Poisson\run_simulation.py (local CSV and reporting outputs)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 statement and the evidence-to-decision structure.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C:\Users\SJAEQD\Downloads\Poisson Assumption Verification.pptx (local reference; slides 2, 4–5)</a:t>
            </a:r>
          </a:p>
          <a:p xmlns:a="http://schemas.openxmlformats.org/drawingml/2006/main">
            <a:r>
              <a:t>- C:\Users\SJAEQD\Poisson\simulator.py (local simulator mechanics and episode definition)</a:t>
            </a:r>
          </a:p>
          <a:p xmlns:a="http://schemas.openxmlformats.org/drawingml/2006/main">
            <a:r>
              <a:t>- C:\Users\SJAEQD\Poisson\run_simulation.py (local CSV and reporting outputs)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operating state contains one active element from each of six layers.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ScenarioSimulator initializes seven independent random-number streams in __init__.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Element counts are seeded draws from inclusive configured ranges.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Rarity counts use largest remainder, then a seeded shuffle across generated IDs.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Probability construction occurs once per layer during initialization.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Transition class rescaling either enforces exact target masses or retains the raw Dirichlet draw.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rescale_transition_class_masses switch affects transition probabilities, not initial-state class totals.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Modeling guidance for choosing exact class masses versus realized seeded variation.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Gamma parameters are computed by build_element_duration_parameters; samples are clamped to min_duration_seconds.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_new_state selects active elements, samples durations, initializes accounting fields, and checks rules at time zero.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Seeded example reproduced from the current local configuration.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event-driven loop jumps to the minimum remaining duration or the exact requested endpoint.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run_resumable advances time, accounts occupancy, processes expiries, resets durations, and rechecks scenarios.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Independent and conditional modes use different probability preparation and expired-layer ordering.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seeded iteration: trigger_072 is the only expired layer after the time advance.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transition_sampling stream draws u and bisect_right resolves trigger_016.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self-transition still counts and receives a new duration; scenario matching runs only after meaningful composition change.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matched_combination_rule requires the complete exact active rare tuple and excludes unknown elements.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simulator generates exact episode-start evidence; the Poisson model remains an empirical hypothesis.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C:\Users\SJAEQD\Downloads\Poisson Assumption Verification.pptx (local reference; slides 2, 4–5)</a:t>
            </a:r>
          </a:p>
          <a:p xmlns:a="http://schemas.openxmlformats.org/drawingml/2006/main">
            <a:r>
              <a:t>- C:\Users\SJAEQD\Poisson\simulator.py (local simulator mechanics and episode definition)</a:t>
            </a:r>
          </a:p>
          <a:p xmlns:a="http://schemas.openxmlformats.org/drawingml/2006/main">
            <a:r>
              <a:t>- C:\Users\SJAEQD\Poisson\run_simulation.py (local CSV and reporting outputs)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Six observable signatures operationalize the reference presentation's Poisson assumptions.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C:\Users\SJAEQD\Downloads\Poisson Assumption Verification.pptx (local reference; slides 2, 4–5)</a:t>
            </a:r>
          </a:p>
          <a:p xmlns:a="http://schemas.openxmlformats.org/drawingml/2006/main">
            <a:r>
              <a:t>- C:\Users\SJAEQD\Poisson\simulator.py (local simulator mechanics and episode definition)</a:t>
            </a:r>
          </a:p>
          <a:p xmlns:a="http://schemas.openxmlformats.org/drawingml/2006/main">
            <a:r>
              <a:t>- C:\Users\SJAEQD\Poisson\run_simulation.py (local CSV and reporting outputs)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workflow maps Poisson verification to episodes.csv and windows.csv.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C:\Users\SJAEQD\Downloads\Poisson Assumption Verification.pptx (local reference; slides 2, 4–5)</a:t>
            </a:r>
          </a:p>
          <a:p xmlns:a="http://schemas.openxmlformats.org/drawingml/2006/main">
            <a:r>
              <a:t>- C:\Users\SJAEQD\Poisson\simulator.py (local simulator mechanics and episode definition)</a:t>
            </a:r>
          </a:p>
          <a:p xmlns:a="http://schemas.openxmlformats.org/drawingml/2006/main">
            <a:r>
              <a:t>- C:\Users\SJAEQD\Poisson\run_simulation.py (local CSV and reporting outputs)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dispersion interpretations follow the reference deck: overdispersion is riskier and may require more mileage; underdispersion is more regular and potentially conservative.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C:\Users\SJAEQD\Downloads\Poisson Assumption Verification.pptx (local reference; slides 4)</a:t>
            </a:r>
          </a:p>
          <a:p xmlns:a="http://schemas.openxmlformats.org/drawingml/2006/main">
            <a:r>
              <a:t>- C:\Users\SJAEQD\Poisson\simulator.py (local simulator mechanics and episode definition)</a:t>
            </a:r>
          </a:p>
          <a:p xmlns:a="http://schemas.openxmlformats.org/drawingml/2006/main">
            <a:r>
              <a:t>- C:\Users\SJAEQD\Poisson\run_simulation.py (local CSV and reporting outputs)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CLI can checkpoint wall-clock-paused runs, restore RNG state, and write final analysis artifacts.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C:\Users\SJAEQD\Poisson\simulator.py (local implementation)</a:t>
            </a:r>
          </a:p>
          <a:p xmlns:a="http://schemas.openxmlformats.org/drawingml/2006/main">
            <a:r>
              <a:t>- C:\Users\SJAEQD\Poisson\config.yaml (local configuration and seeds)</a:t>
            </a:r>
          </a:p>
          <a:p xmlns:a="http://schemas.openxmlformats.org/drawingml/2006/main">
            <a:r>
              <a:t>- C:\Users\SJAEQD\Poisson\run_simulation.py (checkpoint and output pipeline)</a:t>
            </a:r>
          </a:p>
          <a:p xmlns:a="http://schemas.openxmlformats.org/drawingml/2006/main">
            <a:r>
              <a:t>- C:\Users\SJAEQD\Poisson\README.md (local project overview)</a:t>
            </a:r>
          </a:p>
          <a:p xmlns:a="http://schemas.openxmlformats.org/drawingml/2006/main">
            <a:r>
              <a:t>- C:\Users\SJAEQD\Poisson\test_simulator.py (behavioral verification)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synthesis: simulation produces the evidence, and statistical validation determines whether Poisson-based decisions are defensible.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C:\Users\SJAEQD\Downloads\Poisson Assumption Verification.pptx (local reference; slides 2, 4–5)</a:t>
            </a:r>
          </a:p>
          <a:p xmlns:a="http://schemas.openxmlformats.org/drawingml/2006/main">
            <a:r>
              <a:t>- C:\Users\SJAEQD\Poisson\simulator.py (local simulator mechanics and episode definition)</a:t>
            </a:r>
          </a:p>
          <a:p xmlns:a="http://schemas.openxmlformats.org/drawingml/2006/main">
            <a:r>
              <a:t>- C:\Users\SJAEQD\Poisson\run_simulation.py (local CSV and reporting outputs)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fa8ba89eeb46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299c678a214797" /><Relationship Type="http://schemas.openxmlformats.org/officeDocument/2006/relationships/slideLayout" Target="/ppt/slideLayouts/slideLayout1.xml" Id="R0d7dc0df002d400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d7dc0df002d400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bc707f9eb482f" /><Relationship Type="http://schemas.openxmlformats.org/officeDocument/2006/relationships/notesSlide" Target="/ppt/notesSlides/notesSlide1.xml" Id="R7605a1a2782947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4d54f1ee824146" /><Relationship Type="http://schemas.openxmlformats.org/officeDocument/2006/relationships/notesSlide" Target="/ppt/notesSlides/notesSlide2.xml" Id="R06d87481ac204db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c3cd14641a47b7" /><Relationship Type="http://schemas.openxmlformats.org/officeDocument/2006/relationships/notesSlide" Target="/ppt/notesSlides/notesSlide3.xml" Id="R5e7c911156634a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15a882a78b4bbc" /><Relationship Type="http://schemas.openxmlformats.org/officeDocument/2006/relationships/notesSlide" Target="/ppt/notesSlides/notesSlide4.xml" Id="R285c452930974b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3535137d2d42ac" /><Relationship Type="http://schemas.openxmlformats.org/officeDocument/2006/relationships/notesSlide" Target="/ppt/notesSlides/notesSlide5.xml" Id="R08944f21fa0c44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db2104f884a58" /><Relationship Type="http://schemas.openxmlformats.org/officeDocument/2006/relationships/notesSlide" Target="/ppt/notesSlides/notesSlide6.xml" Id="Rf23c9afef5654b0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2fe1928eb4404" /><Relationship Type="http://schemas.openxmlformats.org/officeDocument/2006/relationships/notesSlide" Target="/ppt/notesSlides/notesSlide7.xml" Id="R54345aaf326543b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ac75e12d04dcd" /><Relationship Type="http://schemas.openxmlformats.org/officeDocument/2006/relationships/notesSlide" Target="/ppt/notesSlides/notesSlide8.xml" Id="R6b4342571ff845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e378128ae4a48" /><Relationship Type="http://schemas.openxmlformats.org/officeDocument/2006/relationships/notesSlide" Target="/ppt/notesSlides/notesSlide9.xml" Id="R8eabcbcf906f4fc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27a3afe1f471f" /><Relationship Type="http://schemas.openxmlformats.org/officeDocument/2006/relationships/notesSlide" Target="/ppt/notesSlides/notesSlide10.xml" Id="Rc9fb9ab98d364a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e36a87d9c4258" /><Relationship Type="http://schemas.openxmlformats.org/officeDocument/2006/relationships/notesSlide" Target="/ppt/notesSlides/notesSlide11.xml" Id="R8391ae9fd972435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8141442304873" /><Relationship Type="http://schemas.openxmlformats.org/officeDocument/2006/relationships/notesSlide" Target="/ppt/notesSlides/notesSlide12.xml" Id="Rbac331734b804ef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ac1f387cc541b2" /><Relationship Type="http://schemas.openxmlformats.org/officeDocument/2006/relationships/notesSlide" Target="/ppt/notesSlides/notesSlide13.xml" Id="Rf9a07649868d43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4b3bc84d7f4a4a" /><Relationship Type="http://schemas.openxmlformats.org/officeDocument/2006/relationships/notesSlide" Target="/ppt/notesSlides/notesSlide14.xml" Id="R257792a4259a4ce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77ff89f7c46ee" /><Relationship Type="http://schemas.openxmlformats.org/officeDocument/2006/relationships/notesSlide" Target="/ppt/notesSlides/notesSlide15.xml" Id="Re785fd0f88c949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1f720ff3724d9a" /><Relationship Type="http://schemas.openxmlformats.org/officeDocument/2006/relationships/notesSlide" Target="/ppt/notesSlides/notesSlide16.xml" Id="R4316578aac22447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365667bb614f59" /><Relationship Type="http://schemas.openxmlformats.org/officeDocument/2006/relationships/notesSlide" Target="/ppt/notesSlides/notesSlide17.xml" Id="Rd0956e6a41c84c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6ceff0d64e421d" /><Relationship Type="http://schemas.openxmlformats.org/officeDocument/2006/relationships/notesSlide" Target="/ppt/notesSlides/notesSlide18.xml" Id="R476d3e80e379443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a5b94c93f4d0c" /><Relationship Type="http://schemas.openxmlformats.org/officeDocument/2006/relationships/notesSlide" Target="/ppt/notesSlides/notesSlide19.xml" Id="R932490b334df406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c79c835ee74c1d" /><Relationship Type="http://schemas.openxmlformats.org/officeDocument/2006/relationships/notesSlide" Target="/ppt/notesSlides/notesSlide20.xml" Id="Rfcaee81a21384a8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584e63bb2499f" /><Relationship Type="http://schemas.openxmlformats.org/officeDocument/2006/relationships/notesSlide" Target="/ppt/notesSlides/notesSlide21.xml" Id="R2f32c094d2b0451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add80517b241cf" /><Relationship Type="http://schemas.openxmlformats.org/officeDocument/2006/relationships/notesSlide" Target="/ppt/notesSlides/notesSlide22.xml" Id="Rd44fb9a19fed464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6b67a051447c5" /><Relationship Type="http://schemas.openxmlformats.org/officeDocument/2006/relationships/notesSlide" Target="/ppt/notesSlides/notesSlide23.xml" Id="R40ed5f201a49461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7ef4b12654d8d" /><Relationship Type="http://schemas.openxmlformats.org/officeDocument/2006/relationships/notesSlide" Target="/ppt/notesSlides/notesSlide24.xml" Id="Rb98d9b08391d48f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a915c6d1c34c36" /><Relationship Type="http://schemas.openxmlformats.org/officeDocument/2006/relationships/notesSlide" Target="/ppt/notesSlides/notesSlide25.xml" Id="Rc5acf4c823c9461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a30c6971e4cee" /><Relationship Type="http://schemas.openxmlformats.org/officeDocument/2006/relationships/notesSlide" Target="/ppt/notesSlides/notesSlide26.xml" Id="R0cf516ae4a7c44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0B072CE-2A47-4646-A6E2-44729AB0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AUTONOMOUS-VEHICLE SCENARIO SIMULATOR</a:t>
            </a:r>
          </a:p>
        </p:txBody>
      </p:sp>
      <p:sp>
        <p:nvSpPr>
          <p:cNvPr id="2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2CB0424C-75E6-43DC-8910-BDA76AE3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1000"/>
            <a:ext cx="3886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Purpose, simulation, validation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C104DC5-0B0D-415D-B606-76CE9806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952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745D481-4272-4842-A968-0AB23FBB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942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Verify the Poisson</a:t>
            </a:r>
          </a:p>
          <a:p xmlns:a="http://schemas.openxmlformats.org/drawingml/2006/main">
            <a:pPr algn="l">
              <a:buNone/>
              <a:defRPr sz="5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assumption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62A7D22-6443-49A5-8DBE-3286844C3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76750"/>
            <a:ext cx="9334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Use reproducible AV simulation to test rare-event arrivals before trusting Poisson-based mileage and risk estimates.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69B89851-AA82-4C59-84E6-2133D54EF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769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Editable technical walkthrough</a:t>
            </a:r>
          </a:p>
        </p:txBody>
      </p:sp>
    </p:spTree>
    <p:extLst>
      <p:ext uri="{BB962C8B-B14F-4D97-AF65-F5344CB8AC3E}">
        <p14:creationId xmlns:p14="http://schemas.microsoft.com/office/powerpoint/2010/main" val="18317303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project verifies Poisson for AV validation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generated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reproducible rare and unknown-scenario episodes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exact episode-start mileage and timing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event-level traces across long simulated runs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Questions answered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are arrivals random and independent?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is the rate stable across mileage?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do mileage gaps follow an exponential distribution?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Decision supported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Determine whether Poisson-based validation mileage, acceptance-criteria decomposition, and safety-risk estimates are defensible.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CF8450C-3CC0-4018-A95E-99920720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 layers define one operating state</a:t>
            </a:r>
          </a:p>
        </p:txBody>
      </p:sp>
      <p:sp>
        <p:nvSpPr>
          <p:cNvPr id="2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C8061A3B-2AD1-421C-8019-06379A9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ACF85224-2FE4-4607-9DD0-C2A1471F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initial-table-intro">
            <a:extLst xmlns:a="http://schemas.openxmlformats.org/drawingml/2006/main">
              <a:ext uri="{FF2B5EF4-FFF2-40B4-BE49-F238E27FC236}">
                <a16:creationId xmlns:a16="http://schemas.microsoft.com/office/drawing/2014/main" id="{AB6E922D-B9BB-4807-BEA0-7B81B6E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Each active element has a rarity and a Gamma-distributed residence time.</a:t>
            </a:r>
          </a:p>
        </p:txBody>
      </p:sp>
      <p:graphicFrame>
        <p:nvGraphicFramePr>
          <p:cNvPr id="12" name="initial-state-table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857500"/>
                <a:gridCol w="2286000"/>
                <a:gridCol w="3200400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Represents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Update rule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road type &amp; geometry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street_003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timer expiry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 modifications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temporary context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temporal_032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timer expiry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vehicle action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ego_019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timer expiry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road-user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actor behavior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ru_010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timer expiry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environmental conditions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weather &amp; visibility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environment_005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timer expiry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triggering conditions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initiating event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trigger_072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timer expiry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400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Seven random streams keep choices reproducible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Construction streams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131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element_count — elements per layer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rarity_assignment — common / rare / unknown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transition_matrix — Dirichlet vectors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duration — Gamma residence draws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Runtime and rule streams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initial_state — active element per layer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transition_sampling — replacement choice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combination_selection — exact C3–C6 rules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Why separate them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Changing one seed changes only its own mechanism—for example, duration draws do not rebuild transition vectors.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CF8450C-3CC0-4018-A95E-99920720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layer starts with a seeded element count</a:t>
            </a:r>
          </a:p>
        </p:txBody>
      </p:sp>
      <p:sp>
        <p:nvSpPr>
          <p:cNvPr id="2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C8061A3B-2AD1-421C-8019-06379A9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ACF85224-2FE4-4607-9DD0-C2A1471F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initial-table-intro">
            <a:extLst xmlns:a="http://schemas.openxmlformats.org/drawingml/2006/main">
              <a:ext uri="{FF2B5EF4-FFF2-40B4-BE49-F238E27FC236}">
                <a16:creationId xmlns:a16="http://schemas.microsoft.com/office/drawing/2014/main" id="{AB6E922D-B9BB-4807-BEA0-7B81B6E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element-count seed draws n once from each configured inclusive range.</a:t>
            </a:r>
          </a:p>
        </p:txBody>
      </p:sp>
      <p:graphicFrame>
        <p:nvGraphicFramePr>
          <p:cNvPr id="12" name="initial-state-table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857500"/>
                <a:gridCol w="2286000"/>
                <a:gridCol w="3200400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Configured range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Seeded 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Generated IDs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12–12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street_000 … street_011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 modifications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40–45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temporal_000 … temporal_044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20–24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ego_000 … ego_019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road-user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20–24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ru_000 … ru_021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environmental conditions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22–22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environment_000 … environment_021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triggering conditions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80–90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83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trigger_000 … trigger_082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4000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736A1B3D-CCAF-40E8-A15D-1AA9F432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Largest remainder produces integer class counts</a:t>
            </a:r>
          </a:p>
        </p:txBody>
      </p:sp>
      <p:sp>
        <p:nvSpPr>
          <p:cNvPr id="2" name="slide-9-rule">
            <a:extLst xmlns:a="http://schemas.openxmlformats.org/drawingml/2006/main">
              <a:ext uri="{FF2B5EF4-FFF2-40B4-BE49-F238E27FC236}">
                <a16:creationId xmlns:a16="http://schemas.microsoft.com/office/drawing/2014/main" id="{EE2020D9-9219-4489-9CBB-21BC3EE4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EA916083-3614-4F2A-80FC-2074D89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aw-math-panel">
            <a:extLst xmlns:a="http://schemas.openxmlformats.org/drawingml/2006/main">
              <a:ext uri="{FF2B5EF4-FFF2-40B4-BE49-F238E27FC236}">
                <a16:creationId xmlns:a16="http://schemas.microsoft.com/office/drawing/2014/main" id="{A450AB03-D143-49B1-835D-9B8BAD47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w-math-title">
            <a:extLst xmlns:a="http://schemas.openxmlformats.org/drawingml/2006/main">
              <a:ext uri="{FF2B5EF4-FFF2-40B4-BE49-F238E27FC236}">
                <a16:creationId xmlns:a16="http://schemas.microsoft.com/office/drawing/2014/main" id="{921A3630-2078-4900-9358-836C81FE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Street example: n = 12</a:t>
            </a:r>
          </a:p>
        </p:txBody>
      </p:sp>
      <p:sp>
        <p:nvSpPr>
          <p:cNvPr id="6" name="raw-math-formula">
            <a:extLst xmlns:a="http://schemas.openxmlformats.org/drawingml/2006/main">
              <a:ext uri="{FF2B5EF4-FFF2-40B4-BE49-F238E27FC236}">
                <a16:creationId xmlns:a16="http://schemas.microsoft.com/office/drawing/2014/main" id="{7AA91B26-5F33-48D6-AA68-B840F985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Exact quotas</a:t>
            </a: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common: 12 × 70% = 8.4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rare: 12 × 20% = 2.4</a:t>
            </a: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unknown: 12 × 10% = 1.2</a:t>
            </a:r>
          </a:p>
        </p:txBody>
      </p:sp>
      <p:sp>
        <p:nvSpPr>
          <p:cNvPr id="7" name="raw-math-note">
            <a:extLst xmlns:a="http://schemas.openxmlformats.org/drawingml/2006/main">
              <a:ext uri="{FF2B5EF4-FFF2-40B4-BE49-F238E27FC236}">
                <a16:creationId xmlns:a16="http://schemas.microsoft.com/office/drawing/2014/main" id="{D41CE8F7-20E5-488B-AE17-CF85301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Flooring gives 8 + 2 + 1 = 11 assigned elements.</a:t>
            </a:r>
          </a:p>
        </p:txBody>
      </p:sp>
      <p:sp>
        <p:nvSpPr>
          <p:cNvPr id="8" name="scaled-math-panel">
            <a:extLst xmlns:a="http://schemas.openxmlformats.org/drawingml/2006/main">
              <a:ext uri="{FF2B5EF4-FFF2-40B4-BE49-F238E27FC236}">
                <a16:creationId xmlns:a16="http://schemas.microsoft.com/office/drawing/2014/main" id="{EE91D8F3-4D67-49E2-A2BE-F9E68E4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aled-math-title">
            <a:extLst xmlns:a="http://schemas.openxmlformats.org/drawingml/2006/main">
              <a:ext uri="{FF2B5EF4-FFF2-40B4-BE49-F238E27FC236}">
                <a16:creationId xmlns:a16="http://schemas.microsoft.com/office/drawing/2014/main" id="{11BB2B6B-574E-494D-AB17-68E51B37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Allocate the remainder</a:t>
            </a:r>
          </a:p>
        </p:txBody>
      </p:sp>
      <p:sp>
        <p:nvSpPr>
          <p:cNvPr id="10" name="scaled-math-formula">
            <a:extLst xmlns:a="http://schemas.openxmlformats.org/drawingml/2006/main">
              <a:ext uri="{FF2B5EF4-FFF2-40B4-BE49-F238E27FC236}">
                <a16:creationId xmlns:a16="http://schemas.microsoft.com/office/drawing/2014/main" id="{D95BB162-F5C2-4455-A3F7-E26D52DB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Floor → 8 / 2 / 1</a:t>
            </a: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assigned = 11; remainder = 1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extra → common</a:t>
            </a:r>
          </a:p>
          <a:p xmlns:a="http://schemas.openxmlformats.org/drawingml/2006/main">
            <a:pPr algn="l">
              <a:buNone/>
              <a:def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10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Final → 9 / 2 / 1</a:t>
            </a:r>
          </a:p>
        </p:txBody>
      </p:sp>
      <p:sp>
        <p:nvSpPr>
          <p:cNvPr id="11" name="scaled-math-note">
            <a:extLst xmlns:a="http://schemas.openxmlformats.org/drawingml/2006/main">
              <a:ext uri="{FF2B5EF4-FFF2-40B4-BE49-F238E27FC236}">
                <a16:creationId xmlns:a16="http://schemas.microsoft.com/office/drawing/2014/main" id="{F859E574-911B-4AE4-9A7C-AF529C62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Order: common / rare / unknown. Then shuffle the labels across street_000 … street_011.</a:t>
            </a:r>
          </a:p>
        </p:txBody>
      </p:sp>
      <p:sp>
        <p:nvSpPr>
          <p:cNvPr id="12" name="math-initial-note">
            <a:extLst xmlns:a="http://schemas.openxmlformats.org/drawingml/2006/main">
              <a:ext uri="{FF2B5EF4-FFF2-40B4-BE49-F238E27FC236}">
                <a16:creationId xmlns:a16="http://schemas.microsoft.com/office/drawing/2014/main" id="{0CAAA76C-D107-44EC-A096-DEE64A3B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element_class_percentages controls counts; selection_class_percentages controls probability mass.</a:t>
            </a:r>
          </a:p>
        </p:txBody>
      </p:sp>
    </p:spTree>
    <p:extLst>
      <p:ext uri="{BB962C8B-B14F-4D97-AF65-F5344CB8AC3E}">
        <p14:creationId xmlns:p14="http://schemas.microsoft.com/office/powerpoint/2010/main" val="149047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8BD9C2E-E040-48A8-919E-9D346BEC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 seeded steps build the probability vector</a:t>
            </a:r>
          </a:p>
        </p:txBody>
      </p:sp>
      <p:sp>
        <p:nvSpPr>
          <p:cNvPr id="2" name="slide-8-rule">
            <a:extLst xmlns:a="http://schemas.openxmlformats.org/drawingml/2006/main">
              <a:ext uri="{FF2B5EF4-FFF2-40B4-BE49-F238E27FC236}">
                <a16:creationId xmlns:a16="http://schemas.microsoft.com/office/drawing/2014/main" id="{64BCB9E8-622C-4647-A2D3-2DDC4B57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5504A986-62CD-4A08-A1AB-DB381B75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pipeline-number-0">
            <a:extLst xmlns:a="http://schemas.openxmlformats.org/drawingml/2006/main">
              <a:ext uri="{FF2B5EF4-FFF2-40B4-BE49-F238E27FC236}">
                <a16:creationId xmlns:a16="http://schemas.microsoft.com/office/drawing/2014/main" id="{93B0E096-73D2-4B19-B42A-23B76CCE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pipeline-title-0">
            <a:extLst xmlns:a="http://schemas.openxmlformats.org/drawingml/2006/main">
              <a:ext uri="{FF2B5EF4-FFF2-40B4-BE49-F238E27FC236}">
                <a16:creationId xmlns:a16="http://schemas.microsoft.com/office/drawing/2014/main" id="{673C9A59-C2EA-4395-A0C5-33F5BA5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Choose n</a:t>
            </a:r>
          </a:p>
        </p:txBody>
      </p:sp>
      <p:sp>
        <p:nvSpPr>
          <p:cNvPr id="6" name="pipeline-body-0">
            <a:extLst xmlns:a="http://schemas.openxmlformats.org/drawingml/2006/main">
              <a:ext uri="{FF2B5EF4-FFF2-40B4-BE49-F238E27FC236}">
                <a16:creationId xmlns:a16="http://schemas.microsoft.com/office/drawing/2014/main" id="{980BA943-AA76-4DFE-A397-2ED799BC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Seeded integer draw from the layer’s count range.</a:t>
            </a:r>
          </a:p>
        </p:txBody>
      </p:sp>
      <p:sp>
        <p:nvSpPr>
          <p:cNvPr id="7" name="pipeline-rule-0">
            <a:extLst xmlns:a="http://schemas.openxmlformats.org/drawingml/2006/main">
              <a:ext uri="{FF2B5EF4-FFF2-40B4-BE49-F238E27FC236}">
                <a16:creationId xmlns:a16="http://schemas.microsoft.com/office/drawing/2014/main" id="{EAF0E6D6-2A76-45CC-BA6C-43C2D75A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ipeline-number-1">
            <a:extLst xmlns:a="http://schemas.openxmlformats.org/drawingml/2006/main">
              <a:ext uri="{FF2B5EF4-FFF2-40B4-BE49-F238E27FC236}">
                <a16:creationId xmlns:a16="http://schemas.microsoft.com/office/drawing/2014/main" id="{42F23548-9E53-48AB-AA87-0D9DD6CD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71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ipeline-title-1">
            <a:extLst xmlns:a="http://schemas.openxmlformats.org/drawingml/2006/main">
              <a:ext uri="{FF2B5EF4-FFF2-40B4-BE49-F238E27FC236}">
                <a16:creationId xmlns:a16="http://schemas.microsoft.com/office/drawing/2014/main" id="{71CB33B6-2135-4FF9-BAFD-15DD389A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Assign rarity</a:t>
            </a:r>
          </a:p>
        </p:txBody>
      </p:sp>
      <p:sp>
        <p:nvSpPr>
          <p:cNvPr id="10" name="pipeline-body-1">
            <a:extLst xmlns:a="http://schemas.openxmlformats.org/drawingml/2006/main">
              <a:ext uri="{FF2B5EF4-FFF2-40B4-BE49-F238E27FC236}">
                <a16:creationId xmlns:a16="http://schemas.microsoft.com/office/drawing/2014/main" id="{810136A8-E8B9-4EB2-9CBD-A7398DD3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955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Largest remainder, then seeded shuffle across IDs.</a:t>
            </a:r>
          </a:p>
        </p:txBody>
      </p:sp>
      <p:sp>
        <p:nvSpPr>
          <p:cNvPr id="11" name="pipeline-rule-1">
            <a:extLst xmlns:a="http://schemas.openxmlformats.org/drawingml/2006/main">
              <a:ext uri="{FF2B5EF4-FFF2-40B4-BE49-F238E27FC236}">
                <a16:creationId xmlns:a16="http://schemas.microsoft.com/office/drawing/2014/main" id="{8A328AD9-A643-4474-8367-D7F49D43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4325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pipeline-number-2">
            <a:extLst xmlns:a="http://schemas.openxmlformats.org/drawingml/2006/main">
              <a:ext uri="{FF2B5EF4-FFF2-40B4-BE49-F238E27FC236}">
                <a16:creationId xmlns:a16="http://schemas.microsoft.com/office/drawing/2014/main" id="{914FF3EE-8BC4-4328-824C-3D2C9EC3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ipeline-title-2">
            <a:extLst xmlns:a="http://schemas.openxmlformats.org/drawingml/2006/main">
              <a:ext uri="{FF2B5EF4-FFF2-40B4-BE49-F238E27FC236}">
                <a16:creationId xmlns:a16="http://schemas.microsoft.com/office/drawing/2014/main" id="{66CEA901-0451-44DB-9560-56AFC85F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base b</a:t>
            </a:r>
          </a:p>
        </p:txBody>
      </p:sp>
      <p:sp>
        <p:nvSpPr>
          <p:cNvPr id="14" name="pipeline-body-2">
            <a:extLst xmlns:a="http://schemas.openxmlformats.org/drawingml/2006/main">
              <a:ext uri="{FF2B5EF4-FFF2-40B4-BE49-F238E27FC236}">
                <a16:creationId xmlns:a16="http://schemas.microsoft.com/office/drawing/2014/main" id="{D5C1C8E4-20BA-482B-999D-32DAA00B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Each class mass is split equally within that class.</a:t>
            </a:r>
          </a:p>
        </p:txBody>
      </p:sp>
      <p:sp>
        <p:nvSpPr>
          <p:cNvPr id="15" name="pipeline-number-3">
            <a:extLst xmlns:a="http://schemas.openxmlformats.org/drawingml/2006/main">
              <a:ext uri="{FF2B5EF4-FFF2-40B4-BE49-F238E27FC236}">
                <a16:creationId xmlns:a16="http://schemas.microsoft.com/office/drawing/2014/main" id="{ECAC440A-12A7-4BED-B5C1-DC9D8FBA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pipeline-title-3">
            <a:extLst xmlns:a="http://schemas.openxmlformats.org/drawingml/2006/main">
              <a:ext uri="{FF2B5EF4-FFF2-40B4-BE49-F238E27FC236}">
                <a16:creationId xmlns:a16="http://schemas.microsoft.com/office/drawing/2014/main" id="{235E2450-C9B7-4BDB-960C-07AAC477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Build α</a:t>
            </a:r>
          </a:p>
        </p:txBody>
      </p:sp>
      <p:sp>
        <p:nvSpPr>
          <p:cNvPr id="17" name="pipeline-body-3">
            <a:extLst xmlns:a="http://schemas.openxmlformats.org/drawingml/2006/main">
              <a:ext uri="{FF2B5EF4-FFF2-40B4-BE49-F238E27FC236}">
                <a16:creationId xmlns:a16="http://schemas.microsoft.com/office/drawing/2014/main" id="{4248CBB3-4697-4389-91F2-FD54AF21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αᵢ = concentration_scale × bᵢ.</a:t>
            </a:r>
          </a:p>
        </p:txBody>
      </p:sp>
      <p:sp>
        <p:nvSpPr>
          <p:cNvPr id="18" name="pipeline-rule-3">
            <a:extLst xmlns:a="http://schemas.openxmlformats.org/drawingml/2006/main">
              <a:ext uri="{FF2B5EF4-FFF2-40B4-BE49-F238E27FC236}">
                <a16:creationId xmlns:a16="http://schemas.microsoft.com/office/drawing/2014/main" id="{F2316909-0F49-44A6-8B8A-BDC7D3F8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pipeline-number-4">
            <a:extLst xmlns:a="http://schemas.openxmlformats.org/drawingml/2006/main">
              <a:ext uri="{FF2B5EF4-FFF2-40B4-BE49-F238E27FC236}">
                <a16:creationId xmlns:a16="http://schemas.microsoft.com/office/drawing/2014/main" id="{224411CE-AC04-411E-8896-23B9260E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62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pipeline-title-4">
            <a:extLst xmlns:a="http://schemas.openxmlformats.org/drawingml/2006/main">
              <a:ext uri="{FF2B5EF4-FFF2-40B4-BE49-F238E27FC236}">
                <a16:creationId xmlns:a16="http://schemas.microsoft.com/office/drawing/2014/main" id="{4DFC4C17-A348-49BB-AA31-1801601C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Draw z</a:t>
            </a:r>
          </a:p>
        </p:txBody>
      </p:sp>
      <p:sp>
        <p:nvSpPr>
          <p:cNvPr id="21" name="pipeline-body-4">
            <a:extLst xmlns:a="http://schemas.openxmlformats.org/drawingml/2006/main">
              <a:ext uri="{FF2B5EF4-FFF2-40B4-BE49-F238E27FC236}">
                <a16:creationId xmlns:a16="http://schemas.microsoft.com/office/drawing/2014/main" id="{88A5330F-9563-49CA-BD56-897146E1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86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One seeded Dirichlet vector; total mass is 1.</a:t>
            </a:r>
          </a:p>
        </p:txBody>
      </p:sp>
      <p:sp>
        <p:nvSpPr>
          <p:cNvPr id="22" name="pipeline-rule-4">
            <a:extLst xmlns:a="http://schemas.openxmlformats.org/drawingml/2006/main">
              <a:ext uri="{FF2B5EF4-FFF2-40B4-BE49-F238E27FC236}">
                <a16:creationId xmlns:a16="http://schemas.microsoft.com/office/drawing/2014/main" id="{25BECFBF-17EC-41F0-A10C-3DEA1DFE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3400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pipeline-number-5">
            <a:extLst xmlns:a="http://schemas.openxmlformats.org/drawingml/2006/main">
              <a:ext uri="{FF2B5EF4-FFF2-40B4-BE49-F238E27FC236}">
                <a16:creationId xmlns:a16="http://schemas.microsoft.com/office/drawing/2014/main" id="{58C23620-1C2D-4FE3-978F-0667EA98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62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pipeline-title-5">
            <a:extLst xmlns:a="http://schemas.openxmlformats.org/drawingml/2006/main">
              <a:ext uri="{FF2B5EF4-FFF2-40B4-BE49-F238E27FC236}">
                <a16:creationId xmlns:a16="http://schemas.microsoft.com/office/drawing/2014/main" id="{BC1A5AA7-58AC-4465-9E31-D4AB0676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Finalize p</a:t>
            </a:r>
          </a:p>
        </p:txBody>
      </p:sp>
      <p:sp>
        <p:nvSpPr>
          <p:cNvPr id="25" name="pipeline-body-5">
            <a:extLst xmlns:a="http://schemas.openxmlformats.org/drawingml/2006/main">
              <a:ext uri="{FF2B5EF4-FFF2-40B4-BE49-F238E27FC236}">
                <a16:creationId xmlns:a16="http://schemas.microsoft.com/office/drawing/2014/main" id="{E3A03C25-F594-46DB-A33A-6EF4C38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86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Either rescale each class or keep raw z.</a:t>
            </a:r>
          </a:p>
        </p:txBody>
      </p:sp>
      <p:sp>
        <p:nvSpPr>
          <p:cNvPr id="26" name="pipeline-note">
            <a:extLst xmlns:a="http://schemas.openxmlformats.org/drawingml/2006/main">
              <a:ext uri="{FF2B5EF4-FFF2-40B4-BE49-F238E27FC236}">
                <a16:creationId xmlns:a16="http://schemas.microsoft.com/office/drawing/2014/main" id="{DEF32CF5-C71A-4A42-B654-3F109FD7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transition_matrix creates p once; transition_sampling later draws from p at every expiry.</a:t>
            </a:r>
          </a:p>
        </p:txBody>
      </p:sp>
    </p:spTree>
    <p:extLst>
      <p:ext uri="{BB962C8B-B14F-4D97-AF65-F5344CB8AC3E}">
        <p14:creationId xmlns:p14="http://schemas.microsoft.com/office/powerpoint/2010/main" val="12512616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736A1B3D-CCAF-40E8-A15D-1AA9F432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076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Rescaling changes class totals, not element ranking</a:t>
            </a:r>
          </a:p>
        </p:txBody>
      </p:sp>
      <p:sp>
        <p:nvSpPr>
          <p:cNvPr id="2" name="slide-9-rule">
            <a:extLst xmlns:a="http://schemas.openxmlformats.org/drawingml/2006/main">
              <a:ext uri="{FF2B5EF4-FFF2-40B4-BE49-F238E27FC236}">
                <a16:creationId xmlns:a16="http://schemas.microsoft.com/office/drawing/2014/main" id="{EE2020D9-9219-4489-9CBB-21BC3EE4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EA916083-3614-4F2A-80FC-2074D89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aw-math-panel">
            <a:extLst xmlns:a="http://schemas.openxmlformats.org/drawingml/2006/main">
              <a:ext uri="{FF2B5EF4-FFF2-40B4-BE49-F238E27FC236}">
                <a16:creationId xmlns:a16="http://schemas.microsoft.com/office/drawing/2014/main" id="{A450AB03-D143-49B1-835D-9B8BAD47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w-math-title">
            <a:extLst xmlns:a="http://schemas.openxmlformats.org/drawingml/2006/main">
              <a:ext uri="{FF2B5EF4-FFF2-40B4-BE49-F238E27FC236}">
                <a16:creationId xmlns:a16="http://schemas.microsoft.com/office/drawing/2014/main" id="{921A3630-2078-4900-9358-836C81FE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Raw Dirichlet</a:t>
            </a:r>
          </a:p>
        </p:txBody>
      </p:sp>
      <p:sp>
        <p:nvSpPr>
          <p:cNvPr id="6" name="raw-math-formula">
            <a:extLst xmlns:a="http://schemas.openxmlformats.org/drawingml/2006/main">
              <a:ext uri="{FF2B5EF4-FFF2-40B4-BE49-F238E27FC236}">
                <a16:creationId xmlns:a16="http://schemas.microsoft.com/office/drawing/2014/main" id="{7AA91B26-5F33-48D6-AA68-B840F985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pᵢ = zᵢ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Σᵢ pᵢ =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Σᵢ∈r pᵢ varies around Pᵣ</a:t>
            </a:r>
          </a:p>
        </p:txBody>
      </p:sp>
      <p:sp>
        <p:nvSpPr>
          <p:cNvPr id="7" name="raw-math-note">
            <a:extLst xmlns:a="http://schemas.openxmlformats.org/drawingml/2006/main">
              <a:ext uri="{FF2B5EF4-FFF2-40B4-BE49-F238E27FC236}">
                <a16:creationId xmlns:a16="http://schemas.microsoft.com/office/drawing/2014/main" id="{D41CE8F7-20E5-488B-AE17-CF85301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Class mass is part of the random construction draw.</a:t>
            </a:r>
          </a:p>
        </p:txBody>
      </p:sp>
      <p:sp>
        <p:nvSpPr>
          <p:cNvPr id="8" name="scaled-math-panel">
            <a:extLst xmlns:a="http://schemas.openxmlformats.org/drawingml/2006/main">
              <a:ext uri="{FF2B5EF4-FFF2-40B4-BE49-F238E27FC236}">
                <a16:creationId xmlns:a16="http://schemas.microsoft.com/office/drawing/2014/main" id="{EE91D8F3-4D67-49E2-A2BE-F9E68E4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aled-math-title">
            <a:extLst xmlns:a="http://schemas.openxmlformats.org/drawingml/2006/main">
              <a:ext uri="{FF2B5EF4-FFF2-40B4-BE49-F238E27FC236}">
                <a16:creationId xmlns:a16="http://schemas.microsoft.com/office/drawing/2014/main" id="{11BB2B6B-574E-494D-AB17-68E51B37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Class-rescaled</a:t>
            </a:r>
          </a:p>
        </p:txBody>
      </p:sp>
      <p:sp>
        <p:nvSpPr>
          <p:cNvPr id="10" name="scaled-math-formula">
            <a:extLst xmlns:a="http://schemas.openxmlformats.org/drawingml/2006/main">
              <a:ext uri="{FF2B5EF4-FFF2-40B4-BE49-F238E27FC236}">
                <a16:creationId xmlns:a16="http://schemas.microsoft.com/office/drawing/2014/main" id="{D95BB162-F5C2-4455-A3F7-E26D52DB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pᵢ = Pᵣ · zᵢ / Σⱼ∈r zⱼ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Σᵢ pᵢ =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defRPr>
            </a:pPr>
            <a:r>
              <a:rPr sz="2325" b="0">
                <a:solidFill>
                  <a:srgbClr val="000000"/>
                </a:solidFill>
                <a:latin typeface="Cambria Math"/>
                <a:ea typeface="Cambria Math"/>
                <a:cs typeface="Cambria Math"/>
              </a:rPr>
              <a:t>Σᵢ∈r pᵢ = Pᵣ exactly</a:t>
            </a:r>
          </a:p>
        </p:txBody>
      </p:sp>
      <p:sp>
        <p:nvSpPr>
          <p:cNvPr id="11" name="scaled-math-note">
            <a:extLst xmlns:a="http://schemas.openxmlformats.org/drawingml/2006/main">
              <a:ext uri="{FF2B5EF4-FFF2-40B4-BE49-F238E27FC236}">
                <a16:creationId xmlns:a16="http://schemas.microsoft.com/office/drawing/2014/main" id="{F859E574-911B-4AE4-9A7C-AF529C62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Every element in a class receives the same scale factor.</a:t>
            </a:r>
          </a:p>
        </p:txBody>
      </p:sp>
      <p:sp>
        <p:nvSpPr>
          <p:cNvPr id="12" name="math-initial-note">
            <a:extLst xmlns:a="http://schemas.openxmlformats.org/drawingml/2006/main">
              <a:ext uri="{FF2B5EF4-FFF2-40B4-BE49-F238E27FC236}">
                <a16:creationId xmlns:a16="http://schemas.microsoft.com/office/drawing/2014/main" id="{0CAAA76C-D107-44EC-A096-DEE64A3B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93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initial-state vector always keeps exact configured class totals; this switch affects only transition_probs.</a:t>
            </a:r>
          </a:p>
        </p:txBody>
      </p:sp>
    </p:spTree>
    <p:extLst>
      <p:ext uri="{BB962C8B-B14F-4D97-AF65-F5344CB8AC3E}">
        <p14:creationId xmlns:p14="http://schemas.microsoft.com/office/powerpoint/2010/main" val="1490478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10-title">
            <a:extLst xmlns:a="http://schemas.openxmlformats.org/drawingml/2006/main">
              <a:ext uri="{FF2B5EF4-FFF2-40B4-BE49-F238E27FC236}">
                <a16:creationId xmlns:a16="http://schemas.microsoft.com/office/drawing/2014/main" id="{2B4D18FC-E15E-4EA5-A04A-2B6B8F97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Choose exact class masses or seeded variation</a:t>
            </a:r>
          </a:p>
        </p:txBody>
      </p:sp>
      <p:sp>
        <p:nvSpPr>
          <p:cNvPr id="2" name="slide-10-rule">
            <a:extLst xmlns:a="http://schemas.openxmlformats.org/drawingml/2006/main">
              <a:ext uri="{FF2B5EF4-FFF2-40B4-BE49-F238E27FC236}">
                <a16:creationId xmlns:a16="http://schemas.microsoft.com/office/drawing/2014/main" id="{C4449B42-83E9-425D-88AA-5BDA80D5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0-number">
            <a:extLst xmlns:a="http://schemas.openxmlformats.org/drawingml/2006/main">
              <a:ext uri="{FF2B5EF4-FFF2-40B4-BE49-F238E27FC236}">
                <a16:creationId xmlns:a16="http://schemas.microsoft.com/office/drawing/2014/main" id="{FEDDB3DB-0E84-4680-954F-43BBFF7D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switch-code-panel">
            <a:extLst xmlns:a="http://schemas.openxmlformats.org/drawingml/2006/main">
              <a:ext uri="{FF2B5EF4-FFF2-40B4-BE49-F238E27FC236}">
                <a16:creationId xmlns:a16="http://schemas.microsoft.com/office/drawing/2014/main" id="{56FC18FE-509A-4763-910F-EFB64A211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3919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witch-code">
            <a:extLst xmlns:a="http://schemas.openxmlformats.org/drawingml/2006/main">
              <a:ext uri="{FF2B5EF4-FFF2-40B4-BE49-F238E27FC236}">
                <a16:creationId xmlns:a16="http://schemas.microsoft.com/office/drawing/2014/main" id="{1C936489-9989-42F7-88A3-96ECDCA3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10972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rescale_transition_class_masses: true   # exact masses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rescale_transition_class_masses: false  # raw Dirichlet</a:t>
            </a:r>
          </a:p>
        </p:txBody>
      </p:sp>
      <p:sp>
        <p:nvSpPr>
          <p:cNvPr id="6" name="scaled-heading">
            <a:extLst xmlns:a="http://schemas.openxmlformats.org/drawingml/2006/main">
              <a:ext uri="{FF2B5EF4-FFF2-40B4-BE49-F238E27FC236}">
                <a16:creationId xmlns:a16="http://schemas.microsoft.com/office/drawing/2014/main" id="{A60D5241-3369-47F1-A24D-1C9AED7DC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622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TRUE — class-rescaled</a:t>
            </a:r>
          </a:p>
        </p:txBody>
      </p:sp>
      <p:sp>
        <p:nvSpPr>
          <p:cNvPr id="7" name="raw-heading">
            <a:extLst xmlns:a="http://schemas.openxmlformats.org/drawingml/2006/main">
              <a:ext uri="{FF2B5EF4-FFF2-40B4-BE49-F238E27FC236}">
                <a16:creationId xmlns:a16="http://schemas.microsoft.com/office/drawing/2014/main" id="{D7CFB487-89AF-4271-BBDD-CAABB438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622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FALSE — raw Dirichlet</a:t>
            </a:r>
          </a:p>
        </p:txBody>
      </p:sp>
      <p:sp>
        <p:nvSpPr>
          <p:cNvPr id="8" name="scaled-bar-0">
            <a:extLst xmlns:a="http://schemas.openxmlformats.org/drawingml/2006/main">
              <a:ext uri="{FF2B5EF4-FFF2-40B4-BE49-F238E27FC236}">
                <a16:creationId xmlns:a16="http://schemas.microsoft.com/office/drawing/2014/main" id="{B3633433-6238-4823-BACF-557AD3837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24250"/>
            <a:ext cx="3733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aled-bar-1">
            <a:extLst xmlns:a="http://schemas.openxmlformats.org/drawingml/2006/main">
              <a:ext uri="{FF2B5EF4-FFF2-40B4-BE49-F238E27FC236}">
                <a16:creationId xmlns:a16="http://schemas.microsoft.com/office/drawing/2014/main" id="{5CA26DF5-31D7-45DA-BDD0-BBAEEA47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24250"/>
            <a:ext cx="1066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caled-bar-2">
            <a:extLst xmlns:a="http://schemas.openxmlformats.org/drawingml/2006/main">
              <a:ext uri="{FF2B5EF4-FFF2-40B4-BE49-F238E27FC236}">
                <a16:creationId xmlns:a16="http://schemas.microsoft.com/office/drawing/2014/main" id="{182D2473-944E-4EA7-A686-B64CE34E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524250"/>
            <a:ext cx="533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aw-bar-0">
            <a:extLst xmlns:a="http://schemas.openxmlformats.org/drawingml/2006/main">
              <a:ext uri="{FF2B5EF4-FFF2-40B4-BE49-F238E27FC236}">
                <a16:creationId xmlns:a16="http://schemas.microsoft.com/office/drawing/2014/main" id="{035EB7DA-F375-472F-8378-90A91892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524250"/>
            <a:ext cx="3723536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C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aw-bar-1">
            <a:extLst xmlns:a="http://schemas.openxmlformats.org/drawingml/2006/main">
              <a:ext uri="{FF2B5EF4-FFF2-40B4-BE49-F238E27FC236}">
                <a16:creationId xmlns:a16="http://schemas.microsoft.com/office/drawing/2014/main" id="{0DE01CB1-168A-4365-9D4A-A70943C9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1486" y="3524250"/>
            <a:ext cx="107213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aw-bar-2">
            <a:extLst xmlns:a="http://schemas.openxmlformats.org/drawingml/2006/main">
              <a:ext uri="{FF2B5EF4-FFF2-40B4-BE49-F238E27FC236}">
                <a16:creationId xmlns:a16="http://schemas.microsoft.com/office/drawing/2014/main" id="{59E18E5E-604F-47AA-A0DF-01C00070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3615" y="3524250"/>
            <a:ext cx="53833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caled-label-0">
            <a:extLst xmlns:a="http://schemas.openxmlformats.org/drawingml/2006/main">
              <a:ext uri="{FF2B5EF4-FFF2-40B4-BE49-F238E27FC236}">
                <a16:creationId xmlns:a16="http://schemas.microsoft.com/office/drawing/2014/main" id="{B34B1B92-62C5-4FCF-A296-834A334D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767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common 70.0000%</a:t>
            </a:r>
          </a:p>
        </p:txBody>
      </p:sp>
      <p:sp>
        <p:nvSpPr>
          <p:cNvPr id="15" name="scaled-label-1">
            <a:extLst xmlns:a="http://schemas.openxmlformats.org/drawingml/2006/main">
              <a:ext uri="{FF2B5EF4-FFF2-40B4-BE49-F238E27FC236}">
                <a16:creationId xmlns:a16="http://schemas.microsoft.com/office/drawing/2014/main" id="{5F1F426D-0744-4B8A-B925-F0F95FC3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38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rare 20.0000%</a:t>
            </a:r>
          </a:p>
        </p:txBody>
      </p:sp>
      <p:sp>
        <p:nvSpPr>
          <p:cNvPr id="16" name="scaled-label-2">
            <a:extLst xmlns:a="http://schemas.openxmlformats.org/drawingml/2006/main">
              <a:ext uri="{FF2B5EF4-FFF2-40B4-BE49-F238E27FC236}">
                <a16:creationId xmlns:a16="http://schemas.microsoft.com/office/drawing/2014/main" id="{1FD9F1BB-6ACB-4CA2-9335-72BEA758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unknown 10.0000%</a:t>
            </a:r>
          </a:p>
        </p:txBody>
      </p:sp>
      <p:sp>
        <p:nvSpPr>
          <p:cNvPr id="17" name="raw-label-0">
            <a:extLst xmlns:a="http://schemas.openxmlformats.org/drawingml/2006/main">
              <a:ext uri="{FF2B5EF4-FFF2-40B4-BE49-F238E27FC236}">
                <a16:creationId xmlns:a16="http://schemas.microsoft.com/office/drawing/2014/main" id="{8C69C57C-63CE-441F-BC33-9201847C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767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common 69.8076%</a:t>
            </a:r>
          </a:p>
        </p:txBody>
      </p:sp>
      <p:sp>
        <p:nvSpPr>
          <p:cNvPr id="18" name="raw-label-1">
            <a:extLst xmlns:a="http://schemas.openxmlformats.org/drawingml/2006/main">
              <a:ext uri="{FF2B5EF4-FFF2-40B4-BE49-F238E27FC236}">
                <a16:creationId xmlns:a16="http://schemas.microsoft.com/office/drawing/2014/main" id="{33120095-5E57-4C73-8F87-59F492D5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38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rare 20.0999%</a:t>
            </a:r>
          </a:p>
        </p:txBody>
      </p:sp>
      <p:sp>
        <p:nvSpPr>
          <p:cNvPr id="19" name="raw-label-2">
            <a:extLst xmlns:a="http://schemas.openxmlformats.org/drawingml/2006/main">
              <a:ext uri="{FF2B5EF4-FFF2-40B4-BE49-F238E27FC236}">
                <a16:creationId xmlns:a16="http://schemas.microsoft.com/office/drawing/2014/main" id="{D4F6B397-9EA9-48EA-B382-F1964230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0065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unknown 10.0925%</a:t>
            </a:r>
          </a:p>
        </p:txBody>
      </p:sp>
      <p:sp>
        <p:nvSpPr>
          <p:cNvPr id="20" name="mass-example-note">
            <a:extLst xmlns:a="http://schemas.openxmlformats.org/drawingml/2006/main">
              <a:ext uri="{FF2B5EF4-FFF2-40B4-BE49-F238E27FC236}">
                <a16:creationId xmlns:a16="http://schemas.microsoft.com/office/drawing/2014/main" id="{C1A30600-2A7B-4A64-839A-4A137F43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Shown for the current triggering_conditions layer with the same seeds in both modes.</a:t>
            </a:r>
          </a:p>
        </p:txBody>
      </p:sp>
    </p:spTree>
    <p:extLst>
      <p:ext uri="{BB962C8B-B14F-4D97-AF65-F5344CB8AC3E}">
        <p14:creationId xmlns:p14="http://schemas.microsoft.com/office/powerpoint/2010/main" val="1598923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mode answers a different modeling question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rescaling when…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70 / 20 / 10 are hard transition constraints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runs must share identical class masses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only within-class element variation is desired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 raw z when…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class mass itself represents construction uncertainty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each seeded model realization may deviate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analysis uses realized, not target, masses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4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Reporting remains explicit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summary.md and stats.json report realized transition mass; stats.json also records the switch value.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9-title">
            <a:extLst xmlns:a="http://schemas.openxmlformats.org/drawingml/2006/main">
              <a:ext uri="{FF2B5EF4-FFF2-40B4-BE49-F238E27FC236}">
                <a16:creationId xmlns:a16="http://schemas.microsoft.com/office/drawing/2014/main" id="{736A1B3D-CCAF-40E8-A15D-1AA9F432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Gamma distributions determine residence time</a:t>
            </a:r>
          </a:p>
        </p:txBody>
      </p:sp>
      <p:sp>
        <p:nvSpPr>
          <p:cNvPr id="2" name="slide-9-rule">
            <a:extLst xmlns:a="http://schemas.openxmlformats.org/drawingml/2006/main">
              <a:ext uri="{FF2B5EF4-FFF2-40B4-BE49-F238E27FC236}">
                <a16:creationId xmlns:a16="http://schemas.microsoft.com/office/drawing/2014/main" id="{EE2020D9-9219-4489-9CBB-21BC3EE4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9-number">
            <a:extLst xmlns:a="http://schemas.openxmlformats.org/drawingml/2006/main">
              <a:ext uri="{FF2B5EF4-FFF2-40B4-BE49-F238E27FC236}">
                <a16:creationId xmlns:a16="http://schemas.microsoft.com/office/drawing/2014/main" id="{EA916083-3614-4F2A-80FC-2074D89F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aw-math-panel">
            <a:extLst xmlns:a="http://schemas.openxmlformats.org/drawingml/2006/main">
              <a:ext uri="{FF2B5EF4-FFF2-40B4-BE49-F238E27FC236}">
                <a16:creationId xmlns:a16="http://schemas.microsoft.com/office/drawing/2014/main" id="{A450AB03-D143-49B1-835D-9B8BAD47C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aw-math-title">
            <a:extLst xmlns:a="http://schemas.openxmlformats.org/drawingml/2006/main">
              <a:ext uri="{FF2B5EF4-FFF2-40B4-BE49-F238E27FC236}">
                <a16:creationId xmlns:a16="http://schemas.microsoft.com/office/drawing/2014/main" id="{921A3630-2078-4900-9358-836C81FE6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and variance</a:t>
            </a:r>
          </a:p>
        </p:txBody>
      </p:sp>
      <p:sp>
        <p:nvSpPr>
          <p:cNvPr id="6" name="raw-math-formula">
            <a:extLst xmlns:a="http://schemas.openxmlformats.org/drawingml/2006/main">
              <a:ext uri="{FF2B5EF4-FFF2-40B4-BE49-F238E27FC236}">
                <a16:creationId xmlns:a16="http://schemas.microsoft.com/office/drawing/2014/main" id="{7AA91B26-5F33-48D6-AA68-B840F985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μ = baseline × rarity multiplier</a:t>
            </a:r>
          </a:p>
          <a:p xmlns:a="http://schemas.openxmlformats.org/drawingml/2006/main">
            <a:r>
              <a:t>   × (1 + spread adjustment)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r>
              <a:t>σ² = (μ × CV)²</a:t>
            </a:r>
          </a:p>
        </p:txBody>
      </p:sp>
      <p:sp>
        <p:nvSpPr>
          <p:cNvPr id="7" name="raw-math-note">
            <a:extLst xmlns:a="http://schemas.openxmlformats.org/drawingml/2006/main">
              <a:ext uri="{FF2B5EF4-FFF2-40B4-BE49-F238E27FC236}">
                <a16:creationId xmlns:a16="http://schemas.microsoft.com/office/drawing/2014/main" id="{D41CE8F7-20E5-488B-AE17-CF853014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Configured bands enforce common &gt; rare &gt; unknown means.</a:t>
            </a:r>
          </a:p>
        </p:txBody>
      </p:sp>
      <p:sp>
        <p:nvSpPr>
          <p:cNvPr id="8" name="scaled-math-panel">
            <a:extLst xmlns:a="http://schemas.openxmlformats.org/drawingml/2006/main">
              <a:ext uri="{FF2B5EF4-FFF2-40B4-BE49-F238E27FC236}">
                <a16:creationId xmlns:a16="http://schemas.microsoft.com/office/drawing/2014/main" id="{EE91D8F3-4D67-49E2-A2BE-F9E68E4C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aled-math-title">
            <a:extLst xmlns:a="http://schemas.openxmlformats.org/drawingml/2006/main">
              <a:ext uri="{FF2B5EF4-FFF2-40B4-BE49-F238E27FC236}">
                <a16:creationId xmlns:a16="http://schemas.microsoft.com/office/drawing/2014/main" id="{11BB2B6B-574E-494D-AB17-68E51B37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57375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Gamma parameters</a:t>
            </a:r>
          </a:p>
        </p:txBody>
      </p:sp>
      <p:sp>
        <p:nvSpPr>
          <p:cNvPr id="10" name="scaled-math-formula">
            <a:extLst xmlns:a="http://schemas.openxmlformats.org/drawingml/2006/main">
              <a:ext uri="{FF2B5EF4-FFF2-40B4-BE49-F238E27FC236}">
                <a16:creationId xmlns:a16="http://schemas.microsoft.com/office/drawing/2014/main" id="{D95BB162-F5C2-4455-A3F7-E26D52DB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shape = μ² / σ²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scale = σ² / 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duration ≥ min_duration_seconds</a:t>
            </a:r>
          </a:p>
        </p:txBody>
      </p:sp>
      <p:sp>
        <p:nvSpPr>
          <p:cNvPr id="11" name="scaled-math-note">
            <a:extLst xmlns:a="http://schemas.openxmlformats.org/drawingml/2006/main">
              <a:ext uri="{FF2B5EF4-FFF2-40B4-BE49-F238E27FC236}">
                <a16:creationId xmlns:a16="http://schemas.microsoft.com/office/drawing/2014/main" id="{F859E574-911B-4AE4-9A7C-AF529C62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625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Initial and replacement durations use the duration stream.</a:t>
            </a:r>
          </a:p>
        </p:txBody>
      </p:sp>
      <p:sp>
        <p:nvSpPr>
          <p:cNvPr id="12" name="math-initial-note">
            <a:extLst xmlns:a="http://schemas.openxmlformats.org/drawingml/2006/main">
              <a:ext uri="{FF2B5EF4-FFF2-40B4-BE49-F238E27FC236}">
                <a16:creationId xmlns:a16="http://schemas.microsoft.com/office/drawing/2014/main" id="{0CAAA76C-D107-44EC-A096-DEE64A3B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Unknown elements tend to expire sooner; every active element keeps its own sampled countdown.</a:t>
            </a:r>
          </a:p>
        </p:txBody>
      </p:sp>
    </p:spTree>
    <p:extLst>
      <p:ext uri="{BB962C8B-B14F-4D97-AF65-F5344CB8AC3E}">
        <p14:creationId xmlns:p14="http://schemas.microsoft.com/office/powerpoint/2010/main" val="1490478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Initialization creates a resumable simulator state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Active configuration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current — six active element indexes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remaining — six countdown timers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t and miles — simulated progress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events — completed time jumps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Accounting and episodes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transitions and per-element visits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common / rare / unknown selections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unknown occupancy time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opened and closed episodes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Initialization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Independent mode uses fixed layer order; conditional mode uses dependency order. Exact rules are checked immediately, so an episode may begin at t = 0.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4-title">
            <a:extLst xmlns:a="http://schemas.openxmlformats.org/drawingml/2006/main">
              <a:ext uri="{FF2B5EF4-FFF2-40B4-BE49-F238E27FC236}">
                <a16:creationId xmlns:a16="http://schemas.microsoft.com/office/drawing/2014/main" id="{1CF8450C-3CC0-4018-A95E-99920720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713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seeded first run begins with six active elements</a:t>
            </a:r>
          </a:p>
        </p:txBody>
      </p:sp>
      <p:sp>
        <p:nvSpPr>
          <p:cNvPr id="2" name="slide-4-rule">
            <a:extLst xmlns:a="http://schemas.openxmlformats.org/drawingml/2006/main">
              <a:ext uri="{FF2B5EF4-FFF2-40B4-BE49-F238E27FC236}">
                <a16:creationId xmlns:a16="http://schemas.microsoft.com/office/drawing/2014/main" id="{C8061A3B-2AD1-421C-8019-06379A93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4-number">
            <a:extLst xmlns:a="http://schemas.openxmlformats.org/drawingml/2006/main">
              <a:ext uri="{FF2B5EF4-FFF2-40B4-BE49-F238E27FC236}">
                <a16:creationId xmlns:a16="http://schemas.microsoft.com/office/drawing/2014/main" id="{ACF85224-2FE4-4607-9DD0-C2A1471F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initial-table-intro">
            <a:extLst xmlns:a="http://schemas.openxmlformats.org/drawingml/2006/main">
              <a:ext uri="{FF2B5EF4-FFF2-40B4-BE49-F238E27FC236}">
                <a16:creationId xmlns:a16="http://schemas.microsoft.com/office/drawing/2014/main" id="{AB6E922D-B9BB-4807-BEA0-7B81B6E4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Seeds make element identities, rarities, and Gamma durations reproducible.</a:t>
            </a:r>
          </a:p>
        </p:txBody>
      </p:sp>
      <p:graphicFrame>
        <p:nvGraphicFramePr>
          <p:cNvPr id="12" name="initial-state-table"/>
          <p:cNvGraphicFramePr/>
          <p:nvPr/>
        </p:nvGraphicFramePr>
        <p:xfrm>
          <a:off xmlns:a="http://schemas.openxmlformats.org/drawingml/2006/main" x="400050" y="1952625"/>
          <a:ext xmlns:a="http://schemas.openxmlformats.org/drawingml/2006/main" cx="113919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857500"/>
                <a:gridCol w="2286000"/>
                <a:gridCol w="3200400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Rarity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Remaining time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street_003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common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200.515420 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 modifications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temporal_032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common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263.833391 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ego_019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common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20.528007 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road-user maneuver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ru_010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rare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32.415814 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environmental conditions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environment_005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common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4,369.980571 s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triggering conditions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trigger_072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unknown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20.000598 s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54000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lide-2-title">
            <a:extLst xmlns:a="http://schemas.openxmlformats.org/drawingml/2006/main">
              <a:ext uri="{FF2B5EF4-FFF2-40B4-BE49-F238E27FC236}">
                <a16:creationId xmlns:a16="http://schemas.microsoft.com/office/drawing/2014/main" id="{1AF18619-9CFC-448D-9394-716298FA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Each loop step jumps directly to the next expiry</a:t>
            </a:r>
          </a:p>
        </p:txBody>
      </p:sp>
      <p:sp>
        <p:nvSpPr>
          <p:cNvPr id="2" name="slide-2-rule">
            <a:extLst xmlns:a="http://schemas.openxmlformats.org/drawingml/2006/main">
              <a:ext uri="{FF2B5EF4-FFF2-40B4-BE49-F238E27FC236}">
                <a16:creationId xmlns:a16="http://schemas.microsoft.com/office/drawing/2014/main" id="{8DDC6BC4-429D-4FBB-B64D-DFE2C0AF4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2-number">
            <a:extLst xmlns:a="http://schemas.openxmlformats.org/drawingml/2006/main">
              <a:ext uri="{FF2B5EF4-FFF2-40B4-BE49-F238E27FC236}">
                <a16:creationId xmlns:a16="http://schemas.microsoft.com/office/drawing/2014/main" id="{A2167F43-FBEC-4C82-B3CF-EDF05A7B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imer-layer-0">
            <a:extLst xmlns:a="http://schemas.openxmlformats.org/drawingml/2006/main">
              <a:ext uri="{FF2B5EF4-FFF2-40B4-BE49-F238E27FC236}">
                <a16:creationId xmlns:a16="http://schemas.microsoft.com/office/drawing/2014/main" id="{B7ADF63C-4A7F-4985-9B9D-EC8C2F604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002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street</a:t>
            </a:r>
          </a:p>
        </p:txBody>
      </p:sp>
      <p:sp>
        <p:nvSpPr>
          <p:cNvPr id="5" name="timer-element-0">
            <a:extLst xmlns:a="http://schemas.openxmlformats.org/drawingml/2006/main">
              <a:ext uri="{FF2B5EF4-FFF2-40B4-BE49-F238E27FC236}">
                <a16:creationId xmlns:a16="http://schemas.microsoft.com/office/drawing/2014/main" id="{AA9D1510-121B-4123-B133-E05A51A5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00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street_003</a:t>
            </a:r>
          </a:p>
        </p:txBody>
      </p:sp>
      <p:sp>
        <p:nvSpPr>
          <p:cNvPr id="6" name="timer-rarity-0">
            <a:extLst xmlns:a="http://schemas.openxmlformats.org/drawingml/2006/main">
              <a:ext uri="{FF2B5EF4-FFF2-40B4-BE49-F238E27FC236}">
                <a16:creationId xmlns:a16="http://schemas.microsoft.com/office/drawing/2014/main" id="{BD76C03B-C421-4E95-B7F4-1D3A0D31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00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common</a:t>
            </a:r>
          </a:p>
        </p:txBody>
      </p:sp>
      <p:sp>
        <p:nvSpPr>
          <p:cNvPr id="7" name="timer-time-0">
            <a:extLst xmlns:a="http://schemas.openxmlformats.org/drawingml/2006/main">
              <a:ext uri="{FF2B5EF4-FFF2-40B4-BE49-F238E27FC236}">
                <a16:creationId xmlns:a16="http://schemas.microsoft.com/office/drawing/2014/main" id="{9E44156E-792A-4B5C-8128-1C9397AB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00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200.515420 s</a:t>
            </a:r>
          </a:p>
        </p:txBody>
      </p:sp>
      <p:sp>
        <p:nvSpPr>
          <p:cNvPr id="8" name="timer-layer-1">
            <a:extLst xmlns:a="http://schemas.openxmlformats.org/drawingml/2006/main">
              <a:ext uri="{FF2B5EF4-FFF2-40B4-BE49-F238E27FC236}">
                <a16:creationId xmlns:a16="http://schemas.microsoft.com/office/drawing/2014/main" id="{0C0DA571-5A6C-4BFF-8456-6C805434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temporal</a:t>
            </a:r>
          </a:p>
        </p:txBody>
      </p:sp>
      <p:sp>
        <p:nvSpPr>
          <p:cNvPr id="9" name="timer-element-1">
            <a:extLst xmlns:a="http://schemas.openxmlformats.org/drawingml/2006/main">
              <a:ext uri="{FF2B5EF4-FFF2-40B4-BE49-F238E27FC236}">
                <a16:creationId xmlns:a16="http://schemas.microsoft.com/office/drawing/2014/main" id="{1195AA9E-BBA4-4D99-8B0D-D6A967512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266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temporal_032</a:t>
            </a:r>
          </a:p>
        </p:txBody>
      </p:sp>
      <p:sp>
        <p:nvSpPr>
          <p:cNvPr id="10" name="timer-rarity-1">
            <a:extLst xmlns:a="http://schemas.openxmlformats.org/drawingml/2006/main">
              <a:ext uri="{FF2B5EF4-FFF2-40B4-BE49-F238E27FC236}">
                <a16:creationId xmlns:a16="http://schemas.microsoft.com/office/drawing/2014/main" id="{7ACB2F00-15EC-4768-B001-750E4BE3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66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common</a:t>
            </a:r>
          </a:p>
        </p:txBody>
      </p:sp>
      <p:sp>
        <p:nvSpPr>
          <p:cNvPr id="11" name="timer-time-1">
            <a:extLst xmlns:a="http://schemas.openxmlformats.org/drawingml/2006/main">
              <a:ext uri="{FF2B5EF4-FFF2-40B4-BE49-F238E27FC236}">
                <a16:creationId xmlns:a16="http://schemas.microsoft.com/office/drawing/2014/main" id="{66FF199F-682D-4BF6-B641-F2F2DE04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266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263.833391 s</a:t>
            </a:r>
          </a:p>
        </p:txBody>
      </p:sp>
      <p:sp>
        <p:nvSpPr>
          <p:cNvPr id="12" name="timer-layer-2">
            <a:extLst xmlns:a="http://schemas.openxmlformats.org/drawingml/2006/main">
              <a:ext uri="{FF2B5EF4-FFF2-40B4-BE49-F238E27FC236}">
                <a16:creationId xmlns:a16="http://schemas.microsoft.com/office/drawing/2014/main" id="{042F812D-D385-41D3-89D1-F8B844079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ego</a:t>
            </a:r>
          </a:p>
        </p:txBody>
      </p:sp>
      <p:sp>
        <p:nvSpPr>
          <p:cNvPr id="13" name="timer-element-2">
            <a:extLst xmlns:a="http://schemas.openxmlformats.org/drawingml/2006/main">
              <a:ext uri="{FF2B5EF4-FFF2-40B4-BE49-F238E27FC236}">
                <a16:creationId xmlns:a16="http://schemas.microsoft.com/office/drawing/2014/main" id="{3A764F89-7474-460F-BBAB-0D76AD65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33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ego_019</a:t>
            </a:r>
          </a:p>
        </p:txBody>
      </p:sp>
      <p:sp>
        <p:nvSpPr>
          <p:cNvPr id="14" name="timer-rarity-2">
            <a:extLst xmlns:a="http://schemas.openxmlformats.org/drawingml/2006/main">
              <a:ext uri="{FF2B5EF4-FFF2-40B4-BE49-F238E27FC236}">
                <a16:creationId xmlns:a16="http://schemas.microsoft.com/office/drawing/2014/main" id="{9215B24B-97E5-4CE0-B113-368925C1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337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common</a:t>
            </a:r>
          </a:p>
        </p:txBody>
      </p:sp>
      <p:sp>
        <p:nvSpPr>
          <p:cNvPr id="15" name="timer-time-2">
            <a:extLst xmlns:a="http://schemas.openxmlformats.org/drawingml/2006/main">
              <a:ext uri="{FF2B5EF4-FFF2-40B4-BE49-F238E27FC236}">
                <a16:creationId xmlns:a16="http://schemas.microsoft.com/office/drawing/2014/main" id="{F2930410-8864-4BF5-A2A2-EC54D8F3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337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20.528007 s</a:t>
            </a:r>
          </a:p>
        </p:txBody>
      </p:sp>
      <p:sp>
        <p:nvSpPr>
          <p:cNvPr id="16" name="timer-layer-3">
            <a:extLst xmlns:a="http://schemas.openxmlformats.org/drawingml/2006/main">
              <a:ext uri="{FF2B5EF4-FFF2-40B4-BE49-F238E27FC236}">
                <a16:creationId xmlns:a16="http://schemas.microsoft.com/office/drawing/2014/main" id="{EF977D47-3715-4183-8263-157B1EE4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004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road user</a:t>
            </a:r>
          </a:p>
        </p:txBody>
      </p:sp>
      <p:sp>
        <p:nvSpPr>
          <p:cNvPr id="17" name="timer-element-3">
            <a:extLst xmlns:a="http://schemas.openxmlformats.org/drawingml/2006/main">
              <a:ext uri="{FF2B5EF4-FFF2-40B4-BE49-F238E27FC236}">
                <a16:creationId xmlns:a16="http://schemas.microsoft.com/office/drawing/2014/main" id="{FAE47FDA-BB2D-4EBD-8B50-210FE19B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004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ru_010</a:t>
            </a:r>
          </a:p>
        </p:txBody>
      </p:sp>
      <p:sp>
        <p:nvSpPr>
          <p:cNvPr id="18" name="timer-rarity-3">
            <a:extLst xmlns:a="http://schemas.openxmlformats.org/drawingml/2006/main">
              <a:ext uri="{FF2B5EF4-FFF2-40B4-BE49-F238E27FC236}">
                <a16:creationId xmlns:a16="http://schemas.microsoft.com/office/drawing/2014/main" id="{67C3FD74-C03A-4DEC-9507-2A6FDCCE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6004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rare</a:t>
            </a:r>
          </a:p>
        </p:txBody>
      </p:sp>
      <p:sp>
        <p:nvSpPr>
          <p:cNvPr id="19" name="timer-time-3">
            <a:extLst xmlns:a="http://schemas.openxmlformats.org/drawingml/2006/main">
              <a:ext uri="{FF2B5EF4-FFF2-40B4-BE49-F238E27FC236}">
                <a16:creationId xmlns:a16="http://schemas.microsoft.com/office/drawing/2014/main" id="{8E80BA80-0899-493E-83C8-DA1B49CD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004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32.415814 s</a:t>
            </a:r>
          </a:p>
        </p:txBody>
      </p:sp>
      <p:sp>
        <p:nvSpPr>
          <p:cNvPr id="20" name="timer-layer-4">
            <a:extLst xmlns:a="http://schemas.openxmlformats.org/drawingml/2006/main">
              <a:ext uri="{FF2B5EF4-FFF2-40B4-BE49-F238E27FC236}">
                <a16:creationId xmlns:a16="http://schemas.microsoft.com/office/drawing/2014/main" id="{348BFF14-F3F6-4C09-9632-55FDCA73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environment</a:t>
            </a:r>
          </a:p>
        </p:txBody>
      </p:sp>
      <p:sp>
        <p:nvSpPr>
          <p:cNvPr id="21" name="timer-element-4">
            <a:extLst xmlns:a="http://schemas.openxmlformats.org/drawingml/2006/main">
              <a:ext uri="{FF2B5EF4-FFF2-40B4-BE49-F238E27FC236}">
                <a16:creationId xmlns:a16="http://schemas.microsoft.com/office/drawing/2014/main" id="{641ED868-0BC6-45E0-9EFC-E2B02446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267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environment_005</a:t>
            </a:r>
          </a:p>
        </p:txBody>
      </p:sp>
      <p:sp>
        <p:nvSpPr>
          <p:cNvPr id="22" name="timer-rarity-4">
            <a:extLst xmlns:a="http://schemas.openxmlformats.org/drawingml/2006/main">
              <a:ext uri="{FF2B5EF4-FFF2-40B4-BE49-F238E27FC236}">
                <a16:creationId xmlns:a16="http://schemas.microsoft.com/office/drawing/2014/main" id="{7722B5B9-3FFF-45F7-A6C7-42A70314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67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common</a:t>
            </a:r>
          </a:p>
        </p:txBody>
      </p:sp>
      <p:sp>
        <p:nvSpPr>
          <p:cNvPr id="23" name="timer-time-4">
            <a:extLst xmlns:a="http://schemas.openxmlformats.org/drawingml/2006/main">
              <a:ext uri="{FF2B5EF4-FFF2-40B4-BE49-F238E27FC236}">
                <a16:creationId xmlns:a16="http://schemas.microsoft.com/office/drawing/2014/main" id="{1645F711-FEEE-43E4-BB35-075EF374B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6720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4,369.980571 s</a:t>
            </a:r>
          </a:p>
        </p:txBody>
      </p:sp>
      <p:sp>
        <p:nvSpPr>
          <p:cNvPr id="24" name="timer-highlight-5">
            <a:extLst xmlns:a="http://schemas.openxmlformats.org/drawingml/2006/main">
              <a:ext uri="{FF2B5EF4-FFF2-40B4-BE49-F238E27FC236}">
                <a16:creationId xmlns:a16="http://schemas.microsoft.com/office/drawing/2014/main" id="{EBBA656C-1B31-4CDF-B37F-E3C32C3A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57750"/>
            <a:ext cx="7620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timer-layer-5">
            <a:extLst xmlns:a="http://schemas.openxmlformats.org/drawingml/2006/main">
              <a:ext uri="{FF2B5EF4-FFF2-40B4-BE49-F238E27FC236}">
                <a16:creationId xmlns:a16="http://schemas.microsoft.com/office/drawing/2014/main" id="{6E5F9DA5-D307-495F-B6DA-A4B8A4324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33950"/>
            <a:ext cx="1476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triggering</a:t>
            </a:r>
          </a:p>
        </p:txBody>
      </p:sp>
      <p:sp>
        <p:nvSpPr>
          <p:cNvPr id="26" name="timer-element-5">
            <a:extLst xmlns:a="http://schemas.openxmlformats.org/drawingml/2006/main">
              <a:ext uri="{FF2B5EF4-FFF2-40B4-BE49-F238E27FC236}">
                <a16:creationId xmlns:a16="http://schemas.microsoft.com/office/drawing/2014/main" id="{501640C0-C375-4483-B34B-AA808AB5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933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trigger_072</a:t>
            </a:r>
          </a:p>
        </p:txBody>
      </p:sp>
      <p:sp>
        <p:nvSpPr>
          <p:cNvPr id="27" name="timer-rarity-5">
            <a:extLst xmlns:a="http://schemas.openxmlformats.org/drawingml/2006/main">
              <a:ext uri="{FF2B5EF4-FFF2-40B4-BE49-F238E27FC236}">
                <a16:creationId xmlns:a16="http://schemas.microsoft.com/office/drawing/2014/main" id="{3C121768-D006-4CE5-BAF7-37DCEFE0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28" name="timer-time-5">
            <a:extLst xmlns:a="http://schemas.openxmlformats.org/drawingml/2006/main">
              <a:ext uri="{FF2B5EF4-FFF2-40B4-BE49-F238E27FC236}">
                <a16:creationId xmlns:a16="http://schemas.microsoft.com/office/drawing/2014/main" id="{7E05C648-C731-4725-B8A9-B3CB946D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933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20.000598 s</a:t>
            </a:r>
          </a:p>
        </p:txBody>
      </p:sp>
      <p:sp>
        <p:nvSpPr>
          <p:cNvPr id="29" name="min-panel">
            <a:extLst xmlns:a="http://schemas.openxmlformats.org/drawingml/2006/main">
              <a:ext uri="{FF2B5EF4-FFF2-40B4-BE49-F238E27FC236}">
                <a16:creationId xmlns:a16="http://schemas.microsoft.com/office/drawing/2014/main" id="{0C476511-01D5-4312-987F-E669BD54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62125"/>
            <a:ext cx="32670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min-label">
            <a:extLst xmlns:a="http://schemas.openxmlformats.org/drawingml/2006/main">
              <a:ext uri="{FF2B5EF4-FFF2-40B4-BE49-F238E27FC236}">
                <a16:creationId xmlns:a16="http://schemas.microsoft.com/office/drawing/2014/main" id="{9C0320CF-BBE3-41EC-A4CA-B1588ED1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NEXT EVENT</a:t>
            </a:r>
          </a:p>
        </p:txBody>
      </p:sp>
      <p:sp>
        <p:nvSpPr>
          <p:cNvPr id="31" name="min-formula">
            <a:extLst xmlns:a="http://schemas.openxmlformats.org/drawingml/2006/main">
              <a:ext uri="{FF2B5EF4-FFF2-40B4-BE49-F238E27FC236}">
                <a16:creationId xmlns:a16="http://schemas.microsoft.com/office/drawing/2014/main" id="{A051AB92-150E-4585-B628-468B87B5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6193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dt = min(remaining)</a:t>
            </a:r>
          </a:p>
        </p:txBody>
      </p:sp>
      <p:sp>
        <p:nvSpPr>
          <p:cNvPr id="32" name="min-result">
            <a:extLst xmlns:a="http://schemas.openxmlformats.org/drawingml/2006/main">
              <a:ext uri="{FF2B5EF4-FFF2-40B4-BE49-F238E27FC236}">
                <a16:creationId xmlns:a16="http://schemas.microsoft.com/office/drawing/2014/main" id="{E2B1E89B-6972-4A19-B190-F93D0C61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257550"/>
            <a:ext cx="266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20.000598 s</a:t>
            </a:r>
          </a:p>
        </p:txBody>
      </p:sp>
      <p:sp>
        <p:nvSpPr>
          <p:cNvPr id="33" name="min-explainer">
            <a:extLst xmlns:a="http://schemas.openxmlformats.org/drawingml/2006/main">
              <a:ext uri="{FF2B5EF4-FFF2-40B4-BE49-F238E27FC236}">
                <a16:creationId xmlns:a16="http://schemas.microsoft.com/office/drawing/2014/main" id="{0C4380EA-30D6-486A-8053-C441B6A3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257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Only triggering expires; every other timer loses the same dt.</a:t>
            </a:r>
          </a:p>
        </p:txBody>
      </p:sp>
    </p:spTree>
    <p:extLst>
      <p:ext uri="{BB962C8B-B14F-4D97-AF65-F5344CB8AC3E}">
        <p14:creationId xmlns:p14="http://schemas.microsoft.com/office/powerpoint/2010/main" val="6602483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279D561-0A8B-4C08-BF67-9F84BD7C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Every iteration follows one event-driven sequence</a:t>
            </a:r>
          </a:p>
        </p:txBody>
      </p:sp>
      <p:sp>
        <p:nvSpPr>
          <p:cNvPr id="2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A493C3D2-C9DF-47E9-862F-5F40B3AD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42646AD0-C974-4226-96D6-5060116B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flow-1">
            <a:extLst xmlns:a="http://schemas.openxmlformats.org/drawingml/2006/main">
              <a:ext uri="{FF2B5EF4-FFF2-40B4-BE49-F238E27FC236}">
                <a16:creationId xmlns:a16="http://schemas.microsoft.com/office/drawing/2014/main" id="{E2C1ACAB-161A-4406-A852-594231F0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1-number">
            <a:extLst xmlns:a="http://schemas.openxmlformats.org/drawingml/2006/main">
              <a:ext uri="{FF2B5EF4-FFF2-40B4-BE49-F238E27FC236}">
                <a16:creationId xmlns:a16="http://schemas.microsoft.com/office/drawing/2014/main" id="{4CC99A0A-DD9F-4340-89CD-843CB36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2FF1ACAA-C21F-4396-B24F-9B76AAE4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Choose dt</a:t>
            </a:r>
          </a:p>
        </p:txBody>
      </p:sp>
      <p:sp>
        <p:nvSpPr>
          <p:cNvPr id="7" name="flow-1-body">
            <a:extLst xmlns:a="http://schemas.openxmlformats.org/drawingml/2006/main">
              <a:ext uri="{FF2B5EF4-FFF2-40B4-BE49-F238E27FC236}">
                <a16:creationId xmlns:a16="http://schemas.microsoft.com/office/drawing/2014/main" id="{17FD52D4-6789-41FD-86F0-C4064C66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Minimum remaining duration or time left.</a:t>
            </a:r>
          </a:p>
        </p:txBody>
      </p:sp>
      <p:sp>
        <p:nvSpPr>
          <p:cNvPr id="8" name="flow-2">
            <a:extLst xmlns:a="http://schemas.openxmlformats.org/drawingml/2006/main">
              <a:ext uri="{FF2B5EF4-FFF2-40B4-BE49-F238E27FC236}">
                <a16:creationId xmlns:a16="http://schemas.microsoft.com/office/drawing/2014/main" id="{874A8B46-66CF-4CA8-9EDA-D81A3FE2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2-number">
            <a:extLst xmlns:a="http://schemas.openxmlformats.org/drawingml/2006/main">
              <a:ext uri="{FF2B5EF4-FFF2-40B4-BE49-F238E27FC236}">
                <a16:creationId xmlns:a16="http://schemas.microsoft.com/office/drawing/2014/main" id="{32186089-8988-4215-B034-D45DA366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0C792299-56E6-454D-B130-30FBDB5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Advance</a:t>
            </a:r>
          </a:p>
        </p:txBody>
      </p:sp>
      <p:sp>
        <p:nvSpPr>
          <p:cNvPr id="11" name="flow-2-body">
            <a:extLst xmlns:a="http://schemas.openxmlformats.org/drawingml/2006/main">
              <a:ext uri="{FF2B5EF4-FFF2-40B4-BE49-F238E27FC236}">
                <a16:creationId xmlns:a16="http://schemas.microsoft.com/office/drawing/2014/main" id="{EF3C124F-9DF6-49FB-849F-10DD3004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Update simulated time and derived mileage.</a:t>
            </a:r>
          </a:p>
        </p:txBody>
      </p:sp>
      <p:sp>
        <p:nvSpPr>
          <p:cNvPr id="12" name="flow-3">
            <a:extLst xmlns:a="http://schemas.openxmlformats.org/drawingml/2006/main">
              <a:ext uri="{FF2B5EF4-FFF2-40B4-BE49-F238E27FC236}">
                <a16:creationId xmlns:a16="http://schemas.microsoft.com/office/drawing/2014/main" id="{88378F43-12C7-4191-867F-57B8B31F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3-number">
            <a:extLst xmlns:a="http://schemas.openxmlformats.org/drawingml/2006/main">
              <a:ext uri="{FF2B5EF4-FFF2-40B4-BE49-F238E27FC236}">
                <a16:creationId xmlns:a16="http://schemas.microsoft.com/office/drawing/2014/main" id="{AC62DCF2-4C9F-4737-83B3-7FBE268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B6EC08F4-033D-443B-94E8-47052F58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Expire</a:t>
            </a:r>
          </a:p>
        </p:txBody>
      </p:sp>
      <p:sp>
        <p:nvSpPr>
          <p:cNvPr id="15" name="flow-3-body">
            <a:extLst xmlns:a="http://schemas.openxmlformats.org/drawingml/2006/main">
              <a:ext uri="{FF2B5EF4-FFF2-40B4-BE49-F238E27FC236}">
                <a16:creationId xmlns:a16="http://schemas.microsoft.com/office/drawing/2014/main" id="{991BAC0D-084D-426D-953E-635A818A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Subtract dt; collect timers that reach zero.</a:t>
            </a:r>
          </a:p>
        </p:txBody>
      </p:sp>
      <p:sp>
        <p:nvSpPr>
          <p:cNvPr id="16" name="flow-4">
            <a:extLst xmlns:a="http://schemas.openxmlformats.org/drawingml/2006/main">
              <a:ext uri="{FF2B5EF4-FFF2-40B4-BE49-F238E27FC236}">
                <a16:creationId xmlns:a16="http://schemas.microsoft.com/office/drawing/2014/main" id="{1441C05B-A731-4020-801D-6F95C49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4-number">
            <a:extLst xmlns:a="http://schemas.openxmlformats.org/drawingml/2006/main">
              <a:ext uri="{FF2B5EF4-FFF2-40B4-BE49-F238E27FC236}">
                <a16:creationId xmlns:a16="http://schemas.microsoft.com/office/drawing/2014/main" id="{190B6D9D-C900-4140-A957-5E5FCC4D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flow-4-title">
            <a:extLst xmlns:a="http://schemas.openxmlformats.org/drawingml/2006/main">
              <a:ext uri="{FF2B5EF4-FFF2-40B4-BE49-F238E27FC236}">
                <a16:creationId xmlns:a16="http://schemas.microsoft.com/office/drawing/2014/main" id="{2C597FB8-ECEF-4519-B84C-32BDC539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Stop?</a:t>
            </a:r>
          </a:p>
        </p:txBody>
      </p:sp>
      <p:sp>
        <p:nvSpPr>
          <p:cNvPr id="19" name="flow-4-body">
            <a:extLst xmlns:a="http://schemas.openxmlformats.org/drawingml/2006/main">
              <a:ext uri="{FF2B5EF4-FFF2-40B4-BE49-F238E27FC236}">
                <a16:creationId xmlns:a16="http://schemas.microsoft.com/office/drawing/2014/main" id="{1DB93DE3-ED33-409E-A095-338C314B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If target time is reached, do not draw another state.</a:t>
            </a:r>
          </a:p>
        </p:txBody>
      </p:sp>
      <p:sp>
        <p:nvSpPr>
          <p:cNvPr id="20" name="flow-5">
            <a:extLst xmlns:a="http://schemas.openxmlformats.org/drawingml/2006/main">
              <a:ext uri="{FF2B5EF4-FFF2-40B4-BE49-F238E27FC236}">
                <a16:creationId xmlns:a16="http://schemas.microsoft.com/office/drawing/2014/main" id="{A537D8C7-EDE6-4AEC-9753-D50B84A2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5-number">
            <a:extLst xmlns:a="http://schemas.openxmlformats.org/drawingml/2006/main">
              <a:ext uri="{FF2B5EF4-FFF2-40B4-BE49-F238E27FC236}">
                <a16:creationId xmlns:a16="http://schemas.microsoft.com/office/drawing/2014/main" id="{B0D463AD-079A-4E73-BBD9-677E3970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flow-5-title">
            <a:extLst xmlns:a="http://schemas.openxmlformats.org/drawingml/2006/main">
              <a:ext uri="{FF2B5EF4-FFF2-40B4-BE49-F238E27FC236}">
                <a16:creationId xmlns:a16="http://schemas.microsoft.com/office/drawing/2014/main" id="{E0FE94B7-A83F-4CFC-A1E4-3AF52EC0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Sample</a:t>
            </a:r>
          </a:p>
        </p:txBody>
      </p:sp>
      <p:sp>
        <p:nvSpPr>
          <p:cNvPr id="23" name="flow-5-body">
            <a:extLst xmlns:a="http://schemas.openxmlformats.org/drawingml/2006/main">
              <a:ext uri="{FF2B5EF4-FFF2-40B4-BE49-F238E27FC236}">
                <a16:creationId xmlns:a16="http://schemas.microsoft.com/office/drawing/2014/main" id="{3294995F-5A4C-4485-8432-4AC68AF1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Draw the next element for each expired layer.</a:t>
            </a:r>
          </a:p>
        </p:txBody>
      </p:sp>
      <p:sp>
        <p:nvSpPr>
          <p:cNvPr id="24" name="flow-6">
            <a:extLst xmlns:a="http://schemas.openxmlformats.org/drawingml/2006/main">
              <a:ext uri="{FF2B5EF4-FFF2-40B4-BE49-F238E27FC236}">
                <a16:creationId xmlns:a16="http://schemas.microsoft.com/office/drawing/2014/main" id="{06D15B81-DA00-4BBA-9777-4FAB0CD5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6-number">
            <a:extLst xmlns:a="http://schemas.openxmlformats.org/drawingml/2006/main">
              <a:ext uri="{FF2B5EF4-FFF2-40B4-BE49-F238E27FC236}">
                <a16:creationId xmlns:a16="http://schemas.microsoft.com/office/drawing/2014/main" id="{726900DC-9517-4A83-8C67-619ED07A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flow-6-title">
            <a:extLst xmlns:a="http://schemas.openxmlformats.org/drawingml/2006/main">
              <a:ext uri="{FF2B5EF4-FFF2-40B4-BE49-F238E27FC236}">
                <a16:creationId xmlns:a16="http://schemas.microsoft.com/office/drawing/2014/main" id="{B6DA48A7-00AC-48D5-B827-0BE5E235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Reset</a:t>
            </a:r>
          </a:p>
        </p:txBody>
      </p:sp>
      <p:sp>
        <p:nvSpPr>
          <p:cNvPr id="27" name="flow-6-body">
            <a:extLst xmlns:a="http://schemas.openxmlformats.org/drawingml/2006/main">
              <a:ext uri="{FF2B5EF4-FFF2-40B4-BE49-F238E27FC236}">
                <a16:creationId xmlns:a16="http://schemas.microsoft.com/office/drawing/2014/main" id="{6C3D2FA3-AD68-4446-8AEF-F2F03F26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Sample its new Gamma residence duration.</a:t>
            </a:r>
          </a:p>
        </p:txBody>
      </p:sp>
      <p:sp>
        <p:nvSpPr>
          <p:cNvPr id="28" name="flow-7">
            <a:extLst xmlns:a="http://schemas.openxmlformats.org/drawingml/2006/main">
              <a:ext uri="{FF2B5EF4-FFF2-40B4-BE49-F238E27FC236}">
                <a16:creationId xmlns:a16="http://schemas.microsoft.com/office/drawing/2014/main" id="{0113C322-7EB9-44AF-9AB6-E7D9FB3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low-7-number">
            <a:extLst xmlns:a="http://schemas.openxmlformats.org/drawingml/2006/main">
              <a:ext uri="{FF2B5EF4-FFF2-40B4-BE49-F238E27FC236}">
                <a16:creationId xmlns:a16="http://schemas.microsoft.com/office/drawing/2014/main" id="{97709232-30F2-4B3C-9396-BAFEE006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flow-7-title">
            <a:extLst xmlns:a="http://schemas.openxmlformats.org/drawingml/2006/main">
              <a:ext uri="{FF2B5EF4-FFF2-40B4-BE49-F238E27FC236}">
                <a16:creationId xmlns:a16="http://schemas.microsoft.com/office/drawing/2014/main" id="{274E766C-8D6C-4B83-AFC7-178FBFCC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sp>
        <p:nvSpPr>
          <p:cNvPr id="31" name="flow-7-body">
            <a:extLst xmlns:a="http://schemas.openxmlformats.org/drawingml/2006/main">
              <a:ext uri="{FF2B5EF4-FFF2-40B4-BE49-F238E27FC236}">
                <a16:creationId xmlns:a16="http://schemas.microsoft.com/office/drawing/2014/main" id="{C547350B-A3CF-41CF-A8EA-D5D02F51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Update visits, rarities, occupancy, and transitions.</a:t>
            </a:r>
          </a:p>
        </p:txBody>
      </p:sp>
      <p:sp>
        <p:nvSpPr>
          <p:cNvPr id="32" name="flow-8">
            <a:extLst xmlns:a="http://schemas.openxmlformats.org/drawingml/2006/main">
              <a:ext uri="{FF2B5EF4-FFF2-40B4-BE49-F238E27FC236}">
                <a16:creationId xmlns:a16="http://schemas.microsoft.com/office/drawing/2014/main" id="{634CC93E-7F6E-4250-B6AD-ACEA5EEC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low-8-number">
            <a:extLst xmlns:a="http://schemas.openxmlformats.org/drawingml/2006/main">
              <a:ext uri="{FF2B5EF4-FFF2-40B4-BE49-F238E27FC236}">
                <a16:creationId xmlns:a16="http://schemas.microsoft.com/office/drawing/2014/main" id="{93BD8B69-BA74-4C30-894D-57865295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4" name="flow-8-title">
            <a:extLst xmlns:a="http://schemas.openxmlformats.org/drawingml/2006/main">
              <a:ext uri="{FF2B5EF4-FFF2-40B4-BE49-F238E27FC236}">
                <a16:creationId xmlns:a16="http://schemas.microsoft.com/office/drawing/2014/main" id="{C5E418C6-764D-40D6-986E-560FA27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Match</a:t>
            </a:r>
          </a:p>
        </p:txBody>
      </p:sp>
      <p:sp>
        <p:nvSpPr>
          <p:cNvPr id="35" name="flow-8-body">
            <a:extLst xmlns:a="http://schemas.openxmlformats.org/drawingml/2006/main">
              <a:ext uri="{FF2B5EF4-FFF2-40B4-BE49-F238E27FC236}">
                <a16:creationId xmlns:a16="http://schemas.microsoft.com/office/drawing/2014/main" id="{A946EED7-41DA-45B5-84AB-F8E7395B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Open or close an exact C3–C6 rare scenario.</a:t>
            </a:r>
          </a:p>
        </p:txBody>
      </p:sp>
      <p:cxnSp>
        <p:nvCxnSpPr>
          <p:cNvPr id="499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81300" y="2238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0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86425" y="2238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0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591550" y="2238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02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306050" y="28575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03" name=""/>
          <p:cNvCxnSpPr>
            <a:stCxn xmlns:a="http://schemas.openxmlformats.org/drawingml/2006/main" id="20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8591550" y="4619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04" name=""/>
          <p:cNvCxnSpPr>
            <a:stCxn xmlns:a="http://schemas.openxmlformats.org/drawingml/2006/main" id="24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5686425" y="4619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05" name=""/>
          <p:cNvCxnSpPr>
            <a:stCxn xmlns:a="http://schemas.openxmlformats.org/drawingml/2006/main" id="28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2781300" y="4619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sp>
        <p:nvSpPr>
          <p:cNvPr id="43" name="iteration-note">
            <a:extLst xmlns:a="http://schemas.openxmlformats.org/drawingml/2006/main">
              <a:ext uri="{FF2B5EF4-FFF2-40B4-BE49-F238E27FC236}">
                <a16:creationId xmlns:a16="http://schemas.microsoft.com/office/drawing/2014/main" id="{C711A68B-1D96-4CE9-875A-265EB3E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Independent mode uses the permanent vector. Conditional mode first modifies and renormalizes it for the current context.</a:t>
            </a:r>
          </a:p>
        </p:txBody>
      </p:sp>
    </p:spTree>
    <p:extLst>
      <p:ext uri="{BB962C8B-B14F-4D97-AF65-F5344CB8AC3E}">
        <p14:creationId xmlns:p14="http://schemas.microsoft.com/office/powerpoint/2010/main" val="17576972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Transition mode changes replacement sampling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Independent mode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draw from the permanent cumulative vector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bisect_right selects the first Cᵢ &gt; u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disabled self-transitions use rejection sampling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Conditional mode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start from permanent 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apply every matching context multiplier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zero the current element if needed; renormalize; draw once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Ordering matters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Independent mode uses fixed layer order; conditional mode uses topological dependency order. Dependency cycles are rejected.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8F5C94C7-9491-4B96-8DB0-7C235E25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trigger_072 expires first at 20.000598 seconds</a:t>
            </a:r>
          </a:p>
        </p:txBody>
      </p:sp>
      <p:sp>
        <p:nvSpPr>
          <p:cNvPr id="2" name="slide-5-rule">
            <a:extLst xmlns:a="http://schemas.openxmlformats.org/drawingml/2006/main">
              <a:ext uri="{FF2B5EF4-FFF2-40B4-BE49-F238E27FC236}">
                <a16:creationId xmlns:a16="http://schemas.microsoft.com/office/drawing/2014/main" id="{A0051AC2-393E-4873-948E-FEEAFCEC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5-number">
            <a:extLst xmlns:a="http://schemas.openxmlformats.org/drawingml/2006/main">
              <a:ext uri="{FF2B5EF4-FFF2-40B4-BE49-F238E27FC236}">
                <a16:creationId xmlns:a16="http://schemas.microsoft.com/office/drawing/2014/main" id="{D654C7F0-AA38-4C1B-8957-E71A7E66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13" name="time-jump-table"/>
          <p:cNvGraphicFramePr/>
          <p:nvPr/>
        </p:nvGraphicFramePr>
        <p:xfrm>
          <a:off xmlns:a="http://schemas.openxmlformats.org/drawingml/2006/main" x="400050" y="1619250"/>
          <a:ext xmlns:a="http://schemas.openxmlformats.org/drawingml/2006/main" cx="6953250" cy="4095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71750"/>
                <a:gridCol w="2095500"/>
                <a:gridCol w="2286000"/>
              </a:tblGrid>
              <a:tr h="585107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Layer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Before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After subtracting dt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street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200.515420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180.514823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temporal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263.833391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243.832793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ego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20.528007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0.527410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road user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32.415814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12.415216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environment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4,369.980571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4,349.979973</a:t>
                      </a:r>
                    </a:p>
                  </a:txBody>
                  <a:tcPr marL="91440" marR="91440" marT="45720" marB="45720"/>
                </a:tc>
              </a:tr>
              <a:tr h="585107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triggering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20.000598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0.000000  → expired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</a:tbl>
          </a:graphicData>
        </a:graphic>
      </p:graphicFrame>
      <p:sp>
        <p:nvSpPr>
          <p:cNvPr id="5" name="time-formulas-panel">
            <a:extLst xmlns:a="http://schemas.openxmlformats.org/drawingml/2006/main">
              <a:ext uri="{FF2B5EF4-FFF2-40B4-BE49-F238E27FC236}">
                <a16:creationId xmlns:a16="http://schemas.microsoft.com/office/drawing/2014/main" id="{31BAD3DB-74E5-4C1A-8EC6-614ED142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39814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ime-formulas">
            <a:extLst xmlns:a="http://schemas.openxmlformats.org/drawingml/2006/main">
              <a:ext uri="{FF2B5EF4-FFF2-40B4-BE49-F238E27FC236}">
                <a16:creationId xmlns:a16="http://schemas.microsoft.com/office/drawing/2014/main" id="{1065BCFA-8181-4173-AF15-114E7323B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885950"/>
            <a:ext cx="35623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dt = 20.0005978707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 = 0 + dt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= 20.0005978707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Δmiles = 50 × dt / 3600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   = 0.2777860815 mi</a:t>
            </a:r>
          </a:p>
        </p:txBody>
      </p:sp>
      <p:sp>
        <p:nvSpPr>
          <p:cNvPr id="7" name="occupancy-note">
            <a:extLst xmlns:a="http://schemas.openxmlformats.org/drawingml/2006/main">
              <a:ext uri="{FF2B5EF4-FFF2-40B4-BE49-F238E27FC236}">
                <a16:creationId xmlns:a16="http://schemas.microsoft.com/office/drawing/2014/main" id="{339F58CF-30C0-4FD1-94B3-4835F6F8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00625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Because trigger_072 is unknown, its unknown-occupancy counter also receives +20.000598 seconds.</a:t>
            </a:r>
          </a:p>
        </p:txBody>
      </p:sp>
    </p:spTree>
    <p:extLst>
      <p:ext uri="{BB962C8B-B14F-4D97-AF65-F5344CB8AC3E}">
        <p14:creationId xmlns:p14="http://schemas.microsoft.com/office/powerpoint/2010/main" val="166428902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6-title">
            <a:extLst xmlns:a="http://schemas.openxmlformats.org/drawingml/2006/main">
              <a:ext uri="{FF2B5EF4-FFF2-40B4-BE49-F238E27FC236}">
                <a16:creationId xmlns:a16="http://schemas.microsoft.com/office/drawing/2014/main" id="{960488E2-9B10-432F-AA00-63D6BF5B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uniform draw selects trigger_016</a:t>
            </a:r>
          </a:p>
        </p:txBody>
      </p:sp>
      <p:sp>
        <p:nvSpPr>
          <p:cNvPr id="2" name="slide-6-rule">
            <a:extLst xmlns:a="http://schemas.openxmlformats.org/drawingml/2006/main">
              <a:ext uri="{FF2B5EF4-FFF2-40B4-BE49-F238E27FC236}">
                <a16:creationId xmlns:a16="http://schemas.microsoft.com/office/drawing/2014/main" id="{07E56BA5-6DD5-4381-BB9B-FFBFC4FD8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6-number">
            <a:extLst xmlns:a="http://schemas.openxmlformats.org/drawingml/2006/main">
              <a:ext uri="{FF2B5EF4-FFF2-40B4-BE49-F238E27FC236}">
                <a16:creationId xmlns:a16="http://schemas.microsoft.com/office/drawing/2014/main" id="{BAE01B23-00FC-4B1C-9ECB-A7B4D5FD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4" name="draw-code-panel">
            <a:extLst xmlns:a="http://schemas.openxmlformats.org/drawingml/2006/main">
              <a:ext uri="{FF2B5EF4-FFF2-40B4-BE49-F238E27FC236}">
                <a16:creationId xmlns:a16="http://schemas.microsoft.com/office/drawing/2014/main" id="{FB1D424F-B6E4-44A2-BEF7-224A3422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4476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raw-code">
            <a:extLst xmlns:a="http://schemas.openxmlformats.org/drawingml/2006/main">
              <a:ext uri="{FF2B5EF4-FFF2-40B4-BE49-F238E27FC236}">
                <a16:creationId xmlns:a16="http://schemas.microsoft.com/office/drawing/2014/main" id="{9B2F4142-A911-4B19-B752-673B4854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4057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u = 0.1946573687519514</a:t>
            </a:r>
          </a:p>
        </p:txBody>
      </p:sp>
      <p:sp>
        <p:nvSpPr>
          <p:cNvPr id="6" name="cdf-caption">
            <a:extLst xmlns:a="http://schemas.openxmlformats.org/drawingml/2006/main">
              <a:ext uri="{FF2B5EF4-FFF2-40B4-BE49-F238E27FC236}">
                <a16:creationId xmlns:a16="http://schemas.microsoft.com/office/drawing/2014/main" id="{288A00AE-5CA4-4EFD-B3C5-D1C23D2E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cumulative vector assigns trigger_016 this interval:</a:t>
            </a:r>
          </a:p>
        </p:txBody>
      </p:sp>
      <p:sp>
        <p:nvSpPr>
          <p:cNvPr id="7" name="cdf-axis">
            <a:extLst xmlns:a="http://schemas.openxmlformats.org/drawingml/2006/main">
              <a:ext uri="{FF2B5EF4-FFF2-40B4-BE49-F238E27FC236}">
                <a16:creationId xmlns:a16="http://schemas.microsoft.com/office/drawing/2014/main" id="{07CF8538-FB63-4A1C-A2E9-52BC3F08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cdf-selected-interval">
            <a:extLst xmlns:a="http://schemas.openxmlformats.org/drawingml/2006/main">
              <a:ext uri="{FF2B5EF4-FFF2-40B4-BE49-F238E27FC236}">
                <a16:creationId xmlns:a16="http://schemas.microsoft.com/office/drawing/2014/main" id="{DB033E40-FE9D-4BB5-AB53-7B4B2CB81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489" y="3562350"/>
            <a:ext cx="2907858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df-lower">
            <a:extLst xmlns:a="http://schemas.openxmlformats.org/drawingml/2006/main">
              <a:ext uri="{FF2B5EF4-FFF2-40B4-BE49-F238E27FC236}">
                <a16:creationId xmlns:a16="http://schemas.microsoft.com/office/drawing/2014/main" id="{6AC225DC-C389-4858-B92A-6308B0FA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4489" y="3381375"/>
            <a:ext cx="95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cdf-upper">
            <a:extLst xmlns:a="http://schemas.openxmlformats.org/drawingml/2006/main">
              <a:ext uri="{FF2B5EF4-FFF2-40B4-BE49-F238E27FC236}">
                <a16:creationId xmlns:a16="http://schemas.microsoft.com/office/drawing/2014/main" id="{B97D9379-4DD9-44BC-9CA7-DF73A2D0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347" y="3381375"/>
            <a:ext cx="9525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cdf-draw">
            <a:extLst xmlns:a="http://schemas.openxmlformats.org/drawingml/2006/main">
              <a:ext uri="{FF2B5EF4-FFF2-40B4-BE49-F238E27FC236}">
                <a16:creationId xmlns:a16="http://schemas.microsoft.com/office/drawing/2014/main" id="{C0A0A340-4673-43A7-8BCA-8EA4FBE3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8342" y="3028950"/>
            <a:ext cx="9525" cy="156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12" name="cdf-start">
            <a:extLst xmlns:a="http://schemas.openxmlformats.org/drawingml/2006/main">
              <a:ext uri="{FF2B5EF4-FFF2-40B4-BE49-F238E27FC236}">
                <a16:creationId xmlns:a16="http://schemas.microsoft.com/office/drawing/2014/main" id="{89D10DDE-17B4-4A58-91C1-92427DEC4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2386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0.18</a:t>
            </a:r>
          </a:p>
        </p:txBody>
      </p:sp>
      <p:sp>
        <p:nvSpPr>
          <p:cNvPr id="13" name="cdf-end">
            <a:extLst xmlns:a="http://schemas.openxmlformats.org/drawingml/2006/main">
              <a:ext uri="{FF2B5EF4-FFF2-40B4-BE49-F238E27FC236}">
                <a16:creationId xmlns:a16="http://schemas.microsoft.com/office/drawing/2014/main" id="{3FFD0ECA-AEB6-46CA-9A03-C550EBC6E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23862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0.22</a:t>
            </a:r>
          </a:p>
        </p:txBody>
      </p:sp>
      <p:sp>
        <p:nvSpPr>
          <p:cNvPr id="14" name="cdf-lower-label">
            <a:extLst xmlns:a="http://schemas.openxmlformats.org/drawingml/2006/main">
              <a:ext uri="{FF2B5EF4-FFF2-40B4-BE49-F238E27FC236}">
                <a16:creationId xmlns:a16="http://schemas.microsoft.com/office/drawing/2014/main" id="{0FB9EB01-334C-4E72-829F-0EEEC1C2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339" y="4267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0.1928299670</a:t>
            </a:r>
          </a:p>
        </p:txBody>
      </p:sp>
      <p:sp>
        <p:nvSpPr>
          <p:cNvPr id="15" name="cdf-upper-label">
            <a:extLst xmlns:a="http://schemas.openxmlformats.org/drawingml/2006/main">
              <a:ext uri="{FF2B5EF4-FFF2-40B4-BE49-F238E27FC236}">
                <a16:creationId xmlns:a16="http://schemas.microsoft.com/office/drawing/2014/main" id="{159BA45F-A2EF-42F5-A67D-3F9FE581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197" y="42672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0.2048020040</a:t>
            </a:r>
          </a:p>
        </p:txBody>
      </p:sp>
      <p:sp>
        <p:nvSpPr>
          <p:cNvPr id="16" name="cdf-draw-label">
            <a:extLst xmlns:a="http://schemas.openxmlformats.org/drawingml/2006/main">
              <a:ext uri="{FF2B5EF4-FFF2-40B4-BE49-F238E27FC236}">
                <a16:creationId xmlns:a16="http://schemas.microsoft.com/office/drawing/2014/main" id="{018EC5A3-0DA8-44F0-AC1C-E3DA7445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0217" y="26670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17" name="cdf-band-label">
            <a:extLst xmlns:a="http://schemas.openxmlformats.org/drawingml/2006/main">
              <a:ext uri="{FF2B5EF4-FFF2-40B4-BE49-F238E27FC236}">
                <a16:creationId xmlns:a16="http://schemas.microsoft.com/office/drawing/2014/main" id="{18761687-FA3A-4F97-B4AD-6FF393F5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5918" y="3638550"/>
            <a:ext cx="190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trigger_016 interval</a:t>
            </a:r>
          </a:p>
        </p:txBody>
      </p:sp>
      <p:sp>
        <p:nvSpPr>
          <p:cNvPr id="18" name="cdf-result">
            <a:extLst xmlns:a="http://schemas.openxmlformats.org/drawingml/2006/main">
              <a:ext uri="{FF2B5EF4-FFF2-40B4-BE49-F238E27FC236}">
                <a16:creationId xmlns:a16="http://schemas.microsoft.com/office/drawing/2014/main" id="{189AE96E-75B8-4CD7-BADD-B43CEB62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8162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bisect_right → index 16 → trigger_016</a:t>
            </a:r>
          </a:p>
        </p:txBody>
      </p:sp>
      <p:sp>
        <p:nvSpPr>
          <p:cNvPr id="19" name="cdf-prob">
            <a:extLst xmlns:a="http://schemas.openxmlformats.org/drawingml/2006/main">
              <a:ext uri="{FF2B5EF4-FFF2-40B4-BE49-F238E27FC236}">
                <a16:creationId xmlns:a16="http://schemas.microsoft.com/office/drawing/2014/main" id="{1B6BA12F-9E92-497A-81E4-B97B036D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381625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6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Interval width = 1.197204%</a:t>
            </a:r>
          </a:p>
        </p:txBody>
      </p:sp>
    </p:spTree>
    <p:extLst>
      <p:ext uri="{BB962C8B-B14F-4D97-AF65-F5344CB8AC3E}">
        <p14:creationId xmlns:p14="http://schemas.microsoft.com/office/powerpoint/2010/main" val="19483261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lide-7-title">
            <a:extLst xmlns:a="http://schemas.openxmlformats.org/drawingml/2006/main">
              <a:ext uri="{FF2B5EF4-FFF2-40B4-BE49-F238E27FC236}">
                <a16:creationId xmlns:a16="http://schemas.microsoft.com/office/drawing/2014/main" id="{E38A1AFC-982F-4A7D-BB79-9F600809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One layer changes before scenario matching</a:t>
            </a:r>
          </a:p>
        </p:txBody>
      </p:sp>
      <p:sp>
        <p:nvSpPr>
          <p:cNvPr id="2" name="slide-7-rule">
            <a:extLst xmlns:a="http://schemas.openxmlformats.org/drawingml/2006/main">
              <a:ext uri="{FF2B5EF4-FFF2-40B4-BE49-F238E27FC236}">
                <a16:creationId xmlns:a16="http://schemas.microsoft.com/office/drawing/2014/main" id="{97915E0F-72D6-484A-9AE9-C60592A7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7-number">
            <a:extLst xmlns:a="http://schemas.openxmlformats.org/drawingml/2006/main">
              <a:ext uri="{FF2B5EF4-FFF2-40B4-BE49-F238E27FC236}">
                <a16:creationId xmlns:a16="http://schemas.microsoft.com/office/drawing/2014/main" id="{B6BA37DE-41FF-43AB-92B0-D76214406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before-panel">
            <a:extLst xmlns:a="http://schemas.openxmlformats.org/drawingml/2006/main">
              <a:ext uri="{FF2B5EF4-FFF2-40B4-BE49-F238E27FC236}">
                <a16:creationId xmlns:a16="http://schemas.microsoft.com/office/drawing/2014/main" id="{1521DA34-A0CC-45A8-BA1D-26107B34B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3524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F1063A52-4CDE-4BFA-AC1F-0357FA83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BEFORE</a:t>
            </a:r>
          </a:p>
        </p:txBody>
      </p:sp>
      <p:sp>
        <p:nvSpPr>
          <p:cNvPr id="6" name="before-element">
            <a:extLst xmlns:a="http://schemas.openxmlformats.org/drawingml/2006/main">
              <a:ext uri="{FF2B5EF4-FFF2-40B4-BE49-F238E27FC236}">
                <a16:creationId xmlns:a16="http://schemas.microsoft.com/office/drawing/2014/main" id="{B6EB955F-7DAA-48DD-BE5E-0600C394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trigger_072</a:t>
            </a:r>
          </a:p>
        </p:txBody>
      </p:sp>
      <p:sp>
        <p:nvSpPr>
          <p:cNvPr id="7" name="before-rarity">
            <a:extLst xmlns:a="http://schemas.openxmlformats.org/drawingml/2006/main">
              <a:ext uri="{FF2B5EF4-FFF2-40B4-BE49-F238E27FC236}">
                <a16:creationId xmlns:a16="http://schemas.microsoft.com/office/drawing/2014/main" id="{B3426390-A2F2-4E57-9EE5-E6362399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8" name="before-time">
            <a:extLst xmlns:a="http://schemas.openxmlformats.org/drawingml/2006/main">
              <a:ext uri="{FF2B5EF4-FFF2-40B4-BE49-F238E27FC236}">
                <a16:creationId xmlns:a16="http://schemas.microsoft.com/office/drawing/2014/main" id="{A643661D-E4AD-4DEA-B842-AF20B434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remaining = 0 s</a:t>
            </a:r>
          </a:p>
        </p:txBody>
      </p:sp>
      <p:sp>
        <p:nvSpPr>
          <p:cNvPr id="9" name="after-panel">
            <a:extLst xmlns:a="http://schemas.openxmlformats.org/drawingml/2006/main">
              <a:ext uri="{FF2B5EF4-FFF2-40B4-BE49-F238E27FC236}">
                <a16:creationId xmlns:a16="http://schemas.microsoft.com/office/drawing/2014/main" id="{A2B3D676-FC2C-4502-BE47-13E2AA195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571625"/>
            <a:ext cx="3524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fter-label">
            <a:extLst xmlns:a="http://schemas.openxmlformats.org/drawingml/2006/main">
              <a:ext uri="{FF2B5EF4-FFF2-40B4-BE49-F238E27FC236}">
                <a16:creationId xmlns:a16="http://schemas.microsoft.com/office/drawing/2014/main" id="{B5F1337A-4048-4D02-A51F-E6099A50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857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AFTER</a:t>
            </a:r>
          </a:p>
        </p:txBody>
      </p:sp>
      <p:sp>
        <p:nvSpPr>
          <p:cNvPr id="11" name="after-element">
            <a:extLst xmlns:a="http://schemas.openxmlformats.org/drawingml/2006/main">
              <a:ext uri="{FF2B5EF4-FFF2-40B4-BE49-F238E27FC236}">
                <a16:creationId xmlns:a16="http://schemas.microsoft.com/office/drawing/2014/main" id="{33524A7D-BCD1-444B-B8B2-B4F15A74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381250"/>
            <a:ext cx="285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trigger_016</a:t>
            </a:r>
          </a:p>
        </p:txBody>
      </p:sp>
      <p:sp>
        <p:nvSpPr>
          <p:cNvPr id="12" name="after-rarity">
            <a:extLst xmlns:a="http://schemas.openxmlformats.org/drawingml/2006/main">
              <a:ext uri="{FF2B5EF4-FFF2-40B4-BE49-F238E27FC236}">
                <a16:creationId xmlns:a16="http://schemas.microsoft.com/office/drawing/2014/main" id="{3A922DD7-D171-4C75-AF1E-B4F7D975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952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common</a:t>
            </a:r>
          </a:p>
        </p:txBody>
      </p:sp>
      <p:sp>
        <p:nvSpPr>
          <p:cNvPr id="13" name="after-time">
            <a:extLst xmlns:a="http://schemas.openxmlformats.org/drawingml/2006/main">
              <a:ext uri="{FF2B5EF4-FFF2-40B4-BE49-F238E27FC236}">
                <a16:creationId xmlns:a16="http://schemas.microsoft.com/office/drawing/2014/main" id="{82CC3577-865E-43B3-9DFE-862A0A5D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6671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new Gamma duration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= 142.725133 s</a:t>
            </a:r>
          </a:p>
        </p:txBody>
      </p:sp>
      <p:sp>
        <p:nvSpPr>
          <p:cNvPr id="14" name="transition-arrow">
            <a:extLst xmlns:a="http://schemas.openxmlformats.org/drawingml/2006/main">
              <a:ext uri="{FF2B5EF4-FFF2-40B4-BE49-F238E27FC236}">
                <a16:creationId xmlns:a16="http://schemas.microsoft.com/office/drawing/2014/main" id="{6F62CC24-BCA2-4F80-8EC8-8BDB4E4A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905125"/>
            <a:ext cx="80010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e-account">
            <a:extLst xmlns:a="http://schemas.openxmlformats.org/drawingml/2006/main">
              <a:ext uri="{FF2B5EF4-FFF2-40B4-BE49-F238E27FC236}">
                <a16:creationId xmlns:a16="http://schemas.microsoft.com/office/drawing/2014/main" id="{6535003A-5D4E-4EE6-AB3E-D8EC79F7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476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Counters after the event</a:t>
            </a:r>
          </a:p>
        </p:txBody>
      </p:sp>
      <p:sp>
        <p:nvSpPr>
          <p:cNvPr id="16" name="state-list">
            <a:extLst xmlns:a="http://schemas.openxmlformats.org/drawingml/2006/main">
              <a:ext uri="{FF2B5EF4-FFF2-40B4-BE49-F238E27FC236}">
                <a16:creationId xmlns:a16="http://schemas.microsoft.com/office/drawing/2014/main" id="{8F09084A-970D-4AEA-871D-DFC5874E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26193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event counter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trigger transitions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trigger_016 visits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common selections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unknown selections</a:t>
            </a:r>
          </a:p>
        </p:txBody>
      </p:sp>
      <p:sp>
        <p:nvSpPr>
          <p:cNvPr id="17" name="state-values">
            <a:extLst xmlns:a="http://schemas.openxmlformats.org/drawingml/2006/main">
              <a:ext uri="{FF2B5EF4-FFF2-40B4-BE49-F238E27FC236}">
                <a16:creationId xmlns:a16="http://schemas.microsoft.com/office/drawing/2014/main" id="{AB267E65-647A-4FB1-BBA5-8547B2451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190750"/>
            <a:ext cx="52387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+1</a:t>
            </a:r>
          </a:p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+1</a:t>
            </a:r>
          </a:p>
          <a:p xmlns:a="http://schemas.openxmlformats.org/drawingml/2006/main">
            <a:pPr algn="r">
              <a:buNone/>
              <a:defRPr sz="1350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350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+0</a:t>
            </a:r>
          </a:p>
        </p:txBody>
      </p:sp>
      <p:sp>
        <p:nvSpPr>
          <p:cNvPr id="18" name="scenario-result">
            <a:extLst xmlns:a="http://schemas.openxmlformats.org/drawingml/2006/main">
              <a:ext uri="{FF2B5EF4-FFF2-40B4-BE49-F238E27FC236}">
                <a16:creationId xmlns:a16="http://schemas.microsoft.com/office/drawing/2014/main" id="{9216910A-38E8-44DC-875D-FF7F20EF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10050"/>
            <a:ext cx="3476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 episode opens</a:t>
            </a:r>
          </a:p>
        </p:txBody>
      </p:sp>
      <p:sp>
        <p:nvSpPr>
          <p:cNvPr id="19" name="scenario-reason">
            <a:extLst xmlns:a="http://schemas.openxmlformats.org/drawingml/2006/main">
              <a:ext uri="{FF2B5EF4-FFF2-40B4-BE49-F238E27FC236}">
                <a16:creationId xmlns:a16="http://schemas.microsoft.com/office/drawing/2014/main" id="{7D62DB38-E141-481D-A834-7227134F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14875"/>
            <a:ext cx="3476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Only ru_010 is rare. An exact C3–C6 rule needs 3–6 rare elements and a rare trigger.</a:t>
            </a:r>
          </a:p>
        </p:txBody>
      </p:sp>
      <p:sp>
        <p:nvSpPr>
          <p:cNvPr id="20" name="next-event">
            <a:extLst xmlns:a="http://schemas.openxmlformats.org/drawingml/2006/main">
              <a:ext uri="{FF2B5EF4-FFF2-40B4-BE49-F238E27FC236}">
                <a16:creationId xmlns:a16="http://schemas.microsoft.com/office/drawing/2014/main" id="{005BBE03-6081-4AD4-92D9-A60280D11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Next dt: 0.527410 s → ego_019 expires</a:t>
            </a:r>
          </a:p>
        </p:txBody>
      </p:sp>
    </p:spTree>
    <p:extLst>
      <p:ext uri="{BB962C8B-B14F-4D97-AF65-F5344CB8AC3E}">
        <p14:creationId xmlns:p14="http://schemas.microsoft.com/office/powerpoint/2010/main" val="14622821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An unknown element is not an unknown scenario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Selected exact rules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1018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40 exact C3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30 exact C4 rules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20 exact C5 rules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10 exact C6 rules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Every rule includes triggering_conditions.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 state matches only when…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every named element is active and rare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the complete active rare set equals the rule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every other layer is common; no unknown is active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No subset matches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The complete rare-element tuple must match exactly; otherwise no episode opens.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simulator generates evidence to test Poisson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Inside the simulator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layered states change at timer expiries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Gamma residence times drive event timing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exact C3–C6 rules open episodes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no Poisson arrival generator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Validation question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• count exact episode starts by mileage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</a:pPr>
            <a:r>
              <a:t>• test independence and rate stability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</a:pPr>
            <a:r>
              <a:t>• test exponential mileage gaps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 algn="l">
              <a:buNone/>
            </a:pPr>
            <a:r>
              <a:t>• judge Poisson-based mileage and risk estimates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Unit of analysis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Test episode-start arrivals from episodes.csv—not unknown occupancy time or every layer transition.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8-title">
            <a:extLst xmlns:a="http://schemas.openxmlformats.org/drawingml/2006/main">
              <a:ext uri="{FF2B5EF4-FFF2-40B4-BE49-F238E27FC236}">
                <a16:creationId xmlns:a16="http://schemas.microsoft.com/office/drawing/2014/main" id="{18BD9C2E-E040-48A8-919E-9D346BEC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Six signatures test whether Poisson is credible</a:t>
            </a:r>
          </a:p>
        </p:txBody>
      </p:sp>
      <p:sp>
        <p:nvSpPr>
          <p:cNvPr id="2" name="slide-8-rule">
            <a:extLst xmlns:a="http://schemas.openxmlformats.org/drawingml/2006/main">
              <a:ext uri="{FF2B5EF4-FFF2-40B4-BE49-F238E27FC236}">
                <a16:creationId xmlns:a16="http://schemas.microsoft.com/office/drawing/2014/main" id="{64BCB9E8-622C-4647-A2D3-2DDC4B57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8-number">
            <a:extLst xmlns:a="http://schemas.openxmlformats.org/drawingml/2006/main">
              <a:ext uri="{FF2B5EF4-FFF2-40B4-BE49-F238E27FC236}">
                <a16:creationId xmlns:a16="http://schemas.microsoft.com/office/drawing/2014/main" id="{5504A986-62CD-4A08-A1AB-DB381B75D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sp>
        <p:nvSpPr>
          <p:cNvPr id="4" name="pipeline-number-0">
            <a:extLst xmlns:a="http://schemas.openxmlformats.org/drawingml/2006/main">
              <a:ext uri="{FF2B5EF4-FFF2-40B4-BE49-F238E27FC236}">
                <a16:creationId xmlns:a16="http://schemas.microsoft.com/office/drawing/2014/main" id="{93B0E096-73D2-4B19-B42A-23B76CCE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pipeline-title-0">
            <a:extLst xmlns:a="http://schemas.openxmlformats.org/drawingml/2006/main">
              <a:ext uri="{FF2B5EF4-FFF2-40B4-BE49-F238E27FC236}">
                <a16:creationId xmlns:a16="http://schemas.microsoft.com/office/drawing/2014/main" id="{673C9A59-C2EA-4395-A0C5-33F5BA53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Fixed windows</a:t>
            </a:r>
          </a:p>
        </p:txBody>
      </p:sp>
      <p:sp>
        <p:nvSpPr>
          <p:cNvPr id="6" name="pipeline-body-0">
            <a:extLst xmlns:a="http://schemas.openxmlformats.org/drawingml/2006/main">
              <a:ext uri="{FF2B5EF4-FFF2-40B4-BE49-F238E27FC236}">
                <a16:creationId xmlns:a16="http://schemas.microsoft.com/office/drawing/2014/main" id="{980BA943-AA76-4DFE-A397-2ED799BC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955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Count episode starts in equal mileage windows.</a:t>
            </a:r>
          </a:p>
        </p:txBody>
      </p:sp>
      <p:sp>
        <p:nvSpPr>
          <p:cNvPr id="7" name="pipeline-rule-0">
            <a:extLst xmlns:a="http://schemas.openxmlformats.org/drawingml/2006/main">
              <a:ext uri="{FF2B5EF4-FFF2-40B4-BE49-F238E27FC236}">
                <a16:creationId xmlns:a16="http://schemas.microsoft.com/office/drawing/2014/main" id="{EAF0E6D6-2A76-45CC-BA6C-43C2D75A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pipeline-number-1">
            <a:extLst xmlns:a="http://schemas.openxmlformats.org/drawingml/2006/main">
              <a:ext uri="{FF2B5EF4-FFF2-40B4-BE49-F238E27FC236}">
                <a16:creationId xmlns:a16="http://schemas.microsoft.com/office/drawing/2014/main" id="{42F23548-9E53-48AB-AA87-0D9DD6CD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571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ipeline-title-1">
            <a:extLst xmlns:a="http://schemas.openxmlformats.org/drawingml/2006/main">
              <a:ext uri="{FF2B5EF4-FFF2-40B4-BE49-F238E27FC236}">
                <a16:creationId xmlns:a16="http://schemas.microsoft.com/office/drawing/2014/main" id="{71CB33B6-2135-4FF9-BAFD-15DD389A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Random arrivals</a:t>
            </a:r>
          </a:p>
        </p:txBody>
      </p:sp>
      <p:sp>
        <p:nvSpPr>
          <p:cNvPr id="10" name="pipeline-body-1">
            <a:extLst xmlns:a="http://schemas.openxmlformats.org/drawingml/2006/main">
              <a:ext uri="{FF2B5EF4-FFF2-40B4-BE49-F238E27FC236}">
                <a16:creationId xmlns:a16="http://schemas.microsoft.com/office/drawing/2014/main" id="{810136A8-E8B9-4EB2-9CBD-A7398DD3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0955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Occurrences should not form a regular schedule.</a:t>
            </a:r>
          </a:p>
        </p:txBody>
      </p:sp>
      <p:sp>
        <p:nvSpPr>
          <p:cNvPr id="11" name="pipeline-rule-1">
            <a:extLst xmlns:a="http://schemas.openxmlformats.org/drawingml/2006/main">
              <a:ext uri="{FF2B5EF4-FFF2-40B4-BE49-F238E27FC236}">
                <a16:creationId xmlns:a16="http://schemas.microsoft.com/office/drawing/2014/main" id="{8A328AD9-A643-4474-8367-D7F49D43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14325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pipeline-number-2">
            <a:extLst xmlns:a="http://schemas.openxmlformats.org/drawingml/2006/main">
              <a:ext uri="{FF2B5EF4-FFF2-40B4-BE49-F238E27FC236}">
                <a16:creationId xmlns:a16="http://schemas.microsoft.com/office/drawing/2014/main" id="{914FF3EE-8BC4-4328-824C-3D2C9EC3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pipeline-title-2">
            <a:extLst xmlns:a="http://schemas.openxmlformats.org/drawingml/2006/main">
              <a:ext uri="{FF2B5EF4-FFF2-40B4-BE49-F238E27FC236}">
                <a16:creationId xmlns:a16="http://schemas.microsoft.com/office/drawing/2014/main" id="{66CEA901-0451-44DB-9560-56AFC85F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716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78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Independent increments</a:t>
            </a:r>
          </a:p>
        </p:txBody>
      </p:sp>
      <p:sp>
        <p:nvSpPr>
          <p:cNvPr id="14" name="pipeline-body-2">
            <a:extLst xmlns:a="http://schemas.openxmlformats.org/drawingml/2006/main">
              <a:ext uri="{FF2B5EF4-FFF2-40B4-BE49-F238E27FC236}">
                <a16:creationId xmlns:a16="http://schemas.microsoft.com/office/drawing/2014/main" id="{D5C1C8E4-20BA-482B-999D-32DAA00B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9550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One window should not predict another.</a:t>
            </a:r>
          </a:p>
        </p:txBody>
      </p:sp>
      <p:sp>
        <p:nvSpPr>
          <p:cNvPr id="15" name="pipeline-number-3">
            <a:extLst xmlns:a="http://schemas.openxmlformats.org/drawingml/2006/main">
              <a:ext uri="{FF2B5EF4-FFF2-40B4-BE49-F238E27FC236}">
                <a16:creationId xmlns:a16="http://schemas.microsoft.com/office/drawing/2014/main" id="{ECAC440A-12A7-4BED-B5C1-DC9D8FBA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62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pipeline-title-3">
            <a:extLst xmlns:a="http://schemas.openxmlformats.org/drawingml/2006/main">
              <a:ext uri="{FF2B5EF4-FFF2-40B4-BE49-F238E27FC236}">
                <a16:creationId xmlns:a16="http://schemas.microsoft.com/office/drawing/2014/main" id="{235E2450-C9B7-4BDB-960C-07AAC477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Constant rate</a:t>
            </a:r>
          </a:p>
        </p:txBody>
      </p:sp>
      <p:sp>
        <p:nvSpPr>
          <p:cNvPr id="17" name="pipeline-body-3">
            <a:extLst xmlns:a="http://schemas.openxmlformats.org/drawingml/2006/main">
              <a:ext uri="{FF2B5EF4-FFF2-40B4-BE49-F238E27FC236}">
                <a16:creationId xmlns:a16="http://schemas.microsoft.com/office/drawing/2014/main" id="{4248CBB3-4697-4389-91F2-FD54AF21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86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Expected starts per mile should remain stable.</a:t>
            </a:r>
          </a:p>
        </p:txBody>
      </p:sp>
      <p:sp>
        <p:nvSpPr>
          <p:cNvPr id="18" name="pipeline-rule-3">
            <a:extLst xmlns:a="http://schemas.openxmlformats.org/drawingml/2006/main">
              <a:ext uri="{FF2B5EF4-FFF2-40B4-BE49-F238E27FC236}">
                <a16:creationId xmlns:a16="http://schemas.microsoft.com/office/drawing/2014/main" id="{F2316909-0F49-44A6-8B8A-BDC7D3F8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3400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pipeline-number-4">
            <a:extLst xmlns:a="http://schemas.openxmlformats.org/drawingml/2006/main">
              <a:ext uri="{FF2B5EF4-FFF2-40B4-BE49-F238E27FC236}">
                <a16:creationId xmlns:a16="http://schemas.microsoft.com/office/drawing/2014/main" id="{224411CE-AC04-411E-8896-23B9260E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762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pipeline-title-4">
            <a:extLst xmlns:a="http://schemas.openxmlformats.org/drawingml/2006/main">
              <a:ext uri="{FF2B5EF4-FFF2-40B4-BE49-F238E27FC236}">
                <a16:creationId xmlns:a16="http://schemas.microsoft.com/office/drawing/2014/main" id="{4DFC4C17-A348-49BB-AA31-1801601C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Mean ≈ variance</a:t>
            </a:r>
          </a:p>
        </p:txBody>
      </p:sp>
      <p:sp>
        <p:nvSpPr>
          <p:cNvPr id="21" name="pipeline-body-4">
            <a:extLst xmlns:a="http://schemas.openxmlformats.org/drawingml/2006/main">
              <a:ext uri="{FF2B5EF4-FFF2-40B4-BE49-F238E27FC236}">
                <a16:creationId xmlns:a16="http://schemas.microsoft.com/office/drawing/2014/main" id="{88A5330F-9563-49CA-BD56-897146E1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286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Window-count dispersion should be near one.</a:t>
            </a:r>
          </a:p>
        </p:txBody>
      </p:sp>
      <p:sp>
        <p:nvSpPr>
          <p:cNvPr id="22" name="pipeline-rule-4">
            <a:extLst xmlns:a="http://schemas.openxmlformats.org/drawingml/2006/main">
              <a:ext uri="{FF2B5EF4-FFF2-40B4-BE49-F238E27FC236}">
                <a16:creationId xmlns:a16="http://schemas.microsoft.com/office/drawing/2014/main" id="{25BECFBF-17EC-41F0-A10C-3DEA1DFE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5334000"/>
            <a:ext cx="300037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3" name="pipeline-number-5">
            <a:extLst xmlns:a="http://schemas.openxmlformats.org/drawingml/2006/main">
              <a:ext uri="{FF2B5EF4-FFF2-40B4-BE49-F238E27FC236}">
                <a16:creationId xmlns:a16="http://schemas.microsoft.com/office/drawing/2014/main" id="{58C23620-1C2D-4FE3-978F-0667EA98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62375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4" name="pipeline-title-5">
            <a:extLst xmlns:a="http://schemas.openxmlformats.org/drawingml/2006/main">
              <a:ext uri="{FF2B5EF4-FFF2-40B4-BE49-F238E27FC236}">
                <a16:creationId xmlns:a16="http://schemas.microsoft.com/office/drawing/2014/main" id="{BC1A5AA7-58AC-4465-9E31-D4AB0676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7623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Exponential gaps</a:t>
            </a:r>
          </a:p>
        </p:txBody>
      </p:sp>
      <p:sp>
        <p:nvSpPr>
          <p:cNvPr id="25" name="pipeline-body-5">
            <a:extLst xmlns:a="http://schemas.openxmlformats.org/drawingml/2006/main">
              <a:ext uri="{FF2B5EF4-FFF2-40B4-BE49-F238E27FC236}">
                <a16:creationId xmlns:a16="http://schemas.microsoft.com/office/drawing/2014/main" id="{E3A03C25-F594-46DB-A33A-6EF4C38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86250"/>
            <a:ext cx="3000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Inter-episode mileage should be memoryless.</a:t>
            </a:r>
          </a:p>
        </p:txBody>
      </p:sp>
      <p:sp>
        <p:nvSpPr>
          <p:cNvPr id="26" name="pipeline-note">
            <a:extLst xmlns:a="http://schemas.openxmlformats.org/drawingml/2006/main">
              <a:ext uri="{FF2B5EF4-FFF2-40B4-BE49-F238E27FC236}">
                <a16:creationId xmlns:a16="http://schemas.microsoft.com/office/drawing/2014/main" id="{DEF32CF5-C71A-4A42-B654-3F109FD7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53125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All signatures must be checked; mean ≈ variance alone is not sufficient.</a:t>
            </a:r>
          </a:p>
        </p:txBody>
      </p:sp>
    </p:spTree>
    <p:extLst>
      <p:ext uri="{BB962C8B-B14F-4D97-AF65-F5344CB8AC3E}">
        <p14:creationId xmlns:p14="http://schemas.microsoft.com/office/powerpoint/2010/main" val="12512616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slide-3-title">
            <a:extLst xmlns:a="http://schemas.openxmlformats.org/drawingml/2006/main">
              <a:ext uri="{FF2B5EF4-FFF2-40B4-BE49-F238E27FC236}">
                <a16:creationId xmlns:a16="http://schemas.microsoft.com/office/drawing/2014/main" id="{7279D561-0A8B-4C08-BF67-9F84BD7C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 Poisson with simulator outputs</a:t>
            </a:r>
          </a:p>
        </p:txBody>
      </p:sp>
      <p:sp>
        <p:nvSpPr>
          <p:cNvPr id="2" name="slide-3-rule">
            <a:extLst xmlns:a="http://schemas.openxmlformats.org/drawingml/2006/main">
              <a:ext uri="{FF2B5EF4-FFF2-40B4-BE49-F238E27FC236}">
                <a16:creationId xmlns:a16="http://schemas.microsoft.com/office/drawing/2014/main" id="{A493C3D2-C9DF-47E9-862F-5F40B3AD1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3-number">
            <a:extLst xmlns:a="http://schemas.openxmlformats.org/drawingml/2006/main">
              <a:ext uri="{FF2B5EF4-FFF2-40B4-BE49-F238E27FC236}">
                <a16:creationId xmlns:a16="http://schemas.microsoft.com/office/drawing/2014/main" id="{42646AD0-C974-4226-96D6-5060116BA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sp>
        <p:nvSpPr>
          <p:cNvPr id="4" name="flow-1">
            <a:extLst xmlns:a="http://schemas.openxmlformats.org/drawingml/2006/main">
              <a:ext uri="{FF2B5EF4-FFF2-40B4-BE49-F238E27FC236}">
                <a16:creationId xmlns:a16="http://schemas.microsoft.com/office/drawing/2014/main" id="{E2C1ACAB-161A-4406-A852-594231F0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low-1-number">
            <a:extLst xmlns:a="http://schemas.openxmlformats.org/drawingml/2006/main">
              <a:ext uri="{FF2B5EF4-FFF2-40B4-BE49-F238E27FC236}">
                <a16:creationId xmlns:a16="http://schemas.microsoft.com/office/drawing/2014/main" id="{4CC99A0A-DD9F-4340-89CD-843CB361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flow-1-title">
            <a:extLst xmlns:a="http://schemas.openxmlformats.org/drawingml/2006/main">
              <a:ext uri="{FF2B5EF4-FFF2-40B4-BE49-F238E27FC236}">
                <a16:creationId xmlns:a16="http://schemas.microsoft.com/office/drawing/2014/main" id="{2FF1ACAA-C21F-4396-B24F-9B76AAE41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 episodes</a:t>
            </a:r>
          </a:p>
        </p:txBody>
      </p:sp>
      <p:sp>
        <p:nvSpPr>
          <p:cNvPr id="7" name="flow-1-body">
            <a:extLst xmlns:a="http://schemas.openxmlformats.org/drawingml/2006/main">
              <a:ext uri="{FF2B5EF4-FFF2-40B4-BE49-F238E27FC236}">
                <a16:creationId xmlns:a16="http://schemas.microsoft.com/office/drawing/2014/main" id="{17FD52D4-6789-41FD-86F0-C4064C66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Use exact episode starts from episodes.csv.</a:t>
            </a:r>
          </a:p>
        </p:txBody>
      </p:sp>
      <p:sp>
        <p:nvSpPr>
          <p:cNvPr id="8" name="flow-2">
            <a:extLst xmlns:a="http://schemas.openxmlformats.org/drawingml/2006/main">
              <a:ext uri="{FF2B5EF4-FFF2-40B4-BE49-F238E27FC236}">
                <a16:creationId xmlns:a16="http://schemas.microsoft.com/office/drawing/2014/main" id="{874A8B46-66CF-4CA8-9EDA-D81A3FE2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2-number">
            <a:extLst xmlns:a="http://schemas.openxmlformats.org/drawingml/2006/main">
              <a:ext uri="{FF2B5EF4-FFF2-40B4-BE49-F238E27FC236}">
                <a16:creationId xmlns:a16="http://schemas.microsoft.com/office/drawing/2014/main" id="{32186089-8988-4215-B034-D45DA3667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flow-2-title">
            <a:extLst xmlns:a="http://schemas.openxmlformats.org/drawingml/2006/main">
              <a:ext uri="{FF2B5EF4-FFF2-40B4-BE49-F238E27FC236}">
                <a16:creationId xmlns:a16="http://schemas.microsoft.com/office/drawing/2014/main" id="{0C792299-56E6-454D-B130-30FBDB5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Create windows</a:t>
            </a:r>
          </a:p>
        </p:txBody>
      </p:sp>
      <p:sp>
        <p:nvSpPr>
          <p:cNvPr id="11" name="flow-2-body">
            <a:extLst xmlns:a="http://schemas.openxmlformats.org/drawingml/2006/main">
              <a:ext uri="{FF2B5EF4-FFF2-40B4-BE49-F238E27FC236}">
                <a16:creationId xmlns:a16="http://schemas.microsoft.com/office/drawing/2014/main" id="{EF3C124F-9DF6-49FB-849F-10DD30041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Use windows.csv or re-bin by fixed mileage.</a:t>
            </a:r>
          </a:p>
        </p:txBody>
      </p:sp>
      <p:sp>
        <p:nvSpPr>
          <p:cNvPr id="12" name="flow-3">
            <a:extLst xmlns:a="http://schemas.openxmlformats.org/drawingml/2006/main">
              <a:ext uri="{FF2B5EF4-FFF2-40B4-BE49-F238E27FC236}">
                <a16:creationId xmlns:a16="http://schemas.microsoft.com/office/drawing/2014/main" id="{88378F43-12C7-4191-867F-57B8B31FC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flow-3-number">
            <a:extLst xmlns:a="http://schemas.openxmlformats.org/drawingml/2006/main">
              <a:ext uri="{FF2B5EF4-FFF2-40B4-BE49-F238E27FC236}">
                <a16:creationId xmlns:a16="http://schemas.microsoft.com/office/drawing/2014/main" id="{AC62DCF2-4C9F-4737-83B3-7FBE268D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flow-3-title">
            <a:extLst xmlns:a="http://schemas.openxmlformats.org/drawingml/2006/main">
              <a:ext uri="{FF2B5EF4-FFF2-40B4-BE49-F238E27FC236}">
                <a16:creationId xmlns:a16="http://schemas.microsoft.com/office/drawing/2014/main" id="{B6EC08F4-033D-443B-94E8-47052F58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 mean</a:t>
            </a:r>
          </a:p>
        </p:txBody>
      </p:sp>
      <p:sp>
        <p:nvSpPr>
          <p:cNvPr id="15" name="flow-3-body">
            <a:extLst xmlns:a="http://schemas.openxmlformats.org/drawingml/2006/main">
              <a:ext uri="{FF2B5EF4-FFF2-40B4-BE49-F238E27FC236}">
                <a16:creationId xmlns:a16="http://schemas.microsoft.com/office/drawing/2014/main" id="{991BAC0D-084D-426D-953E-635A818A2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Average episode count per window.</a:t>
            </a:r>
          </a:p>
        </p:txBody>
      </p:sp>
      <p:sp>
        <p:nvSpPr>
          <p:cNvPr id="16" name="flow-4">
            <a:extLst xmlns:a="http://schemas.openxmlformats.org/drawingml/2006/main">
              <a:ext uri="{FF2B5EF4-FFF2-40B4-BE49-F238E27FC236}">
                <a16:creationId xmlns:a16="http://schemas.microsoft.com/office/drawing/2014/main" id="{1441C05B-A731-4020-801D-6F95C49D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161925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flow-4-number">
            <a:extLst xmlns:a="http://schemas.openxmlformats.org/drawingml/2006/main">
              <a:ext uri="{FF2B5EF4-FFF2-40B4-BE49-F238E27FC236}">
                <a16:creationId xmlns:a16="http://schemas.microsoft.com/office/drawing/2014/main" id="{190B6D9D-C900-4140-A957-5E5FCC4DD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7526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flow-4-title">
            <a:extLst xmlns:a="http://schemas.openxmlformats.org/drawingml/2006/main">
              <a:ext uri="{FF2B5EF4-FFF2-40B4-BE49-F238E27FC236}">
                <a16:creationId xmlns:a16="http://schemas.microsoft.com/office/drawing/2014/main" id="{2C597FB8-ECEF-4519-B84C-32BDC539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0288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Compute variance</a:t>
            </a:r>
          </a:p>
        </p:txBody>
      </p:sp>
      <p:sp>
        <p:nvSpPr>
          <p:cNvPr id="19" name="flow-4-body">
            <a:extLst xmlns:a="http://schemas.openxmlformats.org/drawingml/2006/main">
              <a:ext uri="{FF2B5EF4-FFF2-40B4-BE49-F238E27FC236}">
                <a16:creationId xmlns:a16="http://schemas.microsoft.com/office/drawing/2014/main" id="{1DB93DE3-ED33-409E-A095-338C314B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37172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Compare count variance with the mean.</a:t>
            </a:r>
          </a:p>
        </p:txBody>
      </p:sp>
      <p:sp>
        <p:nvSpPr>
          <p:cNvPr id="20" name="flow-5">
            <a:extLst xmlns:a="http://schemas.openxmlformats.org/drawingml/2006/main">
              <a:ext uri="{FF2B5EF4-FFF2-40B4-BE49-F238E27FC236}">
                <a16:creationId xmlns:a16="http://schemas.microsoft.com/office/drawing/2014/main" id="{A537D8C7-EDE6-4AEC-9753-D50B84A2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flow-5-number">
            <a:extLst xmlns:a="http://schemas.openxmlformats.org/drawingml/2006/main">
              <a:ext uri="{FF2B5EF4-FFF2-40B4-BE49-F238E27FC236}">
                <a16:creationId xmlns:a16="http://schemas.microsoft.com/office/drawing/2014/main" id="{B0D463AD-079A-4E73-BBD9-677E3970D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flow-5-title">
            <a:extLst xmlns:a="http://schemas.openxmlformats.org/drawingml/2006/main">
              <a:ext uri="{FF2B5EF4-FFF2-40B4-BE49-F238E27FC236}">
                <a16:creationId xmlns:a16="http://schemas.microsoft.com/office/drawing/2014/main" id="{E0FE94B7-A83F-4CFC-A1E4-3AF52EC0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 rate</a:t>
            </a:r>
          </a:p>
        </p:txBody>
      </p:sp>
      <p:sp>
        <p:nvSpPr>
          <p:cNvPr id="23" name="flow-5-body">
            <a:extLst xmlns:a="http://schemas.openxmlformats.org/drawingml/2006/main">
              <a:ext uri="{FF2B5EF4-FFF2-40B4-BE49-F238E27FC236}">
                <a16:creationId xmlns:a16="http://schemas.microsoft.com/office/drawing/2014/main" id="{3294995F-5A4C-4485-8432-4AC68AF1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Look for drift across mileage segments.</a:t>
            </a:r>
          </a:p>
        </p:txBody>
      </p:sp>
      <p:sp>
        <p:nvSpPr>
          <p:cNvPr id="24" name="flow-6">
            <a:extLst xmlns:a="http://schemas.openxmlformats.org/drawingml/2006/main">
              <a:ext uri="{FF2B5EF4-FFF2-40B4-BE49-F238E27FC236}">
                <a16:creationId xmlns:a16="http://schemas.microsoft.com/office/drawing/2014/main" id="{06D15B81-DA00-4BBA-9777-4FAB0CD5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low-6-number">
            <a:extLst xmlns:a="http://schemas.openxmlformats.org/drawingml/2006/main">
              <a:ext uri="{FF2B5EF4-FFF2-40B4-BE49-F238E27FC236}">
                <a16:creationId xmlns:a16="http://schemas.microsoft.com/office/drawing/2014/main" id="{726900DC-9517-4A83-8C67-619ED07AF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flow-6-title">
            <a:extLst xmlns:a="http://schemas.openxmlformats.org/drawingml/2006/main">
              <a:ext uri="{FF2B5EF4-FFF2-40B4-BE49-F238E27FC236}">
                <a16:creationId xmlns:a16="http://schemas.microsoft.com/office/drawing/2014/main" id="{B6DA48A7-00AC-48D5-B827-0BE5E235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551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 dependence</a:t>
            </a:r>
          </a:p>
        </p:txBody>
      </p:sp>
      <p:sp>
        <p:nvSpPr>
          <p:cNvPr id="27" name="flow-6-body">
            <a:extLst xmlns:a="http://schemas.openxmlformats.org/drawingml/2006/main">
              <a:ext uri="{FF2B5EF4-FFF2-40B4-BE49-F238E27FC236}">
                <a16:creationId xmlns:a16="http://schemas.microsoft.com/office/drawing/2014/main" id="{6C3D2FA3-AD68-4446-8AEF-F2F03F26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Test adjacent-window dependence.</a:t>
            </a:r>
          </a:p>
        </p:txBody>
      </p:sp>
      <p:sp>
        <p:nvSpPr>
          <p:cNvPr id="28" name="flow-7">
            <a:extLst xmlns:a="http://schemas.openxmlformats.org/drawingml/2006/main">
              <a:ext uri="{FF2B5EF4-FFF2-40B4-BE49-F238E27FC236}">
                <a16:creationId xmlns:a16="http://schemas.microsoft.com/office/drawing/2014/main" id="{0113C322-7EB9-44AF-9AB6-E7D9FB39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low-7-number">
            <a:extLst xmlns:a="http://schemas.openxmlformats.org/drawingml/2006/main">
              <a:ext uri="{FF2B5EF4-FFF2-40B4-BE49-F238E27FC236}">
                <a16:creationId xmlns:a16="http://schemas.microsoft.com/office/drawing/2014/main" id="{97709232-30F2-4B3C-9396-BAFEE006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0" name="flow-7-title">
            <a:extLst xmlns:a="http://schemas.openxmlformats.org/drawingml/2006/main">
              <a:ext uri="{FF2B5EF4-FFF2-40B4-BE49-F238E27FC236}">
                <a16:creationId xmlns:a16="http://schemas.microsoft.com/office/drawing/2014/main" id="{274E766C-8D6C-4B83-AFC7-178FBFCC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Fit gaps</a:t>
            </a:r>
          </a:p>
        </p:txBody>
      </p:sp>
      <p:sp>
        <p:nvSpPr>
          <p:cNvPr id="31" name="flow-7-body">
            <a:extLst xmlns:a="http://schemas.openxmlformats.org/drawingml/2006/main">
              <a:ext uri="{FF2B5EF4-FFF2-40B4-BE49-F238E27FC236}">
                <a16:creationId xmlns:a16="http://schemas.microsoft.com/office/drawing/2014/main" id="{C547350B-A3CF-41CF-A8EA-D5D02F51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Compare start-mile gaps with exponential.</a:t>
            </a:r>
          </a:p>
        </p:txBody>
      </p:sp>
      <p:sp>
        <p:nvSpPr>
          <p:cNvPr id="32" name="flow-8">
            <a:extLst xmlns:a="http://schemas.openxmlformats.org/drawingml/2006/main">
              <a:ext uri="{FF2B5EF4-FFF2-40B4-BE49-F238E27FC236}">
                <a16:creationId xmlns:a16="http://schemas.microsoft.com/office/drawing/2014/main" id="{634CC93E-7F6E-4250-B6AD-ACEA5EEC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381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low-8-number">
            <a:extLst xmlns:a="http://schemas.openxmlformats.org/drawingml/2006/main">
              <a:ext uri="{FF2B5EF4-FFF2-40B4-BE49-F238E27FC236}">
                <a16:creationId xmlns:a16="http://schemas.microsoft.com/office/drawing/2014/main" id="{93BD8B69-BA74-4C30-894D-57865295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33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63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4" name="flow-8-title">
            <a:extLst xmlns:a="http://schemas.openxmlformats.org/drawingml/2006/main">
              <a:ext uri="{FF2B5EF4-FFF2-40B4-BE49-F238E27FC236}">
                <a16:creationId xmlns:a16="http://schemas.microsoft.com/office/drawing/2014/main" id="{C5E418C6-764D-40D6-986E-560FA27D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100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35" name="flow-8-body">
            <a:extLst xmlns:a="http://schemas.openxmlformats.org/drawingml/2006/main">
              <a:ext uri="{FF2B5EF4-FFF2-40B4-BE49-F238E27FC236}">
                <a16:creationId xmlns:a16="http://schemas.microsoft.com/office/drawing/2014/main" id="{A946EED7-41DA-45B5-84AB-F8E7395B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52975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Report fit, uncertainty, and required mileage.</a:t>
            </a:r>
          </a:p>
        </p:txBody>
      </p:sp>
      <p:cxnSp>
        <p:nvCxnSpPr>
          <p:cNvPr id="499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81300" y="2238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0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5686425" y="2238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0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591550" y="22383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02" name=""/>
          <p:cNvCxnSpPr>
            <a:stCxn xmlns:a="http://schemas.openxmlformats.org/drawingml/2006/main" id="16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10306050" y="28575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03" name=""/>
          <p:cNvCxnSpPr>
            <a:stCxn xmlns:a="http://schemas.openxmlformats.org/drawingml/2006/main" id="20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8591550" y="4619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04" name=""/>
          <p:cNvCxnSpPr>
            <a:stCxn xmlns:a="http://schemas.openxmlformats.org/drawingml/2006/main" id="24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5686425" y="4619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cxnSp>
        <p:nvCxnSpPr>
          <p:cNvPr id="505" name=""/>
          <p:cNvCxnSpPr>
            <a:stCxn xmlns:a="http://schemas.openxmlformats.org/drawingml/2006/main" id="28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2781300" y="46196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  <a:tailEnd type="arrow" w="sm" len="sm"/>
          </a:ln>
        </p:spPr>
      </p:cxnSp>
      <p:sp>
        <p:nvSpPr>
          <p:cNvPr id="43" name="iteration-note">
            <a:extLst xmlns:a="http://schemas.openxmlformats.org/drawingml/2006/main">
              <a:ext uri="{FF2B5EF4-FFF2-40B4-BE49-F238E27FC236}">
                <a16:creationId xmlns:a16="http://schemas.microsoft.com/office/drawing/2014/main" id="{C711A68B-1D96-4CE9-875A-265EB3E8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76925"/>
            <a:ext cx="1000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Use multiple seeds and enough mileage: sparse rare-event data can make both mean and variance unstable.</a:t>
            </a:r>
          </a:p>
        </p:txBody>
      </p:sp>
    </p:spTree>
    <p:extLst>
      <p:ext uri="{BB962C8B-B14F-4D97-AF65-F5344CB8AC3E}">
        <p14:creationId xmlns:p14="http://schemas.microsoft.com/office/powerpoint/2010/main" val="175769728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dispersion to diagnose Poisson fit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Variance ≫ mean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overdispersion: events cluster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risk exceeds a simple Poisson estimate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inspect rate changes, dependence, or mixed scenarios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more mileage may be needed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Variance &lt; mean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underdispersion: arrivals are too regular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Poisson may be conservative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inspect scheduling or model constraints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still test rate stability and independence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Poisson-compatible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Variance ≈ mean, a stable rate, independent counts, and exponential gaps support—but do not prove—the assumption.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11-title">
            <a:extLst xmlns:a="http://schemas.openxmlformats.org/drawingml/2006/main">
              <a:ext uri="{FF2B5EF4-FFF2-40B4-BE49-F238E27FC236}">
                <a16:creationId xmlns:a16="http://schemas.microsoft.com/office/drawing/2014/main" id="{59EED868-9C50-44CB-BF56-2C917F71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511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Stopping and checkpoints preserve deterministic results</a:t>
            </a:r>
          </a:p>
        </p:txBody>
      </p:sp>
      <p:sp>
        <p:nvSpPr>
          <p:cNvPr id="2" name="slide-11-rule">
            <a:extLst xmlns:a="http://schemas.openxmlformats.org/drawingml/2006/main">
              <a:ext uri="{FF2B5EF4-FFF2-40B4-BE49-F238E27FC236}">
                <a16:creationId xmlns:a16="http://schemas.microsoft.com/office/drawing/2014/main" id="{DB808576-FBB4-409D-968A-69850356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62050"/>
            <a:ext cx="113919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slide-11-number">
            <a:extLst xmlns:a="http://schemas.openxmlformats.org/drawingml/2006/main">
              <a:ext uri="{FF2B5EF4-FFF2-40B4-BE49-F238E27FC236}">
                <a16:creationId xmlns:a16="http://schemas.microsoft.com/office/drawing/2014/main" id="{6CE3584A-55D1-4C4C-BCB6-EE12D453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30555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4" name="decision-exact-panel">
            <a:extLst xmlns:a="http://schemas.openxmlformats.org/drawingml/2006/main">
              <a:ext uri="{FF2B5EF4-FFF2-40B4-BE49-F238E27FC236}">
                <a16:creationId xmlns:a16="http://schemas.microsoft.com/office/drawing/2014/main" id="{DE8EE5EA-C83F-4B13-A1C4-DFFB6F19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71625"/>
            <a:ext cx="5334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cision-raw-panel">
            <a:extLst xmlns:a="http://schemas.openxmlformats.org/drawingml/2006/main">
              <a:ext uri="{FF2B5EF4-FFF2-40B4-BE49-F238E27FC236}">
                <a16:creationId xmlns:a16="http://schemas.microsoft.com/office/drawing/2014/main" id="{87DD890B-768B-4578-9276-7B911D183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71625"/>
            <a:ext cx="57150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cision-exact-title">
            <a:extLst xmlns:a="http://schemas.openxmlformats.org/drawingml/2006/main">
              <a:ext uri="{FF2B5EF4-FFF2-40B4-BE49-F238E27FC236}">
                <a16:creationId xmlns:a16="http://schemas.microsoft.com/office/drawing/2014/main" id="{BFC0435B-FCD9-4D4C-B561-F5833B98F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Termination and resume</a:t>
            </a:r>
          </a:p>
        </p:txBody>
      </p:sp>
      <p:sp>
        <p:nvSpPr>
          <p:cNvPr id="7" name="decision-exact-body">
            <a:extLst xmlns:a="http://schemas.openxmlformats.org/drawingml/2006/main">
              <a:ext uri="{FF2B5EF4-FFF2-40B4-BE49-F238E27FC236}">
                <a16:creationId xmlns:a16="http://schemas.microsoft.com/office/drawing/2014/main" id="{BB4AFA05-51CB-4B92-A839-F319D2C2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476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normal stop: target_total_hours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stop exactly at target; draw no replacement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active episode closes as truncated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wall-clock pause saves simulator + RNG state</a:t>
            </a:r>
          </a:p>
        </p:txBody>
      </p:sp>
      <p:sp>
        <p:nvSpPr>
          <p:cNvPr id="8" name="decision-raw-title">
            <a:extLst xmlns:a="http://schemas.openxmlformats.org/drawingml/2006/main">
              <a:ext uri="{FF2B5EF4-FFF2-40B4-BE49-F238E27FC236}">
                <a16:creationId xmlns:a16="http://schemas.microsoft.com/office/drawing/2014/main" id="{B4D68EA1-E803-4D32-AD54-2CEB6520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859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Written after completion</a:t>
            </a:r>
          </a:p>
        </p:txBody>
      </p:sp>
      <p:sp>
        <p:nvSpPr>
          <p:cNvPr id="9" name="decision-raw-body">
            <a:extLst xmlns:a="http://schemas.openxmlformats.org/drawingml/2006/main">
              <a:ext uri="{FF2B5EF4-FFF2-40B4-BE49-F238E27FC236}">
                <a16:creationId xmlns:a16="http://schemas.microsoft.com/office/drawing/2014/main" id="{9DC35D1D-D141-418B-8DE5-2D200B87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• episodes.csv + windows.csv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summary.md + stats.json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</a:pPr>
            <a:r>
              <a:t>• plots/*.png</a:t>
            </a:r>
          </a:p>
          <a:p xmlns:a="http://schemas.openxmlformats.org/drawingml/2006/main">
            <a:pPr>
              <a:buNone/>
            </a:pPr>
            <a:r>
              <a:t/>
            </a:r>
          </a:p>
          <a:p xmlns:a="http://schemas.openxmlformats.org/drawingml/2006/main">
            <a:pPr>
              <a:buNone/>
            </a:pPr>
            <a:r>
              <a:t>• duration_distributions/*.png + manifest.json</a:t>
            </a:r>
          </a:p>
        </p:txBody>
      </p:sp>
      <p:sp>
        <p:nvSpPr>
          <p:cNvPr id="10" name="reporting-title">
            <a:extLst xmlns:a="http://schemas.openxmlformats.org/drawingml/2006/main">
              <a:ext uri="{FF2B5EF4-FFF2-40B4-BE49-F238E27FC236}">
                <a16:creationId xmlns:a16="http://schemas.microsoft.com/office/drawing/2014/main" id="{CF7CF6F5-66E7-4976-9AEF-F73E124D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Deterministic resume</a:t>
            </a:r>
          </a:p>
        </p:txBody>
      </p:sp>
      <p:sp>
        <p:nvSpPr>
          <p:cNvPr id="11" name="reporting-body">
            <a:extLst xmlns:a="http://schemas.openxmlformats.org/drawingml/2006/main">
              <a:ext uri="{FF2B5EF4-FFF2-40B4-BE49-F238E27FC236}">
                <a16:creationId xmlns:a16="http://schemas.microsoft.com/office/drawing/2014/main" id="{D849B6AB-96C5-4D9D-A0A9-F717BA9BB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Restoring both simulator and state reproduces the same result as an uninterrupted run.</a:t>
            </a:r>
          </a:p>
        </p:txBody>
      </p:sp>
    </p:spTree>
    <p:extLst>
      <p:ext uri="{BB962C8B-B14F-4D97-AF65-F5344CB8AC3E}">
        <p14:creationId xmlns:p14="http://schemas.microsoft.com/office/powerpoint/2010/main" val="8809210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AF59B51F-16FF-460B-8842-25730586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PROJECT PURPOSE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24EE4A72-F71B-48F1-9A5B-E3AE93E9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9810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Simulate the evidence.</a:t>
            </a:r>
          </a:p>
          <a:p xmlns:a="http://schemas.openxmlformats.org/drawingml/2006/main">
            <a:pPr algn="l">
              <a:buNone/>
              <a:defRPr sz="52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Verify the assumption.</a:t>
            </a:r>
          </a:p>
        </p:txBody>
      </p:sp>
      <p:sp>
        <p:nvSpPr>
          <p:cNvPr id="3" name="close-config">
            <a:extLst xmlns:a="http://schemas.openxmlformats.org/drawingml/2006/main">
              <a:ext uri="{FF2B5EF4-FFF2-40B4-BE49-F238E27FC236}">
                <a16:creationId xmlns:a16="http://schemas.microsoft.com/office/drawing/2014/main" id="{A9C85629-1C59-413D-9E02-263804A22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simulate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 reproducible episode starts</a:t>
            </a:r>
          </a:p>
        </p:txBody>
      </p:sp>
      <p:sp>
        <p:nvSpPr>
          <p:cNvPr id="4" name="close-code">
            <a:extLst xmlns:a="http://schemas.openxmlformats.org/drawingml/2006/main">
              <a:ext uri="{FF2B5EF4-FFF2-40B4-BE49-F238E27FC236}">
                <a16:creationId xmlns:a16="http://schemas.microsoft.com/office/drawing/2014/main" id="{78175FEA-19A6-430A-BCAD-CB517E5A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rate, independence, and gaps</a:t>
            </a:r>
          </a:p>
        </p:txBody>
      </p:sp>
      <p:sp>
        <p:nvSpPr>
          <p:cNvPr id="5" name="close-tests">
            <a:extLst xmlns:a="http://schemas.openxmlformats.org/drawingml/2006/main">
              <a:ext uri="{FF2B5EF4-FFF2-40B4-BE49-F238E27FC236}">
                <a16:creationId xmlns:a16="http://schemas.microsoft.com/office/drawing/2014/main" id="{B8E873A2-6F2A-45FB-A520-DEAFF87D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62500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decide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Use Poisson only when supported</a:t>
            </a:r>
          </a:p>
        </p:txBody>
      </p:sp>
      <p:sp>
        <p:nvSpPr>
          <p:cNvPr id="6" name="close-editable">
            <a:extLst xmlns:a="http://schemas.openxmlformats.org/drawingml/2006/main">
              <a:ext uri="{FF2B5EF4-FFF2-40B4-BE49-F238E27FC236}">
                <a16:creationId xmlns:a16="http://schemas.microsoft.com/office/drawing/2014/main" id="{F268DFCC-E2D2-4FB9-9C56-C6A2C208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483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F636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368"/>
                </a:solidFill>
                <a:latin typeface="Arial"/>
                <a:ea typeface="Arial"/>
                <a:cs typeface="Arial"/>
              </a:rPr>
              <a:t>All diagrams, tables, formulas, and labels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855486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2026-08-10T13:31:52.9220000Z</dcterms:created>
  <dcterms:modified xsi:type="dcterms:W3CDTF">2026-08-10T13:31:52.9220000Z</dcterms:modified>
</coreProperties>
</file>