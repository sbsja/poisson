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ac1cf39dd4481a" /><Relationship Type="http://schemas.openxmlformats.org/officeDocument/2006/relationships/extended-properties" Target="/docProps/app.xml" Id="R675b68b87d8649fe" /><Relationship Type="http://schemas.openxmlformats.org/officeDocument/2006/relationships/officeDocument" Target="/ppt/presentation.xml" Id="R2475937c663042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586fe75feb4d86"/>
  </p:sldMasterIdLst>
  <p:notesMasterIdLst>
    <p:notesMasterId xmlns:r="http://schemas.openxmlformats.org/officeDocument/2006/relationships" r:id="R0c4ee5d25d2c4e23"/>
  </p:notesMasterIdLst>
  <p:sldIdLst>
    <p:sldId xmlns:r="http://schemas.openxmlformats.org/officeDocument/2006/relationships" id="256" r:id="Rc8c5e6563b1f4766"/>
    <p:sldId xmlns:r="http://schemas.openxmlformats.org/officeDocument/2006/relationships" id="257" r:id="R84cf5f41b8f74dbf"/>
    <p:sldId xmlns:r="http://schemas.openxmlformats.org/officeDocument/2006/relationships" id="258" r:id="R95ed01c934864360"/>
    <p:sldId xmlns:r="http://schemas.openxmlformats.org/officeDocument/2006/relationships" id="259" r:id="Ra8756c74a19b4c53"/>
    <p:sldId xmlns:r="http://schemas.openxmlformats.org/officeDocument/2006/relationships" id="260" r:id="R05216a8f610e46b9"/>
    <p:sldId xmlns:r="http://schemas.openxmlformats.org/officeDocument/2006/relationships" id="261" r:id="R9f884fca69114edc"/>
    <p:sldId xmlns:r="http://schemas.openxmlformats.org/officeDocument/2006/relationships" id="262" r:id="R5237b8517a864179"/>
    <p:sldId xmlns:r="http://schemas.openxmlformats.org/officeDocument/2006/relationships" id="263" r:id="Rb366380089624368"/>
    <p:sldId xmlns:r="http://schemas.openxmlformats.org/officeDocument/2006/relationships" id="264" r:id="Rd3746b9ec1ac4716"/>
    <p:sldId xmlns:r="http://schemas.openxmlformats.org/officeDocument/2006/relationships" id="265" r:id="R22c155b86f5b4d01"/>
    <p:sldId xmlns:r="http://schemas.openxmlformats.org/officeDocument/2006/relationships" id="266" r:id="R14deec01255741d3"/>
    <p:sldId xmlns:r="http://schemas.openxmlformats.org/officeDocument/2006/relationships" id="267" r:id="R9c74177c4be34a27"/>
    <p:sldId xmlns:r="http://schemas.openxmlformats.org/officeDocument/2006/relationships" id="268" r:id="Rc788a764ff6f47b7"/>
    <p:sldId xmlns:r="http://schemas.openxmlformats.org/officeDocument/2006/relationships" id="269" r:id="Rdccc716098d148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35891063da40ab" /><Relationship Type="http://schemas.openxmlformats.org/officeDocument/2006/relationships/slideMaster" Target="/ppt/slideMasters/slideMaster1.xml" Id="Rfd586fe75feb4d86" /><Relationship Type="http://schemas.openxmlformats.org/officeDocument/2006/relationships/notesMaster" Target="/ppt/notesMasters/notesMaster1.xml" Id="R0c4ee5d25d2c4e23" /><Relationship Type="http://schemas.openxmlformats.org/officeDocument/2006/relationships/presProps" Target="/ppt/presProps.xml" Id="R951d4c4a1ddc496b" /><Relationship Type="http://schemas.openxmlformats.org/officeDocument/2006/relationships/tableStyles" Target="/ppt/tableStyles.xml" Id="Ra47ae50d905a4f61" /><Relationship Type="http://schemas.openxmlformats.org/officeDocument/2006/relationships/slide" Target="/ppt/slides/slide1.xml" Id="Rc8c5e6563b1f4766" /><Relationship Type="http://schemas.openxmlformats.org/officeDocument/2006/relationships/slide" Target="/ppt/slides/slide2.xml" Id="R84cf5f41b8f74dbf" /><Relationship Type="http://schemas.openxmlformats.org/officeDocument/2006/relationships/slide" Target="/ppt/slides/slide3.xml" Id="R95ed01c934864360" /><Relationship Type="http://schemas.openxmlformats.org/officeDocument/2006/relationships/slide" Target="/ppt/slides/slide4.xml" Id="Ra8756c74a19b4c53" /><Relationship Type="http://schemas.openxmlformats.org/officeDocument/2006/relationships/slide" Target="/ppt/slides/slide5.xml" Id="R05216a8f610e46b9" /><Relationship Type="http://schemas.openxmlformats.org/officeDocument/2006/relationships/slide" Target="/ppt/slides/slide6.xml" Id="R9f884fca69114edc" /><Relationship Type="http://schemas.openxmlformats.org/officeDocument/2006/relationships/slide" Target="/ppt/slides/slide7.xml" Id="R5237b8517a864179" /><Relationship Type="http://schemas.openxmlformats.org/officeDocument/2006/relationships/slide" Target="/ppt/slides/slide8.xml" Id="Rb366380089624368" /><Relationship Type="http://schemas.openxmlformats.org/officeDocument/2006/relationships/slide" Target="/ppt/slides/slide9.xml" Id="Rd3746b9ec1ac4716" /><Relationship Type="http://schemas.openxmlformats.org/officeDocument/2006/relationships/slide" Target="/ppt/slides/slide10.xml" Id="R22c155b86f5b4d01" /><Relationship Type="http://schemas.openxmlformats.org/officeDocument/2006/relationships/slide" Target="/ppt/slides/slide11.xml" Id="R14deec01255741d3" /><Relationship Type="http://schemas.openxmlformats.org/officeDocument/2006/relationships/slide" Target="/ppt/slides/slide12.xml" Id="R9c74177c4be34a27" /><Relationship Type="http://schemas.openxmlformats.org/officeDocument/2006/relationships/slide" Target="/ppt/slides/slide13.xml" Id="Rc788a764ff6f47b7" /><Relationship Type="http://schemas.openxmlformats.org/officeDocument/2006/relationships/slide" Target="/ppt/slides/slide14.xml" Id="Rdccc716098d148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4f58805f7642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b7d2fb20d847d9" /><Relationship Type="http://schemas.openxmlformats.org/officeDocument/2006/relationships/notesMaster" Target="/ppt/notesMasters/notesMaster1.xml" Id="R3c841ef7484745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03ead044774868" /><Relationship Type="http://schemas.openxmlformats.org/officeDocument/2006/relationships/notesMaster" Target="/ppt/notesMasters/notesMaster1.xml" Id="R074c3ed928774c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5c151c438241cb" /><Relationship Type="http://schemas.openxmlformats.org/officeDocument/2006/relationships/notesMaster" Target="/ppt/notesMasters/notesMaster1.xml" Id="R4cfb2a98d3204e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959aa1e541486f" /><Relationship Type="http://schemas.openxmlformats.org/officeDocument/2006/relationships/notesMaster" Target="/ppt/notesMasters/notesMaster1.xml" Id="R44e639971d9845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740bb4e4eb42c3" /><Relationship Type="http://schemas.openxmlformats.org/officeDocument/2006/relationships/notesMaster" Target="/ppt/notesMasters/notesMaster1.xml" Id="R16c33c0a737746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5154c3ccac479f" /><Relationship Type="http://schemas.openxmlformats.org/officeDocument/2006/relationships/notesMaster" Target="/ppt/notesMasters/notesMaster1.xml" Id="Rb3c1629420d046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767932c0c741a5" /><Relationship Type="http://schemas.openxmlformats.org/officeDocument/2006/relationships/notesMaster" Target="/ppt/notesMasters/notesMaster1.xml" Id="R65658e46cc9f47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1e975abb4a4ab6" /><Relationship Type="http://schemas.openxmlformats.org/officeDocument/2006/relationships/notesMaster" Target="/ppt/notesMasters/notesMaster1.xml" Id="R15f4474aede240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a7a4534da94e57" /><Relationship Type="http://schemas.openxmlformats.org/officeDocument/2006/relationships/notesMaster" Target="/ppt/notesMasters/notesMaster1.xml" Id="R510bd3fbd97a49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d4629618f84873" /><Relationship Type="http://schemas.openxmlformats.org/officeDocument/2006/relationships/notesMaster" Target="/ppt/notesMasters/notesMaster1.xml" Id="R060f1c1bdc1543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b4d0f110d14304" /><Relationship Type="http://schemas.openxmlformats.org/officeDocument/2006/relationships/notesMaster" Target="/ppt/notesMasters/notesMaster1.xml" Id="Rbb314e9fff5c43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0da549a89d4b22" /><Relationship Type="http://schemas.openxmlformats.org/officeDocument/2006/relationships/notesMaster" Target="/ppt/notesMasters/notesMaster1.xml" Id="R6b1969fc1a7346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ef577d5d8d4618" /><Relationship Type="http://schemas.openxmlformats.org/officeDocument/2006/relationships/notesMaster" Target="/ppt/notesMasters/notesMaster1.xml" Id="R29d2932497b642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85cccf93a443fe" /><Relationship Type="http://schemas.openxmlformats.org/officeDocument/2006/relationships/notesMaster" Target="/ppt/notesMasters/notesMaster1.xml" Id="R2e5eb6930ac843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f0d30f9f546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41538a41074f32" /><Relationship Type="http://schemas.openxmlformats.org/officeDocument/2006/relationships/slideLayout" Target="/ppt/slideLayouts/slideLayout1.xml" Id="Rdaf4419ba85143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f4419ba85143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1badbc2ee4338" /><Relationship Type="http://schemas.openxmlformats.org/officeDocument/2006/relationships/notesSlide" Target="/ppt/notesSlides/notesSlide1.xml" Id="R63d7543bd80145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8e88d132543b4" /><Relationship Type="http://schemas.openxmlformats.org/officeDocument/2006/relationships/notesSlide" Target="/ppt/notesSlides/notesSlide2.xml" Id="Rabc6958166e447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e1ff1acc04966" /><Relationship Type="http://schemas.openxmlformats.org/officeDocument/2006/relationships/notesSlide" Target="/ppt/notesSlides/notesSlide3.xml" Id="R1fbcad525c7641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2b961d0a0498d" /><Relationship Type="http://schemas.openxmlformats.org/officeDocument/2006/relationships/notesSlide" Target="/ppt/notesSlides/notesSlide4.xml" Id="R8ac4bf701f9e4b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f7d88e7f54b99" /><Relationship Type="http://schemas.openxmlformats.org/officeDocument/2006/relationships/notesSlide" Target="/ppt/notesSlides/notesSlide5.xml" Id="R675176357ad649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90b58ecdb4138" /><Relationship Type="http://schemas.openxmlformats.org/officeDocument/2006/relationships/notesSlide" Target="/ppt/notesSlides/notesSlide6.xml" Id="R578afa57d37743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c2cc7c51b481e" /><Relationship Type="http://schemas.openxmlformats.org/officeDocument/2006/relationships/notesSlide" Target="/ppt/notesSlides/notesSlide7.xml" Id="Rb66aa973cd6741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53d4a356a4e52" /><Relationship Type="http://schemas.openxmlformats.org/officeDocument/2006/relationships/notesSlide" Target="/ppt/notesSlides/notesSlide8.xml" Id="Reefc3bb4cdc74d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05fac824249d4" /><Relationship Type="http://schemas.openxmlformats.org/officeDocument/2006/relationships/chart" Target="/ppt/slides/charts/chart1.xml" Id="R82d2452736ac4c47" /><Relationship Type="http://schemas.openxmlformats.org/officeDocument/2006/relationships/notesSlide" Target="/ppt/notesSlides/notesSlide9.xml" Id="Rb11f79a1c7e64a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4c90888fa41cc" /><Relationship Type="http://schemas.openxmlformats.org/officeDocument/2006/relationships/notesSlide" Target="/ppt/notesSlides/notesSlide10.xml" Id="Rfbbdf68ab46249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2aded06d04e5f" /><Relationship Type="http://schemas.openxmlformats.org/officeDocument/2006/relationships/notesSlide" Target="/ppt/notesSlides/notesSlide11.xml" Id="R70319ddb54e940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7913482a040d3" /><Relationship Type="http://schemas.openxmlformats.org/officeDocument/2006/relationships/notesSlide" Target="/ppt/notesSlides/notesSlide12.xml" Id="R2ba2231d771b45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e6bbdda6d4b4f" /><Relationship Type="http://schemas.openxmlformats.org/officeDocument/2006/relationships/notesSlide" Target="/ppt/notesSlides/notesSlide13.xml" Id="Re38943ed82b74c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9031a66d84afa" /><Relationship Type="http://schemas.openxmlformats.org/officeDocument/2006/relationships/notesSlide" Target="/ppt/notesSlides/notesSlide14.xml" Id="Ra9b6eeb2dbda442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Analytical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5"/>
              <c:pt idx="0">
                <c:v>Temporal</c:v>
              </c:pt>
              <c:pt idx="1">
                <c:v>Ego</c:v>
              </c:pt>
              <c:pt idx="2">
                <c:v>RU</c:v>
              </c:pt>
              <c:pt idx="3">
                <c:v>Trigger</c:v>
              </c:pt>
              <c:pt idx="4">
                <c:v>Full scenario</c:v>
              </c:pt>
            </c:strLit>
          </c:cat>
          <c:val>
            <c:numLit>
              <c:formatCode>General</c:formatCode>
              <c:ptCount val="5"/>
              <c:pt idx="0">
                <c:v>977.4</c:v>
              </c:pt>
              <c:pt idx="1">
                <c:v>20881</c:v>
              </c:pt>
              <c:pt idx="2">
                <c:v>12260</c:v>
              </c:pt>
              <c:pt idx="3">
                <c:v>5015.7</c:v>
              </c:pt>
              <c:pt idx="4">
                <c:v>34205</c:v>
              </c:pt>
            </c:numLit>
          </c:val>
        </c:ser>
        <c:ser>
          <c:idx val="1"/>
          <c:order val="1"/>
          <c:tx>
            <c:v>Simulation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Temporal</c:v>
              </c:pt>
              <c:pt idx="1">
                <c:v>Ego</c:v>
              </c:pt>
              <c:pt idx="2">
                <c:v>RU</c:v>
              </c:pt>
              <c:pt idx="3">
                <c:v>Trigger</c:v>
              </c:pt>
              <c:pt idx="4">
                <c:v>Full scenario</c:v>
              </c:pt>
            </c:strLit>
          </c:cat>
          <c:val>
            <c:numLit>
              <c:formatCode>General</c:formatCode>
              <c:ptCount val="5"/>
              <c:pt idx="0">
                <c:v>977</c:v>
              </c:pt>
              <c:pt idx="1">
                <c:v>21018</c:v>
              </c:pt>
              <c:pt idx="2">
                <c:v>12217</c:v>
              </c:pt>
              <c:pt idx="3">
                <c:v>5015</c:v>
              </c:pt>
              <c:pt idx="4">
                <c:v>36000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0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F1223-34E5-4EFA-A6C8-D666F6DA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LAYERED SCENARIO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A7B16-4AFD-4001-A183-0DCEB37E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952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the analytical</a:t>
            </a:r>
          </a:p>
          <a:p xmlns:a="http://schemas.openxmlformats.org/drawingml/2006/main">
            <a:pPr algn="l">
              <a:defRPr sz="5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solution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60911-50DA-45FD-8FE4-39710867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From Gamma renewals and categorical transitions to expected episode counts, durations, occupancy, and arrival statistics.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440FE-4291-4F77-9AEA-DE68095B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Based on the active configuration and seeded transition vectors</a:t>
            </a:r>
          </a:p>
        </p:txBody>
      </p:sp>
    </p:spTree>
    <p:extLst>
      <p:ext uri="{BB962C8B-B14F-4D97-AF65-F5344CB8AC3E}">
        <p14:creationId xmlns:p14="http://schemas.microsoft.com/office/powerpoint/2010/main" val="1220820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">
            <a:extLst xmlns:a="http://schemas.openxmlformats.org/drawingml/2006/main">
              <a:ext uri="{FF2B5EF4-FFF2-40B4-BE49-F238E27FC236}">
                <a16:creationId xmlns:a16="http://schemas.microsoft.com/office/drawing/2014/main" id="{869C9514-1BCE-486B-A5B2-14FE9D7F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ANALYTICAL JOB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D5AD1F5-39F6-4A3E-A50D-AB7567FA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Closed forms replace event-by-event simulation</a:t>
            </a:r>
          </a:p>
        </p:txBody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613718E8-C6D9-4B46-A537-9A1497AC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52A4B-6721-4439-8EE2-7C03D452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The simulator still builds the same layers. The analytical path stops before the event loop and computes expectations from their permanent probability vectors.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1352550" y="2905125"/>
            <a:ext cx="9486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0C6F5-907F-4999-A0BE-EA2D5C6A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57B83-3399-42A3-8AB9-77C30B99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A02D9-507F-4563-A2E3-D1BFA0B5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F2958-3FD5-4DEC-84CB-18F98533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D7458-D773-4EF7-B850-F44E1C15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the layers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FF2DB-E216-415A-9707-50073BDC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Element counts, rarity labels, Gamma parameters, and permanent transition vectors qₖ.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9479E-B65F-44FB-B141-C4709C11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860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517B1-E6B3-42FF-8388-0F623F41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95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Apply renewal theory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588CC-0B4E-4D39-9F15-36DBFF06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290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Convert mean holding times into transition rates, then thin transitions into episode starts.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1B2DE-FAE2-43FF-8683-B14BF7FF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860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FC4E1-7316-4980-B983-FF6A43A5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95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Aggregate outputs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EB1D6-1889-4513-A63C-9B8E6CEB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290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Combine layers into total episodes, durations, union time, gaps, and mileage-window counts.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FFA1F-F307-41D5-81C4-3FC4E982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292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No long run is executed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91189-B6CB-44BE-847A-C89FEF3E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Source: analytical_model.py:44–143; simulator.py:882–919</a:t>
            </a:r>
          </a:p>
        </p:txBody>
      </p:sp>
    </p:spTree>
    <p:extLst>
      <p:ext uri="{BB962C8B-B14F-4D97-AF65-F5344CB8AC3E}">
        <p14:creationId xmlns:p14="http://schemas.microsoft.com/office/powerpoint/2010/main" val="1783235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3">
            <a:extLst xmlns:a="http://schemas.openxmlformats.org/drawingml/2006/main">
              <a:ext uri="{FF2B5EF4-FFF2-40B4-BE49-F238E27FC236}">
                <a16:creationId xmlns:a16="http://schemas.microsoft.com/office/drawing/2014/main" id="{B9A8643C-9F68-4725-AB4E-5ECB6256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PROBABILISTIC FOUNDATION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F8BB4A8-2201-4B90-A378-8EC70511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Six renewals make the model tractable</a:t>
            </a:r>
          </a:p>
        </p:txBody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59BEF701-B202-45F5-A922-7EF99E3F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16960-269F-4BB7-B79D-348E7A64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Gamma holding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97F0F-C5FA-4A07-81A2-F9CCEB15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Hₖ ~ Gamma(αₖ, θₖ)</a:t>
            </a:r>
          </a:p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E[Hₖ] = μₖ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Durations are independent draws and are clamped below at 1 second.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DB7FC-9965-4695-871A-CE7DECA7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95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IID state selection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B2824-9939-431D-9D70-9322E17F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Xₖ,n ~ Categorical(qₖ)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At every renewal, the next element is drawn from the same permanent vector qₖ.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FC80C-3B17-4E38-B0F1-336CFF4C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Independent layers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40D08-CB7A-4B55-AC97-E7494A77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Street, temporal, ego, RU, environment, and triggering evolve with separate clocks and random streams.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64B96-1D4A-41E4-B446-F5FBDE08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Stationary occupancy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E19B2-42CE-4F6D-B264-26B1D98E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14850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Because duration does not depend on the selected element, qₖᵢ is also the long-run time fraction in element 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52D90-B2B6-4975-BE6F-29FC4891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Source: simulator.py:494–597; config.yaml layer duration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6485778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-4">
            <a:extLst xmlns:a="http://schemas.openxmlformats.org/drawingml/2006/main">
              <a:ext uri="{FF2B5EF4-FFF2-40B4-BE49-F238E27FC236}">
                <a16:creationId xmlns:a16="http://schemas.microsoft.com/office/drawing/2014/main" id="{12A381B6-F04D-4DEB-B849-D43C164B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CURRENT SCALE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E19DCB6-3614-4388-86FD-55793023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03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2-million-mile run spans 144 million simulated seconds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17F9C222-095F-48C8-BD21-4A83AD09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05A84-E65A-4E0B-948B-C8E2CEDC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 = (D / v) × 3600 = (2,000,000 / 50) × 3600 = 144,000,000 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1790700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05250"/>
                <a:gridCol w="2095500"/>
                <a:gridCol w="2857500"/>
                <a:gridCol w="2533650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 k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μₖ (s)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/ μₖ transitions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Unknown mass mₖ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480,000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 modifications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240,000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0.4077%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 maneuver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4,800,000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0.4369%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 maneuver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3,200,000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0.3846%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Environmental conditions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Triggering conditions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1,200,000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0.4197%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3A62C-5557-4ECE-BADF-2C6033FB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Only four layers can generate element-level unknown episodes.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E9408-33D3-42C4-89DA-AB07AED2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Source: config.yaml; conditional masses from the seeded transition vectors</a:t>
            </a:r>
          </a:p>
        </p:txBody>
      </p:sp>
    </p:spTree>
    <p:extLst>
      <p:ext uri="{BB962C8B-B14F-4D97-AF65-F5344CB8AC3E}">
        <p14:creationId xmlns:p14="http://schemas.microsoft.com/office/powerpoint/2010/main" val="1470736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5">
            <a:extLst xmlns:a="http://schemas.openxmlformats.org/drawingml/2006/main">
              <a:ext uri="{FF2B5EF4-FFF2-40B4-BE49-F238E27FC236}">
                <a16:creationId xmlns:a16="http://schemas.microsoft.com/office/drawing/2014/main" id="{3530CC43-A96A-43CA-8C4D-CB08EFE1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 VARIABLES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5A3175E-D1CB-4BB9-BD76-7EECD0DA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masses determine episode starts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B3436675-9AA0-45B0-91AA-A40F862E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08AFA-E919-4E54-868A-F4BD9EDD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Let Uₖ be the unknown elements in layer k, and qₖᵤ the permanent probability of unknown element 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9CCFF-313C-4094-BCBC-287DC06A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623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0E29D-CEA3-4F4F-8202-966CAE4D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mₖ = Σᵤ∈Uₖ qₖᵤ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B5363-B4F2-4EF1-9EA8-930A8B95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7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Unknown occupancy mass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16713-3B47-46AB-88A3-28EEF61D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0289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Probability that layer k is unknown at a random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DB0CF-4E86-4FB7-A444-5F529B2A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00250"/>
            <a:ext cx="35623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40392-0E92-4F68-829A-1068A718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860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sₖ = Σᵤ∈Uₖ qₖᵤ²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C5EC8-3AC8-4182-A0F1-F5D7D22B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004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Same-unknown self-hop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A8737-8563-49D4-ADBB-7B394473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38550"/>
            <a:ext cx="30289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Probability that consecutive categorical selections land on the same unknown element.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BD20B-E199-49DF-84AA-7ED24DF1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5623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F22C9-DBB0-40A6-B481-FB640E04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860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mₖ − sₖ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28CB8-1426-476D-BCC8-E566E229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04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New-episode probability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F4298-AD6D-4DF3-901B-A77E6D84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30289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Known → unknown and unknown A → unknown B start an episode; unknown A → A continues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2B415-FF12-4185-9B86-076A118E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Source: analytical_model.py:51–60; simulator.py:449–466</a:t>
            </a:r>
          </a:p>
        </p:txBody>
      </p:sp>
    </p:spTree>
    <p:extLst>
      <p:ext uri="{BB962C8B-B14F-4D97-AF65-F5344CB8AC3E}">
        <p14:creationId xmlns:p14="http://schemas.microsoft.com/office/powerpoint/2010/main" val="1018959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6">
            <a:extLst xmlns:a="http://schemas.openxmlformats.org/drawingml/2006/main">
              <a:ext uri="{FF2B5EF4-FFF2-40B4-BE49-F238E27FC236}">
                <a16:creationId xmlns:a16="http://schemas.microsoft.com/office/drawing/2014/main" id="{80DDDDF5-4D73-4D17-92D8-0932C9C2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MAIN DERIVATION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63F5756-2A96-4194-9AFD-1F6E11FA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Episode count = renewals × start probability</a:t>
            </a:r>
          </a:p>
        </p:txBody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8824D910-8179-4936-A63C-43612C9D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4023B-1E1C-4931-B133-FEE48FDF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905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9D766-93B7-409C-8DDE-DA772FD4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23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E[Nₖ] ≈ (T / μₖ)(mₖ − sₖ) + mₖ⁽⁰⁾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91E41-C414-4007-BCB8-ECF33633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953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T / μₖ</a:t>
            </a:r>
          </a:p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expected renewals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mₖ − sₖ</a:t>
            </a:r>
          </a:p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chance a renewal starts a new episode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mₖ⁽⁰⁾</a:t>
            </a:r>
          </a:p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chance an episode is already open at t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E4778-A0A8-44A1-82C6-6BA41937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47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Worked example: ego maneuver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75C43-2BF2-4C48-B9DB-A229EDF2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T / μ = 4,800,000</a:t>
            </a:r>
          </a:p>
          <a:p xmlns:a="http://schemas.openxmlformats.org/drawingml/2006/main">
            <a:pPr algn="l">
              <a:defRPr sz="18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m = 0.0043693001</a:t>
            </a:r>
          </a:p>
          <a:p xmlns:a="http://schemas.openxmlformats.org/drawingml/2006/main">
            <a:pPr algn="l">
              <a:defRPr sz="18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 = 0.0000190908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762750" y="3524250"/>
            <a:ext cx="44767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B7006-B037-41DC-9E31-A27F1348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4,800,000 × (m − s) + m⁽⁰⁾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0BBD3-B38B-4DBC-A225-9DF5CA49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243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≈ 20,881 episodes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79A29-2F63-4B27-AF20-23762F84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Source: analytical_model.py:45–69. The current code uses +m; +m⁽⁰⁾ is the exact initial-state correction.</a:t>
            </a:r>
          </a:p>
        </p:txBody>
      </p:sp>
    </p:spTree>
    <p:extLst>
      <p:ext uri="{BB962C8B-B14F-4D97-AF65-F5344CB8AC3E}">
        <p14:creationId xmlns:p14="http://schemas.microsoft.com/office/powerpoint/2010/main" val="1288849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7">
            <a:extLst xmlns:a="http://schemas.openxmlformats.org/drawingml/2006/main">
              <a:ext uri="{FF2B5EF4-FFF2-40B4-BE49-F238E27FC236}">
                <a16:creationId xmlns:a16="http://schemas.microsoft.com/office/drawing/2014/main" id="{9B5B6F73-A761-4294-A7CE-A02EB85B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DURATION AND OCCUPANCY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42B26B8-DA81-4A75-85A0-DD88BEB7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853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Self-hops extend an episode by a geometric number of sojourns</a:t>
            </a:r>
          </a:p>
        </p:txBody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968C8ED5-DC94-48F5-AD9A-A58611A9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FCB89-C7EA-4D2C-BC94-4BF54753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Conditional on being unknown, the chance that the next transition selects the same unknown element is sₖ / mₖ.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728D1-FFA5-47FF-805A-A2361D5A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524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5EF8D-2772-4B27-BC24-2377BF5B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duration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94F0C-EB01-4786-8CA3-F2529AFF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E[Lₖ] = μₖ / (1 − sₖ / mₖ)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AD3A4-2C69-46AC-9DC4-6F58E237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Ego: 30 / (1 − 0.0043693) = 30.13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98E42-BD1A-46F0-B9EB-383168F8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5340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9A388-9DA7-46EC-8FF1-A4C217D6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81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layer occupancy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2043A-7BA7-4B98-BA06-FCFB25FD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289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E[Aₖ] = T × mₖ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D15AD-77D7-4C6D-81F5-9FFB7C18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829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Renewal reward: episode rate × mean duration returns the stationary unknown-time fraction.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98A54-0293-4C02-A92A-983A1F1A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variance of Gamma durations changes the spread and arrival regularity—not these long-run means.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1A699-D6F1-4479-AD76-881237D5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Source: analytical_model.py:60–69; simulator.py:546–550</a:t>
            </a:r>
          </a:p>
        </p:txBody>
      </p:sp>
    </p:spTree>
    <p:extLst>
      <p:ext uri="{BB962C8B-B14F-4D97-AF65-F5344CB8AC3E}">
        <p14:creationId xmlns:p14="http://schemas.microsoft.com/office/powerpoint/2010/main" val="1431615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8">
            <a:extLst xmlns:a="http://schemas.openxmlformats.org/drawingml/2006/main">
              <a:ext uri="{FF2B5EF4-FFF2-40B4-BE49-F238E27FC236}">
                <a16:creationId xmlns:a16="http://schemas.microsoft.com/office/drawing/2014/main" id="{60D430AE-65CC-4966-90CE-73F50150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BEYOND ONE LAYER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C7E06BE-2E87-414B-92AF-DB0F646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Independence yields union time and tuple rarity</a:t>
            </a:r>
          </a:p>
        </p:txBody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5EFD3AD5-77C3-4DA4-9B7D-6195A18F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79F8E-8118-4547-ADE9-B1947EA9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334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24AB5-1181-4C5D-AC6A-F53FF23A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Element-level union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B5CCF-196B-45D7-8D66-B4E84C66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fₑ = 1 − ∏ₖ(1 − mₖ)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24FB1-B080-489C-9A92-CE75D86E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Current conditional masses: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fₑ = 0.0163877</a:t>
            </a:r>
          </a:p>
          <a:p xmlns:a="http://schemas.openxmlformats.org/drawingml/2006/main">
            <a:pPr algn="l">
              <a:defRPr sz="20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= 1.6388% of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9121E-BBE2-41D2-82A0-4626A43E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5715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44215-30F5-4E14-8897-EB18C02C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Rare complete tuples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203BD-ADF9-4FC8-A6BB-B14B67D9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509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λchange = Σₖ [1 − Σᵢqₖᵢ²] / μₖ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ED4B6-E364-4A1B-BDA0-F4A693C7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509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λchange = 0.05938 /s</a:t>
            </a:r>
          </a:p>
          <a:p xmlns:a="http://schemas.openxmlformats.org/drawingml/2006/main">
            <a:pPr algn="l">
              <a:defRPr sz="18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Mean tuple lifetime ≈ 16.84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C3519-585A-4B78-8F1D-1781E80B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095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E[NFS] ≈ T × λchange × fFS</a:t>
            </a:r>
          </a:p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≈ 34,205 episodes at fFS = 0.004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4B3A4-EA79-4313-83A9-FB1FA538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Source: analytical_model.py:70–117; simulator.py:631–700</a:t>
            </a:r>
          </a:p>
        </p:txBody>
      </p:sp>
    </p:spTree>
    <p:extLst>
      <p:ext uri="{BB962C8B-B14F-4D97-AF65-F5344CB8AC3E}">
        <p14:creationId xmlns:p14="http://schemas.microsoft.com/office/powerpoint/2010/main" val="15235270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9">
            <a:extLst xmlns:a="http://schemas.openxmlformats.org/drawingml/2006/main">
              <a:ext uri="{FF2B5EF4-FFF2-40B4-BE49-F238E27FC236}">
                <a16:creationId xmlns:a16="http://schemas.microsoft.com/office/drawing/2014/main" id="{2AB800E9-AFEE-4A88-A396-42EE8091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7D03F386-78E5-4C5A-BF10-389E1521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Predictions capture each episode source</a:t>
            </a:r>
          </a:p>
        </p:txBody>
      </p:sp>
      <p:sp>
        <p:nvSpPr>
          <p:cNvPr id="3" name="footer-9">
            <a:extLst xmlns:a="http://schemas.openxmlformats.org/drawingml/2006/main">
              <a:ext uri="{FF2B5EF4-FFF2-40B4-BE49-F238E27FC236}">
                <a16:creationId xmlns:a16="http://schemas.microsoft.com/office/drawing/2014/main" id="{CCCB429A-22EC-44F2-9352-5DA85E78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7239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d2452736ac4c4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B0519-B72E-43BD-8DCF-E7F254FC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37909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8A57F-887C-445B-AE4E-C3E7FB73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573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Element routes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7CA6A-F84D-496E-BDF6-1A18A328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39,134 expected after applying hidden-trigger semantics; 39,227 simulated.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2CE71-B4DD-4BB7-8069-37953B14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37909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5DD3F-532C-434A-B298-FF8B2BAF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Full-scenario 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48561-B11A-4F6E-80DE-7D1DAC46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34,205 expected versus 36,000 simulated; the entry-rate approximation is within 5.2%.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FC6F3-A634-403F-B2AE-91FB8AC8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37909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33FEA-DE1A-4C9F-90EA-1028F2D8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0535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Combined scale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06094-F743-45CC-A59C-85BC8821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00650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119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Approximately 73.3k expected versus 75.2k simulated.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1CF93-EB81-4115-ACF4-B774FA97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Source: results_full_scenario/stats.json and conditional analytical formulas</a:t>
            </a:r>
          </a:p>
        </p:txBody>
      </p:sp>
    </p:spTree>
    <p:extLst>
      <p:ext uri="{BB962C8B-B14F-4D97-AF65-F5344CB8AC3E}">
        <p14:creationId xmlns:p14="http://schemas.microsoft.com/office/powerpoint/2010/main" val="1480779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10">
            <a:extLst xmlns:a="http://schemas.openxmlformats.org/drawingml/2006/main">
              <a:ext uri="{FF2B5EF4-FFF2-40B4-BE49-F238E27FC236}">
                <a16:creationId xmlns:a16="http://schemas.microsoft.com/office/drawing/2014/main" id="{555E1AE2-34B6-442C-B923-B399EFA6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AGGREGATE OUTPUTS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5C275877-8568-47FA-BCED-B7E07DF1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611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Poisson approximation turns total episodes into distance metrics</a:t>
            </a:r>
          </a:p>
        </p:txBody>
      </p:sp>
      <p:sp>
        <p:nvSpPr>
          <p:cNvPr id="3" name="footer-10">
            <a:extLst xmlns:a="http://schemas.openxmlformats.org/drawingml/2006/main">
              <a:ext uri="{FF2B5EF4-FFF2-40B4-BE49-F238E27FC236}">
                <a16:creationId xmlns:a16="http://schemas.microsoft.com/office/drawing/2014/main" id="{DB4B02EA-DC1E-459D-A733-78E9D75A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DEC8C-B06F-4D57-AB0A-B2BA98CB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With start rate r = Ntotal / D per mile, inter-arrival distance X is approximated as Exponential(r).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AA6AE-B56E-4D28-BE45-14B75B6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623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0707F-505B-431B-ABA3-9720F839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27.26 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06B65-8E4A-4326-ABCD-70B4F54B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E54B4-4092-4725-8A21-BC732406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D / Ntotal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72932-CA81-4AEA-BB7B-B6CA0388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35623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C44BD-DB77-465A-B68E-1CFAFF00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38375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18.90 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9F308-73B2-4893-AD09-F0CA3770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527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9A8E0-BBC5-4F33-B57A-F4755639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90925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ln(2) × mean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0188A-7F12-4D1D-BF30-85E4AB54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5623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CCCB9-E6CA-44DD-8B8E-E300394F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38375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62.78 mi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733F8-038F-4E9E-B9B0-5572C063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527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90th percentile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5EDF3-67E7-4C33-A79D-B927F889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90925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ln(10) × mean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1EDDD-C1A0-4D5F-ACB7-FEFF6C84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Window mean = Ntotal × w / D = 366.8 starts per 10,000 miles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D1518-2020-4A75-A38A-381B8681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Poisson predicts variance ≈ mean and dispersion ≈ 1.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0E731-DEE4-49CD-97B1-40812562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76850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Delivered dispersion: 4.41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522D3-F4F5-471E-AA0B-A342AA7B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Source: analytical_model.py:118–142; results_full_scenario/stats.json</a:t>
            </a:r>
          </a:p>
        </p:txBody>
      </p:sp>
    </p:spTree>
    <p:extLst>
      <p:ext uri="{BB962C8B-B14F-4D97-AF65-F5344CB8AC3E}">
        <p14:creationId xmlns:p14="http://schemas.microsoft.com/office/powerpoint/2010/main" val="3049997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11">
            <a:extLst xmlns:a="http://schemas.openxmlformats.org/drawingml/2006/main">
              <a:ext uri="{FF2B5EF4-FFF2-40B4-BE49-F238E27FC236}">
                <a16:creationId xmlns:a16="http://schemas.microsoft.com/office/drawing/2014/main" id="{C5E41E97-EEF4-4EEC-AAC7-E4574C84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TWO PREDICTION LEVELS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F57552F-3DB2-44F9-861E-35655B00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Design and conditional answer different questions</a:t>
            </a:r>
          </a:p>
        </p:txBody>
      </p:sp>
      <p:sp>
        <p:nvSpPr>
          <p:cNvPr id="3" name="footer-11">
            <a:extLst xmlns:a="http://schemas.openxmlformats.org/drawingml/2006/main">
              <a:ext uri="{FF2B5EF4-FFF2-40B4-BE49-F238E27FC236}">
                <a16:creationId xmlns:a16="http://schemas.microsoft.com/office/drawing/2014/main" id="{B24EDA61-C8E9-42F0-9F37-9FB2D814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7D961-A2A0-4129-A8F9-49EA1F81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Both paths use the same formulas. They differ in which unknown probability mass is supplied to those formulas.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79F5F-6875-4A08-B07B-18034EE8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524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4C8A2-BBAD-48E8-93F4-CEAA6C67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DESIGN · before transition scatter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A1C78-41A2-4F41-B8E7-6BE1A634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44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mₖ = 0.004 for every unknown-bearing layer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sₖ = mₖ² / nᵤ,ₖ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1BB6F-4274-463D-8009-B3ACB8EA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26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Answers: What should the configured design produce on average?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BB4F0-E421-4BD0-BBAB-59DCED3A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47875"/>
            <a:ext cx="55340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31DDD-B7AA-42EF-94B0-CA4B6C08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336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CONDITIONAL · after seeded construction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5DAC1-4701-4FE3-B097-1C034943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480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mₖ = Σᵤqₖᵤ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sₖ = Σᵤqₖᵤ²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5487D-94DB-4DF0-945A-C68CC793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62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51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Answers: What should these exact seeded transition vectors produce?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597AE-9683-495B-A3A6-9063A849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Caveat: the current “design” path still uses realized q vectors for tuple-change rate and full-scenario calibration.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B4106-C18E-4160-9794-6D69BB07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Source: analytical_model.py:28–32 and 51–80</a:t>
            </a:r>
          </a:p>
        </p:txBody>
      </p:sp>
    </p:spTree>
    <p:extLst>
      <p:ext uri="{BB962C8B-B14F-4D97-AF65-F5344CB8AC3E}">
        <p14:creationId xmlns:p14="http://schemas.microsoft.com/office/powerpoint/2010/main" val="832548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kicker-12">
            <a:extLst xmlns:a="http://schemas.openxmlformats.org/drawingml/2006/main">
              <a:ext uri="{FF2B5EF4-FFF2-40B4-BE49-F238E27FC236}">
                <a16:creationId xmlns:a16="http://schemas.microsoft.com/office/drawing/2014/main" id="{94B39215-673E-43EB-BFF3-3CC3FAA0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VARIABLE GLOSSARY · 1 OF 2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ED448349-0C9A-4A63-92E4-BDD6E0F2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symbols map directly to the layer model</a:t>
            </a:r>
          </a:p>
        </p:txBody>
      </p:sp>
      <p:sp>
        <p:nvSpPr>
          <p:cNvPr id="3" name="footer-12">
            <a:extLst xmlns:a="http://schemas.openxmlformats.org/drawingml/2006/main">
              <a:ext uri="{FF2B5EF4-FFF2-40B4-BE49-F238E27FC236}">
                <a16:creationId xmlns:a16="http://schemas.microsoft.com/office/drawing/2014/main" id="{5C97A153-1020-429E-AC0D-C39A0819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219200"/>
          <a:ext xmlns:a="http://schemas.openxmlformats.org/drawingml/2006/main" cx="11391900" cy="4857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5524500"/>
                <a:gridCol w="4152900"/>
              </a:tblGrid>
              <a:tr h="4857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Symbol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Units / code mapping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Target simulated distance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miles · cfg.target_total_miles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Average vehicle speed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mph · cfg.average_speed_mph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simulated time: (D/v)×3600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seconds · 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Layer index; 0…5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i, 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Any element index; an unknown element index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 / 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One layer-k holding duration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seconds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μₖ, Vₖ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Mean and variance of Hₖ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seconds; seconds²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αₖ, θₖ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Gamma shape μ²/V and scale V/μ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dimensionless; seconds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qₖᵢ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Permanent probability of element i in layer 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transition_probs[i]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67CA7-25D1-473B-9F46-791B8583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Source: analytical_model.py and simulator.Layer / SimConfig</a:t>
            </a:r>
          </a:p>
        </p:txBody>
      </p:sp>
    </p:spTree>
    <p:extLst>
      <p:ext uri="{BB962C8B-B14F-4D97-AF65-F5344CB8AC3E}">
        <p14:creationId xmlns:p14="http://schemas.microsoft.com/office/powerpoint/2010/main" val="430080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icker-13">
            <a:extLst xmlns:a="http://schemas.openxmlformats.org/drawingml/2006/main">
              <a:ext uri="{FF2B5EF4-FFF2-40B4-BE49-F238E27FC236}">
                <a16:creationId xmlns:a16="http://schemas.microsoft.com/office/drawing/2014/main" id="{171B5610-0CD9-4294-9F0E-CE53100B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VARIABLE GLOSSARY · 2 OF 2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C1159CE8-4B98-4BEA-A911-BCBC1C70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symbols map to aggregate statistics</a:t>
            </a:r>
          </a:p>
        </p:txBody>
      </p:sp>
      <p:sp>
        <p:nvSpPr>
          <p:cNvPr id="3" name="footer-13">
            <a:extLst xmlns:a="http://schemas.openxmlformats.org/drawingml/2006/main">
              <a:ext uri="{FF2B5EF4-FFF2-40B4-BE49-F238E27FC236}">
                <a16:creationId xmlns:a16="http://schemas.microsoft.com/office/drawing/2014/main" id="{301E17D2-A14A-4851-81CD-68F677B1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162050"/>
          <a:ext xmlns:a="http://schemas.openxmlformats.org/drawingml/2006/main" cx="11391900" cy="4762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4429125"/>
                <a:gridCol w="4248150"/>
              </a:tblGrid>
              <a:tr h="43295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Symbol / code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Formula or role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Set of unknown elements in layer 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Defines which q terms are summed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mₖ / 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Unknown occupancy mass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Σᵤ∈Uₖ qₖᵤ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sₖ /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Same-unknown self-hop mass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Σᵤ∈Uₖ qₖᵤ²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Nₖ / episodes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Unknown episode count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(T/μₖ)(mₖ−sₖ)+mₖ⁽⁰⁾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Lₖ / mean_dur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One episode’s duration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μₖ/(1−sₖ/mₖ)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Accumulated unknown time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T×mₖ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λchange / lam_change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Complete-tuple change 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Σₖ[1−Σᵢqₖᵢ²]/μₖ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fFS / mass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Rare full-scenario stationary mass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achieved_sampled_mass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Ntotal / total_eps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expected episode 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Sum of all episode sources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 / mean_window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Window size / expected starts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Ntotal×w/D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5850A-FF65-49E7-A44B-459C869F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5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Containers: cfg = configuration · layers = built Layer objects · per_layer, combos, fs = result dictionaries · dur_sum = duration numerator · weighted_dur = overall mean.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14998-5D57-4649-81C1-670C67AE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Source: analytical_model.py:44–143</a:t>
            </a:r>
          </a:p>
        </p:txBody>
      </p:sp>
    </p:spTree>
    <p:extLst>
      <p:ext uri="{BB962C8B-B14F-4D97-AF65-F5344CB8AC3E}">
        <p14:creationId xmlns:p14="http://schemas.microsoft.com/office/powerpoint/2010/main" val="4454152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4">
            <a:extLst xmlns:a="http://schemas.openxmlformats.org/drawingml/2006/main">
              <a:ext uri="{FF2B5EF4-FFF2-40B4-BE49-F238E27FC236}">
                <a16:creationId xmlns:a16="http://schemas.microsoft.com/office/drawing/2014/main" id="{56E7E3E4-64A9-4DFF-8BCB-0E8D39A2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TO TRUST—AND WHAT TO FIX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C4CC69E9-B6AF-4B6A-AD54-784537A4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corrections align model and simulator</a:t>
            </a:r>
          </a:p>
        </p:txBody>
      </p:sp>
      <p:sp>
        <p:nvSpPr>
          <p:cNvPr id="3" name="footer-14">
            <a:extLst xmlns:a="http://schemas.openxmlformats.org/drawingml/2006/main">
              <a:ext uri="{FF2B5EF4-FFF2-40B4-BE49-F238E27FC236}">
                <a16:creationId xmlns:a16="http://schemas.microsoft.com/office/drawing/2014/main" id="{C6868123-1C2D-459F-9844-666DFCDF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AD91E-FD59-4751-85A4-945F20D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5623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8DA22-9D02-43BF-B06B-EC260E16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0497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 · Hidden triggering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007D6-6016-4295-B42B-5F770D54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0275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All triggering unknown elements form one hidden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Use start probability m(1−m) and mean duration μ/(1−m).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Correct prediction: 5,015.7 episodes.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59024-54FB-4838-AA16-5B2D2867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76375"/>
            <a:ext cx="35623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0CBE8-8414-4275-8294-DD980F80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0497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 · Union unknown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0F1DA-7DED-492F-A30B-3FC74E62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00275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The code’s union fraction includes element layers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Full-scenario tuples are all-known and disjoint, so add fFS: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f total ≈ 1−∏(1−mₖ)+fFS.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93169-190C-4D7D-BCE5-743608A4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76375"/>
            <a:ext cx="35623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DEDF9-A76B-4017-B754-A25B0298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0497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 · Initial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46446-3FE5-4134-A349-659D1368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0275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The simulator initializes from initial_probs.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The episode-count boundary term should be mₖ⁽⁰⁾, not realized mₖ.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The numerical effect is tiny.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877C2-A565-4C95-8488-D77ADF9B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3F2FE-68E8-4CCC-8D07-9EA5E571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60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closed forms for expected scale and sensitivity. Use simulation for tails, clustering, and seed-specific outcomes.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9A245-D7C3-452D-AB5E-812A9943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Sources: analytical_model.py; simulator.py hidden-trigger and full-scenario episode semantics</a:t>
            </a:r>
          </a:p>
        </p:txBody>
      </p:sp>
    </p:spTree>
    <p:extLst>
      <p:ext uri="{BB962C8B-B14F-4D97-AF65-F5344CB8AC3E}">
        <p14:creationId xmlns:p14="http://schemas.microsoft.com/office/powerpoint/2010/main" val="1645577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2026-07-23T12:08:27.6100000Z</dcterms:created>
  <dcterms:modified xsi:type="dcterms:W3CDTF">2026-07-23T12:08:27.6100000Z</dcterms:modified>
</coreProperties>
</file>