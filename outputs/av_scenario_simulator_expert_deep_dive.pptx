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fb3bed8ae649f1" /><Relationship Type="http://schemas.openxmlformats.org/officeDocument/2006/relationships/extended-properties" Target="/docProps/app.xml" Id="Rcde61744985d412f" /><Relationship Type="http://schemas.openxmlformats.org/officeDocument/2006/relationships/officeDocument" Target="/ppt/presentation.xml" Id="Rc801f284cab0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3a670531c4c86"/>
  </p:sldMasterIdLst>
  <p:notesMasterIdLst>
    <p:notesMasterId xmlns:r="http://schemas.openxmlformats.org/officeDocument/2006/relationships" r:id="Ra8641ae472e8459f"/>
  </p:notesMasterIdLst>
  <p:sldIdLst>
    <p:sldId xmlns:r="http://schemas.openxmlformats.org/officeDocument/2006/relationships" id="256" r:id="R2acb72de08a24988"/>
    <p:sldId xmlns:r="http://schemas.openxmlformats.org/officeDocument/2006/relationships" id="257" r:id="R85686b8c844446df"/>
    <p:sldId xmlns:r="http://schemas.openxmlformats.org/officeDocument/2006/relationships" id="258" r:id="Ra7650a99043f46cf"/>
    <p:sldId xmlns:r="http://schemas.openxmlformats.org/officeDocument/2006/relationships" id="259" r:id="Ra4ad294534db45ed"/>
    <p:sldId xmlns:r="http://schemas.openxmlformats.org/officeDocument/2006/relationships" id="260" r:id="R3da1a037ae994ae3"/>
    <p:sldId xmlns:r="http://schemas.openxmlformats.org/officeDocument/2006/relationships" id="261" r:id="R333c7a7783e24455"/>
    <p:sldId xmlns:r="http://schemas.openxmlformats.org/officeDocument/2006/relationships" id="262" r:id="Rd28819db868c4363"/>
    <p:sldId xmlns:r="http://schemas.openxmlformats.org/officeDocument/2006/relationships" id="263" r:id="R50fd00e1589c46ed"/>
    <p:sldId xmlns:r="http://schemas.openxmlformats.org/officeDocument/2006/relationships" id="264" r:id="R968e853073fc4c08"/>
    <p:sldId xmlns:r="http://schemas.openxmlformats.org/officeDocument/2006/relationships" id="265" r:id="R8fa64b7626554b7c"/>
    <p:sldId xmlns:r="http://schemas.openxmlformats.org/officeDocument/2006/relationships" id="266" r:id="R74b2971f1db440a0"/>
    <p:sldId xmlns:r="http://schemas.openxmlformats.org/officeDocument/2006/relationships" id="267" r:id="Rdcb864c99e9c4914"/>
    <p:sldId xmlns:r="http://schemas.openxmlformats.org/officeDocument/2006/relationships" id="268" r:id="R88828f5b76284443"/>
    <p:sldId xmlns:r="http://schemas.openxmlformats.org/officeDocument/2006/relationships" id="269" r:id="R3b6dd96fd26e430d"/>
    <p:sldId xmlns:r="http://schemas.openxmlformats.org/officeDocument/2006/relationships" id="270" r:id="Ra1a0b1e7cb524963"/>
    <p:sldId xmlns:r="http://schemas.openxmlformats.org/officeDocument/2006/relationships" id="271" r:id="R2404b0c3f5c24925"/>
    <p:sldId xmlns:r="http://schemas.openxmlformats.org/officeDocument/2006/relationships" id="272" r:id="Rcc8974f3b85b4300"/>
    <p:sldId xmlns:r="http://schemas.openxmlformats.org/officeDocument/2006/relationships" id="273" r:id="Rb3f9f6e621af47ea"/>
    <p:sldId xmlns:r="http://schemas.openxmlformats.org/officeDocument/2006/relationships" id="274" r:id="R4a4bfdfe5c304440"/>
    <p:sldId xmlns:r="http://schemas.openxmlformats.org/officeDocument/2006/relationships" id="275" r:id="R8e2a259d01734760"/>
    <p:sldId xmlns:r="http://schemas.openxmlformats.org/officeDocument/2006/relationships" id="276" r:id="R392bf144abac4dd5"/>
    <p:sldId xmlns:r="http://schemas.openxmlformats.org/officeDocument/2006/relationships" id="277" r:id="Reb01cf6a85cf4bed"/>
    <p:sldId xmlns:r="http://schemas.openxmlformats.org/officeDocument/2006/relationships" id="278" r:id="Rd171a124b1b64462"/>
    <p:sldId xmlns:r="http://schemas.openxmlformats.org/officeDocument/2006/relationships" id="279" r:id="R048ac466fe164f30"/>
    <p:sldId xmlns:r="http://schemas.openxmlformats.org/officeDocument/2006/relationships" id="280" r:id="R76ae72255fdc40e0"/>
    <p:sldId xmlns:r="http://schemas.openxmlformats.org/officeDocument/2006/relationships" id="281" r:id="R8c6b194dfe374557"/>
    <p:sldId xmlns:r="http://schemas.openxmlformats.org/officeDocument/2006/relationships" id="282" r:id="Rde76b5b4894246c6"/>
    <p:sldId xmlns:r="http://schemas.openxmlformats.org/officeDocument/2006/relationships" id="283" r:id="Rea980fe13593479d"/>
    <p:sldId xmlns:r="http://schemas.openxmlformats.org/officeDocument/2006/relationships" id="284" r:id="R2c6435a0e73c41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007cb95b63493a" /><Relationship Type="http://schemas.openxmlformats.org/officeDocument/2006/relationships/slideMaster" Target="/ppt/slideMasters/slideMaster1.xml" Id="R4a53a670531c4c86" /><Relationship Type="http://schemas.openxmlformats.org/officeDocument/2006/relationships/notesMaster" Target="/ppt/notesMasters/notesMaster1.xml" Id="Ra8641ae472e8459f" /><Relationship Type="http://schemas.openxmlformats.org/officeDocument/2006/relationships/presProps" Target="/ppt/presProps.xml" Id="R6844a827d9524cf2" /><Relationship Type="http://schemas.openxmlformats.org/officeDocument/2006/relationships/tableStyles" Target="/ppt/tableStyles.xml" Id="Rc1d336fc233e4c0e" /><Relationship Type="http://schemas.openxmlformats.org/officeDocument/2006/relationships/slide" Target="/ppt/slides/slide1.xml" Id="R2acb72de08a24988" /><Relationship Type="http://schemas.openxmlformats.org/officeDocument/2006/relationships/slide" Target="/ppt/slides/slide2.xml" Id="R85686b8c844446df" /><Relationship Type="http://schemas.openxmlformats.org/officeDocument/2006/relationships/slide" Target="/ppt/slides/slide3.xml" Id="Ra7650a99043f46cf" /><Relationship Type="http://schemas.openxmlformats.org/officeDocument/2006/relationships/slide" Target="/ppt/slides/slide4.xml" Id="Ra4ad294534db45ed" /><Relationship Type="http://schemas.openxmlformats.org/officeDocument/2006/relationships/slide" Target="/ppt/slides/slide5.xml" Id="R3da1a037ae994ae3" /><Relationship Type="http://schemas.openxmlformats.org/officeDocument/2006/relationships/slide" Target="/ppt/slides/slide6.xml" Id="R333c7a7783e24455" /><Relationship Type="http://schemas.openxmlformats.org/officeDocument/2006/relationships/slide" Target="/ppt/slides/slide7.xml" Id="Rd28819db868c4363" /><Relationship Type="http://schemas.openxmlformats.org/officeDocument/2006/relationships/slide" Target="/ppt/slides/slide8.xml" Id="R50fd00e1589c46ed" /><Relationship Type="http://schemas.openxmlformats.org/officeDocument/2006/relationships/slide" Target="/ppt/slides/slide9.xml" Id="R968e853073fc4c08" /><Relationship Type="http://schemas.openxmlformats.org/officeDocument/2006/relationships/slide" Target="/ppt/slides/slide10.xml" Id="R8fa64b7626554b7c" /><Relationship Type="http://schemas.openxmlformats.org/officeDocument/2006/relationships/slide" Target="/ppt/slides/slide11.xml" Id="R74b2971f1db440a0" /><Relationship Type="http://schemas.openxmlformats.org/officeDocument/2006/relationships/slide" Target="/ppt/slides/slide12.xml" Id="Rdcb864c99e9c4914" /><Relationship Type="http://schemas.openxmlformats.org/officeDocument/2006/relationships/slide" Target="/ppt/slides/slide13.xml" Id="R88828f5b76284443" /><Relationship Type="http://schemas.openxmlformats.org/officeDocument/2006/relationships/slide" Target="/ppt/slides/slide14.xml" Id="R3b6dd96fd26e430d" /><Relationship Type="http://schemas.openxmlformats.org/officeDocument/2006/relationships/slide" Target="/ppt/slides/slide15.xml" Id="Ra1a0b1e7cb524963" /><Relationship Type="http://schemas.openxmlformats.org/officeDocument/2006/relationships/slide" Target="/ppt/slides/slide16.xml" Id="R2404b0c3f5c24925" /><Relationship Type="http://schemas.openxmlformats.org/officeDocument/2006/relationships/slide" Target="/ppt/slides/slide17.xml" Id="Rcc8974f3b85b4300" /><Relationship Type="http://schemas.openxmlformats.org/officeDocument/2006/relationships/slide" Target="/ppt/slides/slide18.xml" Id="Rb3f9f6e621af47ea" /><Relationship Type="http://schemas.openxmlformats.org/officeDocument/2006/relationships/slide" Target="/ppt/slides/slide19.xml" Id="R4a4bfdfe5c304440" /><Relationship Type="http://schemas.openxmlformats.org/officeDocument/2006/relationships/slide" Target="/ppt/slides/slide20.xml" Id="R8e2a259d01734760" /><Relationship Type="http://schemas.openxmlformats.org/officeDocument/2006/relationships/slide" Target="/ppt/slides/slide21.xml" Id="R392bf144abac4dd5" /><Relationship Type="http://schemas.openxmlformats.org/officeDocument/2006/relationships/slide" Target="/ppt/slides/slide22.xml" Id="Reb01cf6a85cf4bed" /><Relationship Type="http://schemas.openxmlformats.org/officeDocument/2006/relationships/slide" Target="/ppt/slides/slide23.xml" Id="Rd171a124b1b64462" /><Relationship Type="http://schemas.openxmlformats.org/officeDocument/2006/relationships/slide" Target="/ppt/slides/slide24.xml" Id="R048ac466fe164f30" /><Relationship Type="http://schemas.openxmlformats.org/officeDocument/2006/relationships/slide" Target="/ppt/slides/slide25.xml" Id="R76ae72255fdc40e0" /><Relationship Type="http://schemas.openxmlformats.org/officeDocument/2006/relationships/slide" Target="/ppt/slides/slide26.xml" Id="R8c6b194dfe374557" /><Relationship Type="http://schemas.openxmlformats.org/officeDocument/2006/relationships/slide" Target="/ppt/slides/slide27.xml" Id="Rde76b5b4894246c6" /><Relationship Type="http://schemas.openxmlformats.org/officeDocument/2006/relationships/slide" Target="/ppt/slides/slide28.xml" Id="Rea980fe13593479d" /><Relationship Type="http://schemas.openxmlformats.org/officeDocument/2006/relationships/slide" Target="/ppt/slides/slide29.xml" Id="R2c6435a0e73c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4058abc76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0aba471d345c5" /><Relationship Type="http://schemas.openxmlformats.org/officeDocument/2006/relationships/notesMaster" Target="/ppt/notesMasters/notesMaster1.xml" Id="R65b49c75ee8443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77ae37deff4b1c" /><Relationship Type="http://schemas.openxmlformats.org/officeDocument/2006/relationships/notesMaster" Target="/ppt/notesMasters/notesMaster1.xml" Id="Re0101cb3c3c54b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903cce79594123" /><Relationship Type="http://schemas.openxmlformats.org/officeDocument/2006/relationships/notesMaster" Target="/ppt/notesMasters/notesMaster1.xml" Id="Rea6848d5be4f4d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a043f7fce44439" /><Relationship Type="http://schemas.openxmlformats.org/officeDocument/2006/relationships/notesMaster" Target="/ppt/notesMasters/notesMaster1.xml" Id="R818995d11c7949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509c7648d64233" /><Relationship Type="http://schemas.openxmlformats.org/officeDocument/2006/relationships/notesMaster" Target="/ppt/notesMasters/notesMaster1.xml" Id="R0191768c29de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80890e71c54c5e" /><Relationship Type="http://schemas.openxmlformats.org/officeDocument/2006/relationships/notesMaster" Target="/ppt/notesMasters/notesMaster1.xml" Id="R4a8b834c325649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0d114fbf6a4688" /><Relationship Type="http://schemas.openxmlformats.org/officeDocument/2006/relationships/notesMaster" Target="/ppt/notesMasters/notesMaster1.xml" Id="R8ab14fbde48b4a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6d1a69e25c4a6d" /><Relationship Type="http://schemas.openxmlformats.org/officeDocument/2006/relationships/notesMaster" Target="/ppt/notesMasters/notesMaster1.xml" Id="Raef2eecb286940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0f9df293744473" /><Relationship Type="http://schemas.openxmlformats.org/officeDocument/2006/relationships/notesMaster" Target="/ppt/notesMasters/notesMaster1.xml" Id="Ra075d9c5087745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cacf91c50d48d1" /><Relationship Type="http://schemas.openxmlformats.org/officeDocument/2006/relationships/notesMaster" Target="/ppt/notesMasters/notesMaster1.xml" Id="Rc9e6bda3ecea48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244953ecbf43a8" /><Relationship Type="http://schemas.openxmlformats.org/officeDocument/2006/relationships/notesMaster" Target="/ppt/notesMasters/notesMaster1.xml" Id="Rdeb917be28b245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8dfd79a36040af" /><Relationship Type="http://schemas.openxmlformats.org/officeDocument/2006/relationships/notesMaster" Target="/ppt/notesMasters/notesMaster1.xml" Id="Rdca8362e52ce47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7170eaf5d64b75" /><Relationship Type="http://schemas.openxmlformats.org/officeDocument/2006/relationships/notesMaster" Target="/ppt/notesMasters/notesMaster1.xml" Id="R0e70bf6cd14b41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25d49e90fa426d" /><Relationship Type="http://schemas.openxmlformats.org/officeDocument/2006/relationships/notesMaster" Target="/ppt/notesMasters/notesMaster1.xml" Id="R0c683335bdf243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98be2c25d349e5" /><Relationship Type="http://schemas.openxmlformats.org/officeDocument/2006/relationships/notesMaster" Target="/ppt/notesMasters/notesMaster1.xml" Id="R78e77f84c6f248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72e5b88f0445e1" /><Relationship Type="http://schemas.openxmlformats.org/officeDocument/2006/relationships/notesMaster" Target="/ppt/notesMasters/notesMaster1.xml" Id="Red9768a5a15743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12ea9f2b024dc5" /><Relationship Type="http://schemas.openxmlformats.org/officeDocument/2006/relationships/notesMaster" Target="/ppt/notesMasters/notesMaster1.xml" Id="Rc80c267aa31849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7fb86b2c854ec7" /><Relationship Type="http://schemas.openxmlformats.org/officeDocument/2006/relationships/notesMaster" Target="/ppt/notesMasters/notesMaster1.xml" Id="R4a79d3fbae8444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8f5e48c6434108" /><Relationship Type="http://schemas.openxmlformats.org/officeDocument/2006/relationships/notesMaster" Target="/ppt/notesMasters/notesMaster1.xml" Id="R1325c5dfc7b441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19081cacc64e38" /><Relationship Type="http://schemas.openxmlformats.org/officeDocument/2006/relationships/notesMaster" Target="/ppt/notesMasters/notesMaster1.xml" Id="Rcab325f95b2a4f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37ef00db824bb4" /><Relationship Type="http://schemas.openxmlformats.org/officeDocument/2006/relationships/notesMaster" Target="/ppt/notesMasters/notesMaster1.xml" Id="R6984549000d648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4e289525df5435c" /><Relationship Type="http://schemas.openxmlformats.org/officeDocument/2006/relationships/notesMaster" Target="/ppt/notesMasters/notesMaster1.xml" Id="R9736b0aec86249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c0c1648bab94157" /><Relationship Type="http://schemas.openxmlformats.org/officeDocument/2006/relationships/notesMaster" Target="/ppt/notesMasters/notesMaster1.xml" Id="R5fc8535cf34b4ea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67add701e7493a" /><Relationship Type="http://schemas.openxmlformats.org/officeDocument/2006/relationships/notesMaster" Target="/ppt/notesMasters/notesMaster1.xml" Id="R884b4382f6a54aa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33da51acadf4d1f" /><Relationship Type="http://schemas.openxmlformats.org/officeDocument/2006/relationships/notesMaster" Target="/ppt/notesMasters/notesMaster1.xml" Id="Rfe6b0f0c45b94c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d510e68376f4299" /><Relationship Type="http://schemas.openxmlformats.org/officeDocument/2006/relationships/notesMaster" Target="/ppt/notesMasters/notesMaster1.xml" Id="R4d3fe75bc57143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f367b9343434f8d" /><Relationship Type="http://schemas.openxmlformats.org/officeDocument/2006/relationships/notesMaster" Target="/ppt/notesMasters/notesMaster1.xml" Id="R71689954ff7e45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417ddaf67474e1e" /><Relationship Type="http://schemas.openxmlformats.org/officeDocument/2006/relationships/notesMaster" Target="/ppt/notesMasters/notesMaster1.xml" Id="Rd2dbdce3eb6c451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90067caa5bc4b23" /><Relationship Type="http://schemas.openxmlformats.org/officeDocument/2006/relationships/notesMaster" Target="/ppt/notesMasters/notesMaster1.xml" Id="R6987fb7ccd8842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058f9291f42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1b4d8a69964993" /><Relationship Type="http://schemas.openxmlformats.org/officeDocument/2006/relationships/slideLayout" Target="/ppt/slideLayouts/slideLayout1.xml" Id="R00af032f4b074f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af032f4b074f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3948545b541a6" /><Relationship Type="http://schemas.openxmlformats.org/officeDocument/2006/relationships/notesSlide" Target="/ppt/notesSlides/notesSlide1.xml" Id="R8c33b80a54fd44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08e97b5ee4991" /><Relationship Type="http://schemas.openxmlformats.org/officeDocument/2006/relationships/notesSlide" Target="/ppt/notesSlides/notesSlide2.xml" Id="Rc0b01d694b1e48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13fea365c495d" /><Relationship Type="http://schemas.openxmlformats.org/officeDocument/2006/relationships/notesSlide" Target="/ppt/notesSlides/notesSlide3.xml" Id="Rbefed7b986004a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f2df1e1ef45ce" /><Relationship Type="http://schemas.openxmlformats.org/officeDocument/2006/relationships/notesSlide" Target="/ppt/notesSlides/notesSlide4.xml" Id="Radba779825ea43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b2727db3f4cf9" /><Relationship Type="http://schemas.openxmlformats.org/officeDocument/2006/relationships/notesSlide" Target="/ppt/notesSlides/notesSlide5.xml" Id="Rd8d00e8a686141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0b97205034191" /><Relationship Type="http://schemas.openxmlformats.org/officeDocument/2006/relationships/notesSlide" Target="/ppt/notesSlides/notesSlide6.xml" Id="R5c2bbb5b6d8b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6eeac56484849" /><Relationship Type="http://schemas.openxmlformats.org/officeDocument/2006/relationships/notesSlide" Target="/ppt/notesSlides/notesSlide7.xml" Id="Rc82be38d9b3944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5856cdc7040b1" /><Relationship Type="http://schemas.openxmlformats.org/officeDocument/2006/relationships/notesSlide" Target="/ppt/notesSlides/notesSlide8.xml" Id="Rb44cdbe0acd14d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2c10660d443a8" /><Relationship Type="http://schemas.openxmlformats.org/officeDocument/2006/relationships/notesSlide" Target="/ppt/notesSlides/notesSlide9.xml" Id="R83601b2952b649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c08bbd14d4bf3" /><Relationship Type="http://schemas.openxmlformats.org/officeDocument/2006/relationships/notesSlide" Target="/ppt/notesSlides/notesSlide10.xml" Id="R2459cb6eed7444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9e80c6e3c4f7d" /><Relationship Type="http://schemas.openxmlformats.org/officeDocument/2006/relationships/notesSlide" Target="/ppt/notesSlides/notesSlide11.xml" Id="Rfd6e96466a7143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ff6772d104eff" /><Relationship Type="http://schemas.openxmlformats.org/officeDocument/2006/relationships/notesSlide" Target="/ppt/notesSlides/notesSlide12.xml" Id="Rcc150836ba8f4f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940d31de04bc9" /><Relationship Type="http://schemas.openxmlformats.org/officeDocument/2006/relationships/image" Target="/ppt/media/image.png" Id="R2933a8443f354a2e" /><Relationship Type="http://schemas.openxmlformats.org/officeDocument/2006/relationships/notesSlide" Target="/ppt/notesSlides/notesSlide13.xml" Id="R31d185372e2c46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b09e83f1e48b3" /><Relationship Type="http://schemas.openxmlformats.org/officeDocument/2006/relationships/notesSlide" Target="/ppt/notesSlides/notesSlide14.xml" Id="R5289f7ae9b7546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9d32136594386" /><Relationship Type="http://schemas.openxmlformats.org/officeDocument/2006/relationships/notesSlide" Target="/ppt/notesSlides/notesSlide15.xml" Id="R2215afa8ab504f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95b7156264b1a" /><Relationship Type="http://schemas.openxmlformats.org/officeDocument/2006/relationships/notesSlide" Target="/ppt/notesSlides/notesSlide16.xml" Id="R450bccd333ff42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8e9d1ccda4ff5" /><Relationship Type="http://schemas.openxmlformats.org/officeDocument/2006/relationships/notesSlide" Target="/ppt/notesSlides/notesSlide17.xml" Id="Rb4e0798222fe45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d1d313dc54268" /><Relationship Type="http://schemas.openxmlformats.org/officeDocument/2006/relationships/notesSlide" Target="/ppt/notesSlides/notesSlide18.xml" Id="R952c8ffc943942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2017b53d54972" /><Relationship Type="http://schemas.openxmlformats.org/officeDocument/2006/relationships/notesSlide" Target="/ppt/notesSlides/notesSlide19.xml" Id="R130527ffd0bf48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0b851259b4acb" /><Relationship Type="http://schemas.openxmlformats.org/officeDocument/2006/relationships/notesSlide" Target="/ppt/notesSlides/notesSlide20.xml" Id="R910f420fcac943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5a971633d406b" /><Relationship Type="http://schemas.openxmlformats.org/officeDocument/2006/relationships/notesSlide" Target="/ppt/notesSlides/notesSlide21.xml" Id="R00c69f1f7dcc4c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16a7ff4a94ecd" /><Relationship Type="http://schemas.openxmlformats.org/officeDocument/2006/relationships/notesSlide" Target="/ppt/notesSlides/notesSlide22.xml" Id="R38a5cd9192ea41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110f7fd664845" /><Relationship Type="http://schemas.openxmlformats.org/officeDocument/2006/relationships/notesSlide" Target="/ppt/notesSlides/notesSlide23.xml" Id="R57b8184b85dc481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c03fd93584ea0" /><Relationship Type="http://schemas.openxmlformats.org/officeDocument/2006/relationships/notesSlide" Target="/ppt/notesSlides/notesSlide24.xml" Id="R3879028b86d943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5fe778aad432f" /><Relationship Type="http://schemas.openxmlformats.org/officeDocument/2006/relationships/notesSlide" Target="/ppt/notesSlides/notesSlide25.xml" Id="Rcc5c05d79ba546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ace15ce8b4968" /><Relationship Type="http://schemas.openxmlformats.org/officeDocument/2006/relationships/notesSlide" Target="/ppt/notesSlides/notesSlide26.xml" Id="R5566dba3e1994a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7ad2d21664c32" /><Relationship Type="http://schemas.openxmlformats.org/officeDocument/2006/relationships/notesSlide" Target="/ppt/notesSlides/notesSlide27.xml" Id="R60f3d9a56015484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84a46a37a4d99" /><Relationship Type="http://schemas.openxmlformats.org/officeDocument/2006/relationships/notesSlide" Target="/ppt/notesSlides/notesSlide28.xml" Id="R9d3839405440404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c0ccf0e3d47fd" /><Relationship Type="http://schemas.openxmlformats.org/officeDocument/2006/relationships/notesSlide" Target="/ppt/notesSlides/notesSlide29.xml" Id="R350fc33ee84a4f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C81AE-715B-47FC-9F34-953A374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81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9500D-4563-4FD8-86BE-3960279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81075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Event-Driven AV
Scenario Simulator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62AA6-EBAE-47A3-88B4-BE68A73E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524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 decisions, stochastic construction, event semantics,
and verification contracts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17F9A-2B76-46D2-8E16-5FCC2D8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0050"/>
            <a:ext cx="1390650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CA558-1090-4D27-BB63-EEBB339C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0050"/>
            <a:ext cx="1390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61B12-59B0-4CBC-9749-22FD9A3D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85800"/>
            <a:ext cx="838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E3DB0-0F7A-4937-A63E-7EBEDA6B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876425"/>
            <a:ext cx="1143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
layers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676DD-287A-4921-A467-B14285A5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09900"/>
            <a:ext cx="114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event-driven
renewal 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EF60D-730C-43D4-9D41-CE0060C6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76750"/>
            <a:ext cx="114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3 active
unknown routes</a:t>
            </a:r>
          </a:p>
        </p:txBody>
      </p:sp>
    </p:spTree>
    <p:extLst>
      <p:ext uri="{BB962C8B-B14F-4D97-AF65-F5344CB8AC3E}">
        <p14:creationId xmlns:p14="http://schemas.microsoft.com/office/powerpoint/2010/main" val="1586055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C01CE-AB40-4395-A488-81755E32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ED397-9E45-4391-914C-9715B11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simulator is a superposition of renewal processes—not a state-conditioned Markov matrix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45F41-9258-4CE4-AF18-F34DE15F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Layer, build_layer(), ScenarioSimulator.run_resumable()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2C1D8-8285-4503-A4FC-41FE64DF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DCEEF-EAA4-4163-A347-EC0E8431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34820-09F0-4D2A-A768-BE7454E5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048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S(t) = (X₀(t), X₁(t), …, X₅(t))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78E05-0CA2-401F-9D49-2E69EC0C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143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Xₖ holds one categorical element for a random Gamma sojourn. At expiry, the next element is drawn from one permanent vector qₖ.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D3521-1BE0-4EE9-950C-51CAC4CA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3905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Xₖ(next) ~ Categorical(qₖ)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73BAE-6553-4CE3-ACAA-22C3B651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524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DC824-6F8E-4479-A35E-5086195D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FE89F-100D-46A9-9E3A-ACD80FEE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row-conditioned transition matrix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4B538-54A3-4C2C-8FD4-198EA618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30670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qₖ does not depend on the current element. The current state affects episode continuity only through identity and known/unknown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8B408-D1F6-47D5-BD83-E061FB59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3524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AA286-EF69-4097-8366-DDDB82DA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63263-ECCE-42B0-9DDB-FB3C9A9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33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layer construction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985D6-42F9-47FA-AE27-C94D223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71950"/>
            <a:ext cx="30670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Element counts, rarity identities, transition vectors, clocks, and categorical draws are independent across layers except for sharing dedicated RNG streams.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01492-8084-4F00-9142-ED685A9A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524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748A7-77B7-431A-8A80-108C81C0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E7E34-5C97-4DA6-8FAE-FF41ACBF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Closed stationary product measure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D5E74-EC1D-422E-8AF8-E23EEA56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30670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For the realized model, P(S) = ∏ₖ qₖ[Xₖ]. This exact product is what makes full-scenario scoring and renewal-theory checks tractable.</a:t>
            </a:r>
          </a:p>
        </p:txBody>
      </p:sp>
    </p:spTree>
    <p:extLst>
      <p:ext uri="{BB962C8B-B14F-4D97-AF65-F5344CB8AC3E}">
        <p14:creationId xmlns:p14="http://schemas.microsoft.com/office/powerpoint/2010/main" val="1811362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9070AC-CCD3-4793-930E-CE7D8D91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5E59D-1B92-4462-8EA1-A3AE89F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Initialization freezes the stochastic model before the mileage run begins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31628-BA06-4FBB-B72A-FCD9301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config.yaml; simulator.py — SimConfig, build_layer(), FullScenarioClassifier, _new_state()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BF86-7DE2-4DBA-B2CE-72DC5E6D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752600" y="3200400"/>
            <a:ext cx="2571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3362325" y="3200400"/>
            <a:ext cx="2571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4972050" y="3200400"/>
            <a:ext cx="2571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6581775" y="3200400"/>
            <a:ext cx="2571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8191500" y="3200400"/>
            <a:ext cx="2571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9801225" y="3200400"/>
            <a:ext cx="2571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EA2B2-E509-4BDE-B4BC-C90965F7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352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8CBD8-3360-413E-9621-B167583C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765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8E8F1-71FF-4FC8-A036-84FEBC50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05125"/>
            <a:ext cx="1028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Parse YAML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AA3E4-AD79-411A-8271-7F39BE7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76625"/>
            <a:ext cx="1028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Dataclasses + strict keys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9C996-E314-4372-9FB9-4699760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24100"/>
            <a:ext cx="1352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56227-9407-4AA2-A41E-1CE4B3EC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765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8A3D9-6398-4111-BB45-7D97EA03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05125"/>
            <a:ext cx="1028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C11B3-EA57-4ACD-8901-296DC833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76625"/>
            <a:ext cx="1028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Ranges, masses, seeds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EF522-E8A8-420E-9642-3085E5E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352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E2D04-A8D6-43A6-A105-DFD8A84A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765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F67B-2A44-4CE4-ADDE-F91ED2F4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05125"/>
            <a:ext cx="1028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layers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C1DF8-0289-4B21-88C7-5799A571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76625"/>
            <a:ext cx="1028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q vectors + Gamma laws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ABE9D-F3D8-420C-A36E-F4277837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324100"/>
            <a:ext cx="1352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71668-2492-44EE-9966-9BA56F6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765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36D6E-3B1F-43AB-A65A-6E386F56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05125"/>
            <a:ext cx="1028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Calibrate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39C75-FFAD-4E40-A37A-0EDD5698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1028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Full-tuple threshold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3E7F60-B967-4525-8741-4B41F2BE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1352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D49FAD-8939-4A7A-B0C7-4307B6CD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06184-59DA-4B9E-8489-A92E2E7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1028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Initial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F9D649-52E7-4DDE-876B-DB567F4C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1028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Elements + clocks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12E5C3-1DAC-44E6-9853-C72363F7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24100"/>
            <a:ext cx="1352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CD271B-C6D6-4087-B1AF-1C306179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C82EF1-643C-4B60-BACF-D740BB6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05125"/>
            <a:ext cx="1028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events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D6AA1C-845C-4193-ABC4-9A0F4A93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76625"/>
            <a:ext cx="1028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Jump to next expiry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B3D566-ECDB-40B8-A114-67F5DC9C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24100"/>
            <a:ext cx="1352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25C8A4-9F4A-4E67-83D9-81606C0C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765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55410A-7915-4F64-A754-77DB35CA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905125"/>
            <a:ext cx="1028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Assemble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6D1A34-4355-45EA-A8BD-9A262F0C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76625"/>
            <a:ext cx="1028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Episodes + statistics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E66939-B8BA-42E1-BB8C-D25C398D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construction randomness is consumed before event 0. Runtime transitions therefore sample a fixed model realization rather than re-drawing its probability structure.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B1927F-D40D-4C78-A802-89923DE7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The only active initialization Monte Carlo is full-scenario threshold calibration; it has its own seed and cannot perturb the simulation streams.</a:t>
            </a:r>
          </a:p>
        </p:txBody>
      </p:sp>
    </p:spTree>
    <p:extLst>
      <p:ext uri="{BB962C8B-B14F-4D97-AF65-F5344CB8AC3E}">
        <p14:creationId xmlns:p14="http://schemas.microsoft.com/office/powerpoint/2010/main" val="971864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A5102-CA05-441B-AAA3-15B5EB01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D51F6-2FEE-49E1-A4C5-86AA4E32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841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tuple order is a semantic contract used by scoring, strings, rules, and reports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6ACF5-DD98-4F55-8BBE-9C16CA4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LAYER_DEFINITIONS, N_LAYERS, TRIGGERING_LAYER_INDEX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3BB4C-A3D3-4C46-BB4A-FEF26D94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75F48-9DEB-4E8F-A924-496C255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3D3D"/>
                </a:solidFill>
                <a:latin typeface="Helvetica Neue"/>
                <a:ea typeface="Helvetica Neue"/>
                <a:cs typeface="Helvetica Neue"/>
              </a:defRPr>
            </a:pPr>
            <a:r>
              <a:t>Changing this order changes scenario identity, probability multiplication, and deterministic episode ordering.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2667000"/>
                <a:gridCol w="1714500"/>
                <a:gridCol w="2667000"/>
                <a:gridCol w="3676650"/>
              </a:tblGrid>
              <a:tr h="530679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config key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active unknown route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duration role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12 fixed elements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route-segment occupancy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temporal_modifications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sampled taxonomy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visible element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temporary traffic state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ego_maneuver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sampled taxonomy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visible element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ego maneuver state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ru_maneuver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sampled taxonomy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visible element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road-user maneuver state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environmental_conditions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sampled taxonomy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weather / lighting state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triggering_conditions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sampled taxonomy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hidden category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4171C"/>
                          </a:solidFill>
                        </a:rPr>
                        <a:t>triggering-condition state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256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B6DB1-6DBC-4C30-ADF4-CA424D29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11076-AFBF-4FCF-A63F-9678D8A1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 rejects incomplete or internally inconsistent models before any RNG is constructed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60E41-55DF-4875-A357-213CE984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SimConfig.from_dict(), validate(), _validate_fixed_elements()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9C980-93FC-45F4-ABC1-AA4159B4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850A0-ECF4-427A-87B1-5EA1F505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24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0DE87-4C4F-4591-829E-A3380CAE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FC0E3-000C-49DC-A663-30D33B80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Schema and seed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61D09-D97B-4912-8DDE-27C5BF89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0670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top-level or layer keys fail. The seed mapping must contain exactly seven named integer entries; booleans are rejected as integers.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FF543-CF64-4694-9941-7D310E23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524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C3385-29EC-485F-98F6-D5E3E1F0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1BAA7-1560-4454-AB5C-A1812B4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28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Probability constraints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6CA01-496B-442F-8B7C-91105C1A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66950"/>
            <a:ext cx="30670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Rarity proportions sum to 1; known base weights are positive; unknown is forbidden in base_weights; fixed probabilities are unique, positive, and sum to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B7F58-967D-417A-9033-4E0E4DE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524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1CE48-88EE-4502-B6A7-FBAC869C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64E40-57D1-478F-BADC-64852351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28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Run-domain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79671-0422-4A07-91D4-014EB536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0670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Mileage, speed, duration floor, concentration, and window size must be positive. Full-scenario target lies in (0,1), with sufficient calibration samples.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ACCA7-7EA8-4607-81C7-DB359C8D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CE"/>
          </a:solidFill>
          <a:ln xmlns:a="http://schemas.openxmlformats.org/drawingml/2006/main" w="0">
            <a:solidFill>
              <a:srgbClr val="F8ED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766A0-58E7-4E7F-91C6-D6CFD3B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723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C6B00"/>
                </a:solidFill>
                <a:latin typeface="Helvetica Neue"/>
                <a:ea typeface="Helvetica Neue"/>
                <a:cs typeface="Helvetica Neue"/>
              </a:defRPr>
            </a:pPr>
            <a:r>
              <a:t>Exhaustive feasibility check over each configured element-count range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ED060-3489-4061-8851-21C0F1B7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723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 every integer n in [min,max], validation runs largest-remainder allocation, requires at least one unknown element when enabled, computes its weight, and enforces unknown_weight &lt; very_rare_weight.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4CDA5-B135-4ECF-93D6-DD85487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43375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it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1FABB-3F80-48B3-ABF4-8A5F024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25908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No seed can later produce an infeasible layer. Ego/RU counts 13–14 are excluded for exactly this reason.</a:t>
            </a:r>
          </a:p>
        </p:txBody>
      </p:sp>
    </p:spTree>
    <p:extLst>
      <p:ext uri="{BB962C8B-B14F-4D97-AF65-F5344CB8AC3E}">
        <p14:creationId xmlns:p14="http://schemas.microsoft.com/office/powerpoint/2010/main" val="136210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05940-ADCF-4BE0-B005-2146CF0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41F77-282E-4F94-9D3E-A0F3B965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Dedicated RNG streams make construction, runtime, and calibration independently reproducible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A500A-F758-4589-B927-CA85232A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config.yaml seeds; simulator.py — ScenarioSimulator.__init__()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1C1DE-D07F-4246-906C-821B8739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48880-D670-46DA-8AE3-82B61E36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7719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48887-2CEE-4363-8222-D3E871C0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64D52-36D2-411F-AD3B-5BA86A33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31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Isolation guarantee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70EC8-42C9-4F09-9C70-D4E99F1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3314700" cy="1114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Changing a runtime seed cannot rebuild q. Changing the calibration seed cannot alter element counts, durations, initial states, or transition samples.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E812A-F2E3-4C9E-8F8D-6BC93169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81425"/>
            <a:ext cx="37719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4C319-A593-41EE-92D5-61DA6562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81425"/>
            <a:ext cx="762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570"/>
          </a:solidFill>
          <a:ln xmlns:a="http://schemas.openxmlformats.org/drawingml/2006/main" w="0">
            <a:solidFill>
              <a:srgbClr val="5D65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CC383-F155-4F5E-ABDD-C3B458DE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90975"/>
            <a:ext cx="331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Additional deterministic seed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8D53F-C378-4E72-94C8-A62C5765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29125"/>
            <a:ext cx="3314700" cy="1266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global_seed belongs only to the optional SHA-256 classifier. With hash combinations disabled, it is not consumed or evaluated.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733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571750"/>
                <a:gridCol w="2381250"/>
              </a:tblGrid>
              <a:tr h="47625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stream / seed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consumer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active configuration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element_count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uniform taxonomy cardinalities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active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rarity_assignment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shuffle rarity identities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active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transition_matrix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Dirichlet q vectors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active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duration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all Gamma sojourns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active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initial_state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t=0 categorical elements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active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transition_sampling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runtime categorical elements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active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pattern_rules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generated pattern definitions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dormant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calibration_seed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full-scenario Monte Carlo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active, dedicated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4E4C1-9A7E-4BDD-B882-3756CA29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3EA92-8918-458A-A9EE-069179B0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14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Layer construction branches once: fixed route evidence versus sampled taxonomy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6E2C9-4C8C-4EB6-B210-3BCA3B4A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build_layer()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DE0AB-E01F-4CB2-AFB1-2401EF0A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096000" y="1676400"/>
            <a:ext cx="286" cy="396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1CF27-44AB-4D10-B693-140ECEDD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FIXED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DD2AA-C47B-46DF-82E4-C8E88BA7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C1B51-5342-474E-8B53-26B0741A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12F6F-46D5-4769-8303-29A45B88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86050"/>
            <a:ext cx="49625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Read configured names and probabilities.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BDD50-3CF7-45E7-830F-53607215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05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F8BD7-C76F-416E-AD58-FAE59166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0"/>
            <a:ext cx="49625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 only for floating-point tolerance.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F3D17-254B-4FF2-B048-9BAA1602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42369-184C-4D3C-B303-8DBDE087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90950"/>
            <a:ext cx="49625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same vector for t=0 and every transition.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9653E-6700-486F-9391-F3796ACF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0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FC0BC-26C0-4ACF-BDBF-041BBA83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43400"/>
            <a:ext cx="49625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Assign cosmetic rarity bands for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2CEDF-4B12-4C70-BC0A-CA4781F4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2FE92-75F1-4CE3-BB94-8A0C1C33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95850"/>
            <a:ext cx="49625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Consume no element-count, rarity, or Dirichlet RNG.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E7E28-165C-4942-9A01-0C910207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SAMPLED BRANCH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958FA-221B-400D-AAC0-DB4F7833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 configurable taxonomies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DC8B5-CDDA-4D11-9460-C87D6148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6462E-A475-43A1-93A8-30A1066B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686050"/>
            <a:ext cx="5057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Draw n uniformly from the layer range.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B9FC7-961A-4603-9B55-6EE65E2C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05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365BC-C5AF-4C83-A990-5450C002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38500"/>
            <a:ext cx="5057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Allocate integer rarity counts and shuffle identities.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515FF-7137-46FD-A699-7610B287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0DF9A-B911-4AC0-95B2-4108553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90950"/>
            <a:ext cx="5057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Convert rarity labels into normalized design weights π.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B57A1-B114-4DF2-86BF-D531788D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0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C6D34-7798-41C4-A0BE-30E1B42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43400"/>
            <a:ext cx="5057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Draw one permanent q ~ Dirichlet(cπ).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2C52B-E18A-47E2-BBCA-6D11DB95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4527D4-4AB0-4A26-8A1B-72B46CBA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95850"/>
            <a:ext cx="5057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Precompute cumulative arrays for O(log n) sampling.</a:t>
            </a:r>
          </a:p>
        </p:txBody>
      </p:sp>
    </p:spTree>
    <p:extLst>
      <p:ext uri="{BB962C8B-B14F-4D97-AF65-F5344CB8AC3E}">
        <p14:creationId xmlns:p14="http://schemas.microsoft.com/office/powerpoint/2010/main" val="1930738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28F2E-63E8-4F40-BC94-6F18D095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9AA6B-3010-4EAD-9674-3A16E2A0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254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Street probabilities are treated as route evidence, not uncertain model weights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D49D2-C53B-4FA5-9E42-B1C130BE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Configuration: config.yaml layers.street; implementation: simulator.py — fixed build_layer branch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10B24-249B-4075-8460-7B804EF8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DA257-3D6A-4417-B13E-749E6009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286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EC4EA-377B-482C-9457-B0B9E40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752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04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qstreet = πstreet = configured shares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8E1D8-A70C-4212-A8F3-624919A8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Dirichlet draw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2FDCA-AA36-4397-9A27-997F2541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429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12-element vector is used exactly as the permanent transition vector and initial-state distribution.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C31A4-8E45-4CC8-91FA-CB0A5CA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elements are known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E65B4-3FB3-490B-A572-51EA27B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street layer cannot open an element episode. Probability-band rarity labels are reporting metadata only.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DCD57-E45A-4980-8790-1FAE5B17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764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Configured route composition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5143500" y="2657475"/>
            <a:ext cx="619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3501D-59F8-4878-93AF-9BE4DE7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438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constant_lane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8A4FC-2A4D-4E65-B3F0-AB8C209F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2885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49.3%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5143500" y="3248025"/>
            <a:ext cx="619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BF1F2-9EE8-42A3-9061-FFF70B76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19400"/>
            <a:ext cx="438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forced_merge_proceeding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0584E-F65F-4677-9D29-05CE726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16.9%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5143500" y="3838575"/>
            <a:ext cx="619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B789D-2F3D-4C2F-81B6-5AA670C1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9950"/>
            <a:ext cx="438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overlap_zone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206B9-66E4-4102-BC44-4091BBC9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0995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9.5%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5143500" y="4429125"/>
            <a:ext cx="619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D92E5-2F6A-41B1-A684-B28345E5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438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road_split_proceeding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CD02A-87E2-459D-88F1-5F4D1B2B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7.9%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5143500" y="5019675"/>
            <a:ext cx="619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22BB2-1EF7-4D15-9170-AB450759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438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lane_split_proceeding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CEE9C-547C-4D22-84E5-7111FBA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7.2%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5143500" y="5610225"/>
            <a:ext cx="619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4D5B6-EBBC-4213-9DCE-5C5606A1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81600"/>
            <a:ext cx="438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remaining 7 elements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6F596-1581-4062-8DE8-B174070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816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9.2%</a:t>
            </a:r>
          </a:p>
        </p:txBody>
      </p:sp>
    </p:spTree>
    <p:extLst>
      <p:ext uri="{BB962C8B-B14F-4D97-AF65-F5344CB8AC3E}">
        <p14:creationId xmlns:p14="http://schemas.microsoft.com/office/powerpoint/2010/main" val="1273401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8B949-1C1F-4E4D-A231-28D7DDFD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B7ED9-C7C8-48CD-9BCB-E2797BD7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274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Layer cardinalities and Gamma moments encode heterogeneous physical time scales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679ED-A07E-4EBB-957E-094786DA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Configuration: config.yaml layers; provenance: research_element_counts.md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FDB42-7147-4183-99C9-5015748F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540D3-16AF-4D80-A7AC-D1AEE5E6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Element count is sampled uniformly, inclusive of both bounds. Duration parameters are layer-wide: element identity does not change the sojourn law.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11391900" cy="421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333500"/>
                <a:gridCol w="1381125"/>
                <a:gridCol w="1428750"/>
                <a:gridCol w="1619250"/>
                <a:gridCol w="3057525"/>
              </a:tblGrid>
              <a:tr h="601436"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FFFFFF"/>
                          </a:solidFill>
                        </a:rPr>
                        <a:t>elements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FFFFFF"/>
                          </a:solidFill>
                        </a:rPr>
                        <a:t>mean s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FFFFFF"/>
                          </a:solidFill>
                        </a:rPr>
                        <a:t>variance s²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FFFFFF"/>
                          </a:solidFill>
                        </a:rPr>
                        <a:t>unknown handling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FFFFFF"/>
                          </a:solidFill>
                        </a:rPr>
                        <a:t>choice rationale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12 fixed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300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20,000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exact route composition</a:t>
                      </a:r>
                    </a:p>
                  </a:txBody>
                  <a:tcPr marL="91440" marR="91440" marT="45720" marB="45720"/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temporal modifications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30–46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90,000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visible element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46 MUTCD applications; min is modeling choice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ego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7–12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400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visible element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taxonomy evidence; 13–14 infeasible</a:t>
                      </a:r>
                    </a:p>
                  </a:txBody>
                  <a:tcPr marL="91440" marR="91440" marT="45720" marB="45720"/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road-user maneuver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7–12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900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visible element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same taxonomy / feasibility logic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15–21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1,800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500,000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CARLA / PAS 1883 range</a:t>
                      </a:r>
                    </a:p>
                  </a:txBody>
                  <a:tcPr marL="91440" marR="91440" marT="45720" marB="45720"/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triggering conditions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50–100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8,000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hidden category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>
                          <a:solidFill>
                            <a:srgbClr val="14171C"/>
                          </a:solidFill>
                        </a:rPr>
                        <a:t>placeholder retained; explicit TODO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981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70B7C7-761D-4A53-916A-C292B00F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2ABAB-869B-4E82-A085-8FDEAE3D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304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Largest-remainder allocation preserves the rarity mix at integer cardinality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1AA9B-1BA2-4DC8-942A-21386381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assign_rarity_counts(); configuration: rarity_proportions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FEB0B-C040-4A21-A57E-209E7666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D2B63-41CF-42C4-92A7-3F86C87A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Configured proportions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A058A-50E2-470F-86B2-C47711C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114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F36A5-EDC3-47A0-BF9F-FC937DEC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651AD-456A-48C5-9CBA-19E3FF03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717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76653-BDEE-44B3-9D16-60494219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114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F5885-3C10-4963-95DD-C089C8C9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medium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48849-0361-411E-AE92-2E076863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051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65283-3A70-40C9-AC02-6FA916A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114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7C563-217F-4B86-A95F-ED0E3950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7FF73-EB3A-4D7A-B778-3D58D9B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64DB6-391D-445B-9507-AA4B5813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14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6B00"/>
          </a:solidFill>
          <a:ln xmlns:a="http://schemas.openxmlformats.org/drawingml/2006/main" w="0">
            <a:solidFill>
              <a:srgbClr val="9C6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D6EDD-C18D-485A-AA44-278DB76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very rare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CC877-3101-4852-B94E-8ACA345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970E8-7D60-4823-B685-0CCA5723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4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DE841-E1E9-4346-862B-C9E29C4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D678F-7E57-4B99-B483-C6A86F30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053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0.10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3695700" y="1619250"/>
            <a:ext cx="286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FCFA6-315E-496B-9D26-011F1051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764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Example: n =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111EC-277C-4716-A825-DCFF8B1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717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exact counts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57E3E-00F1-426C-9A97-79602796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336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5.0   2.5   1.0   0.5   1.0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E1D9D-9CB7-41F9-8133-EF4E605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861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floor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1231F-BD07-46FC-83DA-0B7E9548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4805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4ABB6-B913-4AAA-B357-B1AA047A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4805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8B9D4-797B-418B-9BD6-F2D584FD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4805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D5638C-D298-4DC8-8FDB-69CB2D4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4805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139692-5625-4A91-A4BE-4517EFD6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49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BEEE17-304D-448D-B3C0-FDB7D69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005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one remaining element → largest fractional remainder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D96D6-1D9E-4507-AC6A-6F1DE3EF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14850"/>
            <a:ext cx="419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D1C11C-1FDD-4CB7-B8D4-BA97004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76775"/>
            <a:ext cx="3733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final counts: 5 / 3 / 1 / 0 /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CFBE4C-A8CC-4744-8F7F-7D63854C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9337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0F530-F9C5-4456-B578-6D50ECA1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762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B76A1B-686D-4BD1-8A78-9E7B1483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859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0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assignment is random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DC4AC-CF5D-4D6B-AE7B-F6E56DF1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47650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The count allocation is deterministic for n, but rarity labels are shuffled across synthetic names prefix_000…prefix_n.
For allow_unknown=false, the four known proportions are renormalized before allocation; unknown receives exactly zero.</a:t>
            </a:r>
          </a:p>
        </p:txBody>
      </p:sp>
    </p:spTree>
    <p:extLst>
      <p:ext uri="{BB962C8B-B14F-4D97-AF65-F5344CB8AC3E}">
        <p14:creationId xmlns:p14="http://schemas.microsoft.com/office/powerpoint/2010/main" val="1018983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E5388-B71F-4C9B-8FAA-FDCA71B0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73E43-54FA-49FC-8F42-5709DA45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48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calculated unknown weight solves for 0.4% design mass and preserves rarity ordering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3DC2E-2CE8-4054-9D10-E754870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compute_unknown_weight(); configuration: unknown_weight_mode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9D313-9B7C-4614-98F8-0B5EAA2E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46D00-2878-4F16-81C5-C1D96C4C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CDBBB-6E82-42DC-A689-CC0D2C21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552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 = p · Mknown / [nu · (1 − p)]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F91AE-CAC4-4083-BB15-D0025EF1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9775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Mknown = Σr nr wr     p = 0.004     nu = number of unknown elements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4E2F3-E253-400D-A702-D2B90864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3524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9A9DE-A3DD-4AF1-B873-71309241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A2A6E-0474-4D82-B10D-66AC52A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this equation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A9C09-8294-48B8-B295-30127027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0670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After inserting nu copies of w and normalizing all weights, the total probability assigned to unknown elements is exactly 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8A0D5-F783-4A42-8904-DA94A0A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19450"/>
            <a:ext cx="3524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12EB9-512A-45A8-A870-8FF97EAA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19450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ADE05-C014-4942-84F0-CBD5E31A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290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Feasibility invariant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783AE-5664-476C-9E8A-66DC9D4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67150"/>
            <a:ext cx="30670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w must be strictly less than the very-rare weight 0.03. Otherwise an “unknown” would be more probable than the category immediately above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A02DE-4EA3-48DE-9A9D-08DC871F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524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4A958-5754-45DF-B992-48A96251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243FF-8E84-41D9-981A-8959DC3C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 = 10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7FA04-7444-4A69-AC8C-D0E723FF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30670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Counts 5/3/1/0/1 give Mknown = 6.3 and w ≈ 0.02530. This is feasible because 0.02530 &lt; 0.03.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FDA35-F3BE-476F-8CCE-83B5D1AD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Fixed mode is available, but the active configuration uses calculated mode. Validation applies the same ordering check to fixed_unknown_weight.</a:t>
            </a:r>
          </a:p>
        </p:txBody>
      </p:sp>
    </p:spTree>
    <p:extLst>
      <p:ext uri="{BB962C8B-B14F-4D97-AF65-F5344CB8AC3E}">
        <p14:creationId xmlns:p14="http://schemas.microsoft.com/office/powerpoint/2010/main" val="985581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1EC38-2745-4DC8-B412-815F88A8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88E8C-D949-42A9-8738-D33B5EAC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99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Dirichlet draw creates a permanent transition vector for each sampled layer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E0E18-E70E-44C5-A08C-DFB385BC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build_layer(); configuration: concentration_scale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56ED3-47FA-40E8-9F44-440D386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B1859-3EED-47E9-851A-07BA9B41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DAC3D-A06C-4029-9CD1-756403F9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33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π = normalized rarity 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350BA-0302-4C62-A61E-826E8C4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1809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α = cπ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31CB0-D455-426B-8B9B-952142DD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3143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q ~ Dirichlet(α)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3810000" y="2143125"/>
            <a:ext cx="666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6419850" y="2143125"/>
            <a:ext cx="6286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CE36B-A25C-48EE-8633-62526826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3524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BCD74-12AA-46FD-98C4-F2C6047D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62476-4AF3-4AD7-9B5C-14EE9FAD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Permanent realization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B4FB1-0876-4408-9A21-E77AEBA6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30670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q is sampled once during construction and reused for every transition. Longer simulations reduce runtime sampling error but cannot change this construction draw.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3C2A8-50AE-4A78-BF35-01E2B43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3524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DFA2D-80E1-4511-A706-6CF8E4C6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4829F-F6E3-4216-9C85-DD9C706C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242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Vector, not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F73FC-19D9-4AEE-BCAB-A220C65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62400"/>
            <a:ext cx="30670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Every expiry samples from the same cumulative q array. Current element identity is only used when optional rejection forbids self-transitions.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899C8-C35A-48DD-A605-C490CF0D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3524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90963-AAC3-42ED-8253-D11C85A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9409D-1A51-4602-8E13-02D86441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Efficient sampling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7AC72-7BB3-4E34-8D4D-AC20D46B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62400"/>
            <a:ext cx="30670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Cumulative probabilities are precomputed. A uniform variate is mapped by binary search; the final index guards floating-point tail error.</a:t>
            </a:r>
          </a:p>
        </p:txBody>
      </p:sp>
    </p:spTree>
    <p:extLst>
      <p:ext uri="{BB962C8B-B14F-4D97-AF65-F5344CB8AC3E}">
        <p14:creationId xmlns:p14="http://schemas.microsoft.com/office/powerpoint/2010/main" val="4692449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117FE-4C95-4623-934A-52D211A0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8E95B-F1AF-4057-8DFD-FE65CD40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381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 = 20,000 controls construction uncertainty—not runtime Monte Carlo noise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919DD-B117-49B4-BD18-6F1387DE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Evidence: concentration_study.md / concentration_study.png; implementation: config.yaml concentration_scale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DD8BE-0601-4D98-A0E0-C0C9D124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3A54D-A2C6-4D7C-B20E-EF8BFC25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4866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94FFE-B097-4D87-B1E3-BD0D06EE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A941E-FA4E-453A-AE0F-56DC36F6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2148C-841C-4D39-99EB-E274D2D5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316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Analytical variance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3D0CC-7C89-4E4E-A71B-30E872A9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mass ~ Beta(cp, c(1−p)); SD = √[p(1−p)/(c+1)].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D2EB2-9BEE-4B19-A4D8-A557239A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E5425-AA69-4347-B082-C44E54D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D23D1-D194-430E-87FE-6FB0A79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316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Selection criterion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0D47C-5282-47A0-BB80-6F6ACFF3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4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Smallest tested c with ≥95% of draws inside ±25% of the 0.4% target for every representative layer.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EE87F-AE4C-4319-B5C2-A2E34CCA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361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DD09A-12B1-4D40-924D-5691FEFC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66249-CD24-451B-BE55-F81A2213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05350"/>
            <a:ext cx="316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43732-29ED-4CF0-B3B7-35454B7C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3162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Higher c preserves designed weights. Lower c deliberately introduces model-to-model variability; it does not create richer temporal dependence.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3a8443f354a2e"/>
          <a:stretch xmlns:a="http://schemas.openxmlformats.org/drawingml/2006/main"/>
        </p:blipFill>
        <p:spPr>
          <a:xfrm xmlns:a="http://schemas.openxmlformats.org/drawingml/2006/main">
            <a:off x="514350" y="2212181"/>
            <a:ext cx="7258050" cy="3024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883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972C5-E6D0-4501-B71E-14014AA2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3E4F5-1918-47FC-ACE3-829DCF90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11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Initial-state and transition distributions are deliberately distinct for sampled layers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5E96F-FF3D-4B53-82F6-DFCE77DA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Layer.initial_probs, transition_probs, sample_initial_index(), sample_next_index()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1C3FC-ACFA-4D88-8C91-C54DA762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6096000" y="1676400"/>
            <a:ext cx="286" cy="398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4C0FA-2DD9-4E3E-8563-3EC0D7B1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9318D-128F-498F-A05D-FF4F59F2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495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Xₖ(0) ~ Categorical(πₖ)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6321C-73FE-4367-9D5E-072C6F8E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863F5-DFC4-4068-B47C-03D8FDBC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00400"/>
            <a:ext cx="496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π is the normalized design-weight vector.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B8E22-BDD0-4066-8EB9-170B611A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F32D1-1653-41C4-9454-77D33E34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29050"/>
            <a:ext cx="496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Initial state does not use the realized Dirichlet q.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386D0-EF33-4441-AA5F-A8710C3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67FC9-BF7E-42C6-A723-9B895887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57700"/>
            <a:ext cx="49625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Street is the exception: πstreet = qstreet.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A0F49-5513-4BDD-A4A0-74C35AB6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Every later expiry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B4863-F61B-4316-83EB-BB54BB31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95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Xₖ(next) ~ Categorical(qₖ)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CF9AB-F0E3-4A13-BA4F-8D50B48A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6898B-B032-4821-AEFA-B727ED49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00400"/>
            <a:ext cx="50577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q is the once-drawn permanent transition vector.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75EC5-6773-4C0F-B0C7-AF63F6E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95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9D3F8-E66E-421E-B118-85CA0A42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29050"/>
            <a:ext cx="50577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Long-run occupancy converges to q.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4906F-C67F-433E-9AF8-C548E120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AB3DE-3DA7-4116-B9E5-AEC7DE4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50577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The π-drawn initial sample creates only a one-state transient.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C9D1F-657F-4AED-A8C0-32A95780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CE"/>
          </a:solidFill>
          <a:ln xmlns:a="http://schemas.openxmlformats.org/drawingml/2006/main" w="0">
            <a:solidFill>
              <a:srgbClr val="F8ED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FBE16-E1C5-4137-92C0-757F16C9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6B00"/>
                </a:solidFill>
                <a:latin typeface="Helvetica Neue"/>
                <a:ea typeface="Helvetica Neue"/>
                <a:cs typeface="Helvetica Neue"/>
              </a:defRPr>
            </a:pPr>
            <a:r>
              <a:t>Expert implication: construction-level analytical predictions should distinguish design mass under π from conditional mass under realized q.</a:t>
            </a:r>
          </a:p>
        </p:txBody>
      </p:sp>
    </p:spTree>
    <p:extLst>
      <p:ext uri="{BB962C8B-B14F-4D97-AF65-F5344CB8AC3E}">
        <p14:creationId xmlns:p14="http://schemas.microsoft.com/office/powerpoint/2010/main" val="17072330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A8D6D-8A30-41C1-95DB-754A55F4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C7F9A-0FE1-42D7-8FD6-45C7A0E4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359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Gamma sojourns match each layer’s configured mean and variance, then receive a 1 s floor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D6281-600F-4F72-9359-47DE82C3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build_layer(), sample_gamma_duration(); configuration: layer duration moments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E4077-3DE3-42CA-A5DE-0188FB4F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8CE67-83B5-4E7A-91A5-29AE18D7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D6303-4B5E-4701-8D1F-D96BB732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shape κ = μ² / σ²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D8581-78D4-4B7C-8B4A-66C84037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scale θ = σ² / 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EDE19-8C87-46C3-93AD-0CF4E520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E[D] = κθ = 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F426B-E266-48E3-8991-FF2A1A09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31813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D3F3E-10D9-4AF9-B449-BEE8A8A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762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9CECF-0630-4AAF-B9E4-7FE1642F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Sampling choice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64E23-8EDF-489F-B8A5-36AD64EE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2724150" cy="2362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Python’s gammavariate(κ, θ) is used for initial and replacement durations.
D ← max(D, 1 s)
A self-transition still draws a new duration: the element identity persists, but the renewal clock resets.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00050" y="2647950"/>
          <a:ext xmlns:a="http://schemas.openxmlformats.org/drawingml/2006/main" cx="790575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238250"/>
                <a:gridCol w="1428750"/>
                <a:gridCol w="1143000"/>
                <a:gridCol w="1238250"/>
              </a:tblGrid>
              <a:tr h="45720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μ (s)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σ² (s²)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κ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θ (s)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300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20,000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4.50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66.67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temporal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90,000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4.00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150.00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ego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400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2.25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13.33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road user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900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2.25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20.00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1,800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500,000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6.48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277.78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trigger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8,000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1.80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66.67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352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062868-7579-446C-A68F-C92646D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3EBA0-3097-4563-B304-B790FE91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engine advances directly from expiry to expiry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413C5-44B1-4F9E-A659-4415E4F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ScenarioSimulator.run_resumable()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72AAE-3111-46DF-A229-AE8C37B5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2152650" y="2828925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4229100" y="2828925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6305550" y="2828925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8382000" y="2828925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984DF-6700-49F9-9FB7-B44FDEE3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752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80D02-8C87-40F4-A6E2-FB084808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B58A4-8C01-413D-8F6A-F6DCC20D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Find next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557F4-6715-48C6-AA26-D5192B1E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dt = min(remaining)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F58EC-25DB-40C8-90DC-DBEEE9AE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1752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902CB-E9EE-4FB8-8B63-7293C173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F44D3-6B4F-43B5-91A2-D6B87E99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09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Advance clocks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B819A-93A1-4B09-AB8A-26933A2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861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t += dt; rₖ -= 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4CB27-379F-49E5-A1E3-32B1FB8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1752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CE086-B929-47E3-9B35-39B551EC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878C9-2A29-4977-8868-962C8C5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Advance mileage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9FF77-B5E2-4C0E-8BAD-DFE009AC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m += mph·dt/3600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5B81C-1B3C-4983-A05B-D8BBF3A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1752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7B477-705D-4F47-9186-263066E6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D4A0F-35C5-4EB8-9F5A-35230CEC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9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Transition expiries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EA7E7-242A-43C9-A1A4-AA40A23A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all rₖ ≤ 10⁻¹²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5597E-77A2-4480-B176-5286D161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33600"/>
            <a:ext cx="1752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DCCB5-9F69-4A03-8587-F93B05F9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96D3E7-4841-40AE-9A90-660BBA83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Evaluate tuples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0F94AD-099D-4B2A-987E-CC8C252A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once after updates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9E04C-EC98-40AD-BD2C-1EDF2B7D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391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A55520-28C6-407E-AFC8-1B87FCE4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Computational choice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2C33B-24CF-46B5-A26D-B69E4C2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953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Cost scales with the number of renewal events, not with elapsed seconds or miles. Slow layers do not force unnecessary time steps.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6D5A29-9A82-4B56-B740-A2E4C5A6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Stopping choice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25CFF7-051A-4C06-A30D-B53E9229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5048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loop stops after the first event whose mileage reaches or exceeds the target. It does not interpolate within the final sojourn, so final mileage may slightly overshoot.</a:t>
            </a:r>
          </a:p>
        </p:txBody>
      </p:sp>
    </p:spTree>
    <p:extLst>
      <p:ext uri="{BB962C8B-B14F-4D97-AF65-F5344CB8AC3E}">
        <p14:creationId xmlns:p14="http://schemas.microsoft.com/office/powerpoint/2010/main" val="12550365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0EC87-A2CF-4724-9016-1F8BA4A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431CD-9DB0-4C0B-90B7-54B417C6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679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Simultaneous expiries form one event; self-hops consume time without changing the tuple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E7289-ED64-443A-B528-86E149B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expired-layer loop and changed flag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3A3AE-1AB4-448B-B252-9307E370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762000" y="2762250"/>
            <a:ext cx="10572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9FD31-F8A9-4982-88A5-04F74931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8C40C-5C56-4333-9ECB-99C87D8C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F41A8-1A3F-48FF-B5BF-ECDA1D36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expires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16D2A-8304-4447-9957-6170D49A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ED265-B13B-4D61-8C49-C9C6648D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860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AC4CF-9CF9-4EA5-9DF8-6EFB62B5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289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expires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F687D-09E6-43E3-BAF6-CB4A62D4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93FD3-DCDA-4715-929C-E924E83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860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road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7A9FD-33A0-4C4A-84BA-E13BAE61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expires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CB778-5422-4788-8EBC-287E03E1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6B00"/>
          </a:solidFill>
          <a:ln xmlns:a="http://schemas.openxmlformats.org/drawingml/2006/main" w="0">
            <a:solidFill>
              <a:srgbClr val="9C6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30046-9F17-4BFB-A5F5-AB35921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3FD29-4E22-41EA-BA8E-3163BBA7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289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not expired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FC5F8-5E4E-45FE-B3FD-A756A855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4D15C-A88F-4185-9CE9-4621C154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860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7AA71-0E7E-4E48-9B9C-0637C4A2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expires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EA930-A777-49B2-B50B-2518C62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52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84BB3-776D-4807-9369-6AC1036E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50398-FF8E-4E14-8CA5-4EE9FAA4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update order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9722F-1D42-4DB3-AA2A-5FF3344E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3067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Expired layers are processed in fixed tuple order. They share one transition RNG, so ordering is part of the reproducibility contract.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17DCF-7D72-42F6-B2ED-A86F5615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57600"/>
            <a:ext cx="352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87DD3-E5EB-49A1-B6F5-6F5A57F6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576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81CE8-7A68-485D-AA9D-80ADF1F8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671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Self-transition semantics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4433F1-855D-4C85-A289-DD5DB72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05300"/>
            <a:ext cx="3067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If next == current, changed remains false for that layer. Its episode continues, tuple-level episodes do not split, and a fresh duration is still sampled.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9CE854-4953-49C4-ADA9-870450A0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352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881A71-3696-4A97-A061-247BC83E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BCF1E8-A259-451A-BDA8-925F11CD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Atomic tuple evaluation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15AC8-89D1-4738-BC32-3DF819ED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3067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Pattern, hash, and full-scenario logic runs once after every simultaneously expired layer has been updated. Intermediate tuples are never classified.</a:t>
            </a:r>
          </a:p>
        </p:txBody>
      </p:sp>
    </p:spTree>
    <p:extLst>
      <p:ext uri="{BB962C8B-B14F-4D97-AF65-F5344CB8AC3E}">
        <p14:creationId xmlns:p14="http://schemas.microsoft.com/office/powerpoint/2010/main" val="8538029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258E2A-7439-47C6-AAEA-08833FA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97BE9-DEA5-40C0-9975-ACEA8B92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Element episodes are a four-case automaton scoped to one layer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30CD3-3BB8-4CCC-8A3C-D03E74E8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episode_transition_action(); inline hot-loop equivalent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39079-FB89-4E0F-A2A4-965B54FB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905125" y="2714625"/>
            <a:ext cx="2190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7096125" y="2714625"/>
            <a:ext cx="2190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6096000" y="3562350"/>
            <a:ext cx="286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2794A-68B3-48CB-8C8A-3C9C2BA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381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7"/>
          </a:solidFill>
          <a:ln xmlns:a="http://schemas.openxmlformats.org/drawingml/2006/main" w="0">
            <a:solidFill>
              <a:srgbClr val="DFF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0635C-399C-4214-B5D4-73502BEC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752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67A4B"/>
                </a:solidFill>
                <a:latin typeface="Helvetica Neue"/>
                <a:ea typeface="Helvetica Neue"/>
                <a:cs typeface="Helvetica Neue"/>
              </a:defRPr>
            </a:pPr>
            <a:r>
              <a:t>KNOWN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1E9EF-A946-463D-B3ED-5D8BBF0B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no open slot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017C0-C58D-4F0F-A066-B955CDA4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0025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E1"/>
          </a:solidFill>
          <a:ln xmlns:a="http://schemas.openxmlformats.org/drawingml/2006/main" w="0">
            <a:solidFill>
              <a:srgbClr val="F8E1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12151-D3D8-4DC9-9BDF-DC7204BE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38375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63D3D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2DFB1-27F1-4EFE-B233-6F8F14C2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episode open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3DDE1-4641-4097-92FF-0B41C560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0250"/>
            <a:ext cx="25050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FA"/>
          </a:solidFill>
          <a:ln xmlns:a="http://schemas.openxmlformats.org/drawingml/2006/main" w="0">
            <a:solidFill>
              <a:srgbClr val="ECE7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75C45-D417-47D1-8407-85497937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38375"/>
            <a:ext cx="18764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633D9-4F49-44B7-A4F0-515892B2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8764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close A + open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39BC7-3B5F-4A18-B364-617DFCC6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2047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known → unknown: 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23F2C-B187-4C18-95E1-D418916E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1952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A → B: restart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F4893-4448-45D7-81AF-66AC0B7F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24175"/>
            <a:ext cx="2047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7A4B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→ known: close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825D8-5389-4B79-A0F4-F87475E7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3009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48E36-2B0D-4B76-8962-8066D69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self-hop A →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E3D07-DC88-4704-9FC5-D6AF1CF4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435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continue; do not close or reopen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82C5A-9243-4322-B003-EB7C4168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Other layers are irrelevant to this automaton. Direct unknown-to-unknown identity changes split episodes at the same timestamp; open episodes at run end close with truncated = true.</a:t>
            </a:r>
          </a:p>
        </p:txBody>
      </p:sp>
    </p:spTree>
    <p:extLst>
      <p:ext uri="{BB962C8B-B14F-4D97-AF65-F5344CB8AC3E}">
        <p14:creationId xmlns:p14="http://schemas.microsoft.com/office/powerpoint/2010/main" val="16639790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5695D-97ED-4D44-9787-0595B049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8DA8A-E8DA-4545-9499-C91F844C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Triggering-condition unknowns are continuous hidden-category periods, not element identities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1B579-1146-4398-B172-348EBC72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TRIGGERING_LAYER_INDEX branch; configuration: enable_hidden_triggering_unknowns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C55E7-B441-4259-A472-2B0BB1F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897E8-0D70-481E-AE01-8598A8F5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Visible-layer semantics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08180-FF45-4650-876F-1AED3129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72A1F-A97D-4452-982A-8BF245D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88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A → unknown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77424-B399-47EA-BD8F-B90DE04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close A; open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3BB87-D172-43EC-94C4-04BBF420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is observable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90A00-EAC4-43D4-A321-588752C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Triggering-layer semantics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427DE-971B-4B27-960D-7F8344E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FA"/>
          </a:solidFill>
          <a:ln xmlns:a="http://schemas.openxmlformats.org/drawingml/2006/main" w="0">
            <a:solidFill>
              <a:srgbClr val="ECE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82CBD-6B45-4C13-A6A1-E3801EBA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88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A → unknown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1E287-CDFE-4242-B18A-F0C40C21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continue same hidden period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F8397-B2F1-4C04-9CB5-47B30A0B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is intentionally hidden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2A6E6-487C-4AB7-8D8A-0568D5A9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524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1C072-0D4B-43ED-B491-CA4E1D0C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66D0C-CEAB-47CC-84C4-D6182195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Episode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CAE75-0E34-4E83-84E8-B98D0447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30670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type = hidden_triggering_unknown
layer = triggering_conditions
element = hidden_triggering_unknown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CD440-F52E-4E14-91B2-D494ACA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3524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BA45C-DE85-4A80-96BF-2A3619D3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5B447-F9BD-41D2-8436-D75113C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433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Opening and closing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068EA-DD3A-45C5-B952-4F4BA554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81500"/>
            <a:ext cx="30670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Open on known → any unknown. Close on any unknown → known. Unknown identity changes do not split the episode.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3C0B8-1937-4867-A27A-B21A94B1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3524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AD0E1-8C58-4C3E-9DF9-A351F16C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B3E82-4256-48CC-93B9-947E8FA6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Bookkeeping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3F528-C2DA-4704-B49C-912A7953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30670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One dedicated open slot and episode counter. The generic active-episode union clock is still used.</a:t>
            </a:r>
          </a:p>
        </p:txBody>
      </p:sp>
    </p:spTree>
    <p:extLst>
      <p:ext uri="{BB962C8B-B14F-4D97-AF65-F5344CB8AC3E}">
        <p14:creationId xmlns:p14="http://schemas.microsoft.com/office/powerpoint/2010/main" val="14075302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F2CC4E-E3B4-41EF-9EB7-35FFA617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66763-AD30-494D-BB36-CF6B72F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Full-scenario rarity scores complete all-known tuples by realized stationary probability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F85A3-E969-47EC-B64A-E89BF917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tuple_probability(), is_rare_tuple(), FullScenarioClassifier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ADC64-C204-47EB-ACDA-4BEE2A11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EDB5E-0F5B-46B5-BC10-FDDA8121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CA4B4-95AA-49AB-A5A1-9A4E43A6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3714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P(S) = ∏ₖ₌₀⁵ qₖ[Sₖ]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084C5-F95F-48BC-AFCA-B5454462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71675"/>
            <a:ext cx="619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eligible(S) = every selected element is 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7E752-548F-4570-B94C-AC945B2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D4EDA-404C-4D94-91C0-F6C77187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q0[S0]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22D71-B4FF-4172-BF1F-2E6E6654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street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1629E-D8C2-4880-9507-FE20216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38550"/>
            <a:ext cx="19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51195-4942-4B5D-8F98-F61D3225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33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8815B-30BB-4228-B9DA-ACCFF45D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052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q1[S1]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34553-AE5E-4A13-A094-41B66878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6240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temporal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55CFB-5B35-4B31-BB9C-A56D3E7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38550"/>
            <a:ext cx="19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6ED12-8412-4888-B400-BEAF72B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6E765-5D35-41C6-B15B-6FE3D69E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q2[S2]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4A03F-E08E-49ED-ADCA-BAE312B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6240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3D1E0-55AE-44F2-BC0C-3E63BC5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19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42E61-F424-4800-9F87-6190ECA7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33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6555C-A64B-4191-9076-A0D7A788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052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q3[S3]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521D7-CEB5-435E-A829-63A69D68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6240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road user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6EE01-A0D0-42F7-9210-A33768DC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38550"/>
            <a:ext cx="19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FEBE3-2695-4E2E-9A37-0D06136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C5606-7648-4E60-BFA1-5E5CFA76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q4[S4]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28000-0DC1-43D6-87EB-FC4B80C5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environment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5B534A-6BC0-49DF-B417-A9858250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38550"/>
            <a:ext cx="19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B5818-02F0-4078-A55F-DC4A095A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333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FA"/>
          </a:solidFill>
          <a:ln xmlns:a="http://schemas.openxmlformats.org/drawingml/2006/main" w="0">
            <a:solidFill>
              <a:srgbClr val="ECE7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B05E8-9603-442C-A611-54F5BFD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052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q5[S5]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82087C-4052-4D87-B2E3-F47D7428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96240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trigger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6D226-4E16-4911-B0ED-B86802FA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1391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CE"/>
          </a:solidFill>
          <a:ln xmlns:a="http://schemas.openxmlformats.org/drawingml/2006/main" w="0">
            <a:solidFill>
              <a:srgbClr val="F8ED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E8BCA-93D3-4845-8409-88A48CED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6B00"/>
                </a:solidFill>
                <a:latin typeface="Helvetica Neue"/>
                <a:ea typeface="Helvetica Neue"/>
                <a:cs typeface="Helvetica Neue"/>
              </a:defRPr>
            </a:pPr>
            <a:r>
              <a:t>Classification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2CD1E2-ABE7-45F6-AA2D-C0423DFA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809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rare ⇔ eligible(S) and P(S) ≤ calibrated_rarity_threshold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03EBD7-3B4B-4A49-9B4E-056316D8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Any unknown element makes the tuple ineligible because another route already owns it.</a:t>
            </a:r>
          </a:p>
        </p:txBody>
      </p:sp>
    </p:spTree>
    <p:extLst>
      <p:ext uri="{BB962C8B-B14F-4D97-AF65-F5344CB8AC3E}">
        <p14:creationId xmlns:p14="http://schemas.microsoft.com/office/powerpoint/2010/main" val="18066397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4099B5-6270-4290-A44E-930E2FE5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7372C-A989-4A25-B667-1723FC50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87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Calibration converts a target probability mass into a deterministic rarity threshold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1B3E3-471E-4E14-91A5-09D84D98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FullScenarioClassifier.__init__(); config: N=2,000,000, target=0.004, seed=90123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FCC03-4E57-4F1A-ADB9-EB4042FE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2266950" y="2857500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4591050" y="2857500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6915150" y="2857500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9239250" y="2857500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E3987-B822-4662-9719-8E3C46B7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6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D730C-6C16-4B12-BECF-6CCF1B4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71700"/>
            <a:ext cx="285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3A572-67C8-4A1C-8C71-BBDF508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717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Sample N tuples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48AC2-FF6D-4308-8E48-0B785E88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14675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Each layer drawn from qₖ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7008F-81A2-4396-A49B-8E57FB6D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86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7D856-8E88-436C-9190-A9E73476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171700"/>
            <a:ext cx="285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7DE8F-C13F-434F-ACF2-61AB857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717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7899D-FB9A-47E4-A6B2-BF7881D6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14675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Multiply six selected probabilities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C48EC-C43F-4DFF-BDBF-D89F9A4F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186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C6AD1-3232-40E6-9D32-EAA8BB34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71700"/>
            <a:ext cx="285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3E684-3B4A-45C7-A0F5-787E2C9C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Filter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D2819-73F8-4861-A017-737C7A0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14675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Keep all-known 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6A082-F29D-46DD-B9E4-39690A0F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186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732D0-6BFD-4883-91E7-6124DD0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71700"/>
            <a:ext cx="285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9BA29-3850-46BD-B06C-213EE8F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717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F6477-1077-412C-A4FC-1D397E6C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14675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Sort eligible P(S)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3F95E-1139-4227-823E-1178FAD9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186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3EF48-7A5B-4C2E-A5A7-EA583F15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71700"/>
            <a:ext cx="285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798329-0307-4926-9CED-D14ACE4A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717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Threshold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75AC27-6F77-40AB-A871-DF8DA84C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14675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k = round(target·N)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18B289-A9B3-42EC-924C-D14294EE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524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2C4A6-7CF2-41EF-A92F-A4959635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72D94C-2913-466F-81CD-81655F72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sampling from P works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51E911-F3AD-4100-AAA9-6C814738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3067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The stationary mass of {P(S) ≤ t} equals the fraction of tuples drawn from P that satisfy the condition.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7C986E-55AA-4CE1-B8CF-D191D8A8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71950"/>
            <a:ext cx="3524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F09750-0125-4B2F-8D1A-D2817C32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719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8DD54-4544-4029-AEF4-7A4A87FD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815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Reported calibration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5B42F4-9E7F-4D8C-B287-87AE867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9650"/>
            <a:ext cx="3067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threshold, eligible sampled mass, target mass, achieved sampled mass, sample count, and calibration seed.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AD0897-FB68-4691-9A45-77192DC6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3524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167DC8-98E4-4DB3-B0E5-3CDC3019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45D75F-5E8A-46A5-B4C0-95E24E0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Approximation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312BAB-EF64-447E-8833-42D0DB4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19650"/>
            <a:ext cx="3067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In-sample resolution is ≈1/N; true quantile error is O(√[p(1−p)/N]), about 1.1% relative at defaults.</a:t>
            </a:r>
          </a:p>
        </p:txBody>
      </p:sp>
    </p:spTree>
    <p:extLst>
      <p:ext uri="{BB962C8B-B14F-4D97-AF65-F5344CB8AC3E}">
        <p14:creationId xmlns:p14="http://schemas.microsoft.com/office/powerpoint/2010/main" val="10636823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508B1F-97C1-4F05-B2EB-042073EB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81741-6872-4CE7-BA5D-FC537170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Full-scenario episodes track exact tuple lifetimes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A6E4C-8E82-4565-B65C-A19FE221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_new_state() and full_enabled branch in run_resumable()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8A6D8-6F4C-4071-85E0-3EC459D2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666750" y="3048000"/>
            <a:ext cx="10763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CA170-4D59-4A45-9A35-75C67C60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17FC3-BCC6-4023-9DCB-9590BBF8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193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6A0AE-6FA4-4079-8B70-CB6DA697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8F6B6-E4F0-4ED2-BAEC-BD4E5F81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333750"/>
            <a:ext cx="1790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no slot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D4DC0-3FCB-4799-8662-802D0B1B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0DC1F-DFE9-424E-93BD-F509386D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193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E1"/>
          </a:solidFill>
          <a:ln xmlns:a="http://schemas.openxmlformats.org/drawingml/2006/main" w="0">
            <a:solidFill>
              <a:srgbClr val="F8E1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3A603-69A3-4385-8A10-AA3AD13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81225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rare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D17C5-B99D-4EDF-9CFE-5B0B46C0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333750"/>
            <a:ext cx="1790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open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E83EB-E232-4FB8-A67D-AE6D811B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E9F7B-C3DA-40C0-B979-3B7D5323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E1"/>
          </a:solidFill>
          <a:ln xmlns:a="http://schemas.openxmlformats.org/drawingml/2006/main" w="0">
            <a:solidFill>
              <a:srgbClr val="F8E1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B3AAC-2020-4E36-ADCE-7D01CFC0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81225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rare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3E3A1-1650-4FCD-BC55-ECE00970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790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self-hop: continue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B95A3-21FB-4C7A-AE9D-79BE0CDE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7A20A-D9A1-4FFE-B9EE-90CF0AB4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193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FA"/>
          </a:solidFill>
          <a:ln xmlns:a="http://schemas.openxmlformats.org/drawingml/2006/main" w="0">
            <a:solidFill>
              <a:srgbClr val="ECE7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91B13-962E-4C10-B164-B04ACD30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81225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rare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F7080-8D9C-4BD5-A26E-0FA1525E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33750"/>
            <a:ext cx="1790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close A + open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76E9C-EE67-431F-BB60-FF87ECE7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2BCE6-5C96-4836-90A1-3715C340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193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7"/>
          </a:solidFill>
          <a:ln xmlns:a="http://schemas.openxmlformats.org/drawingml/2006/main" w="0">
            <a:solidFill>
              <a:srgbClr val="DFF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F8CCB-EF97-416A-9D1A-7ED37B40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81225"/>
            <a:ext cx="137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ED1AE-DF2B-47C2-9262-80788C28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33750"/>
            <a:ext cx="1790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close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650AE-2E8A-4614-B521-646427B1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13919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4D34E-7BF2-4A16-8C13-B370F30D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Update rule on any genuine tuple change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18130-33D5-4B7D-9287-378B4D75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5048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Close the currently open full-scenario episode, if any.
2. Score the post-event complete tuple.
3. If rare, open a new episode at the same time and mileage.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726AA1-9F36-422D-B016-2AD21C3D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intermediate classification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AACCD-C872-41B4-9CF8-21476448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67275"/>
            <a:ext cx="44767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simultaneously expired layers are updated first. A self-transition that leaves the tuple unchanged does not close or reopen the episode.</a:t>
            </a:r>
          </a:p>
        </p:txBody>
      </p:sp>
    </p:spTree>
    <p:extLst>
      <p:ext uri="{BB962C8B-B14F-4D97-AF65-F5344CB8AC3E}">
        <p14:creationId xmlns:p14="http://schemas.microsoft.com/office/powerpoint/2010/main" val="17289478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021FF-A91F-47B1-800B-A972257D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82B2A-B5C0-4152-922B-4B692A52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42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Route gating prevents double classification; one union clock merges temporal overlap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06CE3-A195-45C1-88E3-F2C2D5AA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is_rare_tuple(), _open(), _close(), episodes_active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F588C-B85C-4583-A5B1-6357C3FE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D7C07-CA9C-406C-9191-BBA1BCBD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24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59897-6CFD-4368-B1B4-FAFFCD9A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21105-942C-4B68-9402-4A53789F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Route 1 · visible element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540D4-0916-4D7C-A193-DBF21396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0670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Temporal modifications, ego maneuver, or road-user maneuver occupies an unknown element. Identity-specific episodes.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5FCEC-9972-4AF5-B740-0FF04046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524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E6344-C39F-4FF4-844F-6A27C023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8A992-7DBB-4110-95CD-1F681636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28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Route 2 · hidden triggering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81B8C-DCC5-489D-AF91-8FEE116F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66950"/>
            <a:ext cx="30670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Triggering conditions occupies any unknown element. Identity-collapsed continuous periods.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B73D3-D2B6-445B-8654-4DC9C1BC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524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90EBE-87D2-4261-BC4F-79A02D6D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8199C-199A-4F25-A300-E59BF7E5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288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Route 3 · full scenario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941EB-359E-4D60-9CE5-35C270F6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0670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All six elements are known, but the complete tuple probability lies below the calibrated threshold.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307DD-1079-4C3E-99AF-DE4FC7B4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95C6F-D984-4261-82E4-1044F57B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Non-overlap by construction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17B4B-405E-4B3E-AD0B-94C3F24A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4476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Routes 1/2 require at least one unknown element. Route 3 explicitly rejects any unknown element.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C0315-18BD-4217-A084-11DDF02F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33875"/>
            <a:ext cx="333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Generic union-time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BEDF2-9148-4F1E-9079-7B6AFD9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2025"/>
            <a:ext cx="476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Open: if active count is 0, start union clock; increment.
Close: decrement; when it reaches 0, add elapsed interval.</a:t>
            </a:r>
          </a:p>
        </p:txBody>
      </p:sp>
    </p:spTree>
    <p:extLst>
      <p:ext uri="{BB962C8B-B14F-4D97-AF65-F5344CB8AC3E}">
        <p14:creationId xmlns:p14="http://schemas.microsoft.com/office/powerpoint/2010/main" val="9015981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9DD84-39D7-499F-B41F-1657FD4F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A19B3-1D2B-45C6-BD28-8845F463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1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Hash and pattern classifiers remain dormant under the active configuration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48BF4-3F42-4390-BA75-6BB43895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Configuration: enable_unknown_combinations=false, enable_hash_combinations=false; implementation retained in simulator.py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2F9D6-8261-45FD-9732-FA9AA425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69DEB-2950-455B-81A0-523466F0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34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29047-8293-4AA4-A768-D26AA840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570"/>
          </a:solidFill>
          <a:ln xmlns:a="http://schemas.openxmlformats.org/drawingml/2006/main" w="0">
            <a:solidFill>
              <a:srgbClr val="5D65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066DF-6E0E-413B-9975-2ACF9C2D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Pattern combinations · not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DB16B-4D36-4714-AAE2-A3F9468E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876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Manual or generated conjunctions across ≥2 known elements. When enabled, only rules touched by changed layers are re-evaluated.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1B5C3-0E93-4661-B1D3-11B96BBB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5334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19598-E1B7-4BAD-93D3-56518C23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570"/>
          </a:solidFill>
          <a:ln xmlns:a="http://schemas.openxmlformats.org/drawingml/2006/main" w="0">
            <a:solidFill>
              <a:srgbClr val="5D65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77E2E-D41A-4819-ABDC-A39326F5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8595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SHA-256 combinations · not instantiated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EA88F-D512-4081-BA04-0EB5564D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4876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hash over seed|name₀|…|name₅. When enabled, only all-known tuples are eligible and exact tuple lifetime defines the episode.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3EE0-A022-4DCC-896C-92D059CD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13919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11B2C-54E6-4CF4-9259-6C053F9B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Active design choice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AC9BF-B5AD-4E54-AA66-6B653B59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71950"/>
            <a:ext cx="7905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Full-scenario rarity replaces arbitrary hashing and partial-layer interactions with a probability-mass-calibrated criterion over all six layers.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A352E-A611-4F79-9C12-1CF5572D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53000"/>
            <a:ext cx="790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962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The dormant code and unit tests are retained for regression and controlled future reactivation; disabled branches consume no simulation work.</a:t>
            </a:r>
          </a:p>
        </p:txBody>
      </p:sp>
    </p:spTree>
    <p:extLst>
      <p:ext uri="{BB962C8B-B14F-4D97-AF65-F5344CB8AC3E}">
        <p14:creationId xmlns:p14="http://schemas.microsoft.com/office/powerpoint/2010/main" val="7338867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955224-4BAF-4C92-9368-3D1A5B7A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48B24-6FB0-4BB2-AAFE-AC478DB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684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Checkpoint/resume preserves model state and RNG positions for bit-identical continuation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EC182-C2AB-42C9-9417-2BE696B5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run_resumable(); run_simulation.py — pickle checkpoint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7BAAC-313E-4366-8D46-B53EB74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BD71E-0FD5-4174-966E-2A89ACDC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Serialized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2316B-D56E-4634-84F7-3EA0F5F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32106-61D6-47D0-9E46-31C1B09F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71700"/>
            <a:ext cx="534352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ScenarioSimulator object, including every RNG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E1DD4-7C09-4C87-8E7C-C931C07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A5F14-C1A8-4B4B-AF99-FA93CF8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90825"/>
            <a:ext cx="534352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element and remaining duration per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BC36F-F796-45FB-B3E6-764EB492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9AE4C-980C-4BD4-A2EF-614CA410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09950"/>
            <a:ext cx="534352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time, mileage, event count, counters, visit statistics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C31CA-A5E5-4E53-AD66-53730B53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62D1B-7224-48C4-BB95-18B892A1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29075"/>
            <a:ext cx="534352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episode list plus every open-slot index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1C3B9-17BF-4716-8D60-F92310F9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04A78-FBC3-490F-9CF3-056E2FC3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48200"/>
            <a:ext cx="534352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union-time clock and active-episode counters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C329E-28DC-4F0E-8941-8484E961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38300"/>
            <a:ext cx="5238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A5F9E-AFAA-494F-B8CA-FB54E29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457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Wall-limited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4A746-D85C-43FE-80CE-365890F5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Deadline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7C9EA-8C77-43A0-9D83-6736010E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00325"/>
            <a:ext cx="2428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4,096 events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858000" y="2990850"/>
            <a:ext cx="4572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960AB-F07B-4723-9707-A6E3B5F7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7D6"/>
                </a:solidFill>
                <a:latin typeface="Helvetica Neue"/>
                <a:ea typeface="Helvetica Neue"/>
                <a:cs typeface="Helvetica Neue"/>
              </a:defRPr>
            </a:pPr>
            <a:r>
              <a:t>If deadline reached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D781D-903A-4947-9857-9D9D3AEB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(None, state)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6858000" y="3609975"/>
            <a:ext cx="4572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62D38-420E-4F16-9D41-4579F4ED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4B"/>
                </a:solidFill>
                <a:latin typeface="Helvetica Neue"/>
                <a:ea typeface="Helvetica Neue"/>
                <a:cs typeface="Helvetica Neue"/>
              </a:defRPr>
            </a:pPr>
            <a:r>
              <a:t>Runner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AE300-B4D4-4DF8-835A-43F0BABE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38575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pickle(sim, state)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858000" y="4229100"/>
            <a:ext cx="4572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4F7DD-C64E-4633-AEF5-297B8088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3D3D"/>
                </a:solidFill>
                <a:latin typeface="Helvetica Neue"/>
                <a:ea typeface="Helvetica Neue"/>
                <a:cs typeface="Helvetica Neue"/>
              </a:defRPr>
            </a:pPr>
            <a:r>
              <a:t>Completion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A884AE-A5E3-4029-BD0F-72ABA3E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remove checkpoint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7B9AD-8483-4C4F-9408-BAB9AE4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43550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7"/>
          </a:solidFill>
          <a:ln xmlns:a="http://schemas.openxmlformats.org/drawingml/2006/main" w="0">
            <a:solidFill>
              <a:srgbClr val="DFF0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97050-145A-4E6B-8638-70D146EC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9595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727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67A4B"/>
                </a:solidFill>
                <a:latin typeface="Helvetica Neue"/>
                <a:ea typeface="Helvetica Neue"/>
                <a:cs typeface="Helvetica Neue"/>
              </a:defRPr>
            </a:pPr>
            <a:r>
              <a:t>Unit test compares the entire episode list and result state against an uninterrupted run.</a:t>
            </a:r>
          </a:p>
        </p:txBody>
      </p:sp>
    </p:spTree>
    <p:extLst>
      <p:ext uri="{BB962C8B-B14F-4D97-AF65-F5344CB8AC3E}">
        <p14:creationId xmlns:p14="http://schemas.microsoft.com/office/powerpoint/2010/main" val="5165258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A100C-4F51-4084-AF1C-511590F7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12ECE-54F3-4563-A415-457B22CE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SimulationResult separates raw episode evidence from derived statistics and presentation outputs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0D0D2-42DA-4FD2-B603-B3878C7E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simulator.py — SimulationResult; run_simulation.py — writers, summaries, plots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E94DA-2531-4F11-8221-7EFD2183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9AFB3-85A5-4EAA-BD5F-BA6B21B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476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8B043-A7F4-43C6-A59E-600FDC61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AA580-72CD-43A5-893D-1881DA9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019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episodes.csv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6E5C2-EE38-41BB-A1FD-6F84BB6E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2019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One row per episode: type, cause, start/end time and mileage, duration, truncation, inter-arrival.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C03C1-1C79-4B0A-A3F4-5B696420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14500"/>
            <a:ext cx="2476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A04F3-CB9D-4962-90EB-18FB660C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145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D6"/>
          </a:solidFill>
          <a:ln xmlns:a="http://schemas.openxmlformats.org/drawingml/2006/main" w="0">
            <a:solidFill>
              <a:srgbClr val="7657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B395E-ED3E-4B1D-8B6A-37FAE4E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019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windows.csv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37DD1-D6C8-4D13-B6FA-0EBF1E3E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019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Episode-start counts in complete fixed mileage windows; partial final window is excluded.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1A26A-7386-4835-8CBF-2412D91F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476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708F9-C961-4CBE-A8C9-8FF9EDA7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4B"/>
          </a:solidFill>
          <a:ln xmlns:a="http://schemas.openxmlformats.org/drawingml/2006/main" w="0">
            <a:solidFill>
              <a:srgbClr val="267A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8AF61-9F65-4A02-9ECE-F94ABC11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2019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stats.json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1EC42-FD91-42FF-BF3E-401C4CF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019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Machine-readable totals, distributions, layer statistics, calibration state, and seeds.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8F62B-41E9-4269-94B4-B5A9A1D4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2476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E1B0A-B427-4439-ABCA-9317593C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D3D"/>
          </a:solidFill>
          <a:ln xmlns:a="http://schemas.openxmlformats.org/drawingml/2006/main" w="0">
            <a:solidFill>
              <a:srgbClr val="C63D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07ACF-FD76-4E35-9946-2830A461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24050"/>
            <a:ext cx="2019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summary.md + plots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3E171-B6A8-4BC9-ABC5-403975C0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2019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Human-readable verification plus six standard diagnostic visualizations.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C3166-26E7-4448-AE62-AECC743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91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E94E0-BF7E-4967-9BFA-08E54BF4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Statistical conventions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CF92A-5BF6-42E2-B3DA-A8B94D08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24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Inter-arrival first value is measured from simulation origin.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D3D61-8ECB-4F2F-9F6F-DD5039D8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Window variance uses sample ddof = 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F92B5-AFE0-4B6F-91BC-5B64670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Dispersion = variance / mean.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7F031-BB26-4018-9511-5988B26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Union occupancy counts overlaps once.</a:t>
            </a:r>
          </a:p>
        </p:txBody>
      </p:sp>
    </p:spTree>
    <p:extLst>
      <p:ext uri="{BB962C8B-B14F-4D97-AF65-F5344CB8AC3E}">
        <p14:creationId xmlns:p14="http://schemas.microsoft.com/office/powerpoint/2010/main" val="526419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51333-9E39-443B-8541-71E824CF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51A61-A78C-4934-B3CE-14E21B55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Closed-form expectations provide an independent oracle for the event engine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4B901-2B39-4E67-AA00-2D1C80E9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Implementation: analytical_model.py; derivation: poisson_proof.md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FA8D1-0B64-4A26-BC08-AE73C0B5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64083-EFB7-4628-B6E5-30C1BCE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340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06336-0F33-41F6-9221-A99F908E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Identity-specific element episodes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5751-D3CF-4262-A2AB-90A510E6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457200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 = miles / mph · 3600
mₖ = Σunknown qᵢ
sₖ = Σunknown qᵢ²
E[Nₖ] = (T/μₖ)(mₖ − sₖ) + mₖ
E[Dₖ] = μₖ / (1 − sₖ/mₖ)
E[occupied time] = Tmₖ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7775C-9A20-4A67-919A-F251AAFD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The +mₖ term accounts for a possible t=0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B33D9-335B-4D5B-8A83-E321E535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57150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5C859-58D8-424E-98D9-97859335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5105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Tuple-change and rare-event approximations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4C9B0-0BAC-4EF1-AF93-22440F4F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51054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λchange = Σₖ [1 − Σᵢ qₖᵢ²] / μₖ
Full-scenario:
E[D] ≈ 1/λchange
E[N] ≈ T · λchange · rare_mass
Rare episode starts are treated as a thinned-renewal superposition, yielding near-Poisson window counts and approximately exponential gaps.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9DEE9-471C-46AC-974A-31B7A733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5105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CE"/>
          </a:solidFill>
          <a:ln xmlns:a="http://schemas.openxmlformats.org/drawingml/2006/main" w="0">
            <a:solidFill>
              <a:srgbClr val="F8ED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0929C-45E2-4D3F-BE05-81CE0FF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95875"/>
            <a:ext cx="4686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9C6B00"/>
                </a:solidFill>
                <a:latin typeface="Helvetica Neue"/>
                <a:ea typeface="Helvetica Neue"/>
                <a:cs typeface="Helvetica Neue"/>
              </a:defRPr>
            </a:pPr>
            <a:r>
              <a:t>Hidden-trigger entry rate is category-based: (1−m)m/μ, not the identity-specific m−s formula.</a:t>
            </a:r>
          </a:p>
        </p:txBody>
      </p:sp>
    </p:spTree>
    <p:extLst>
      <p:ext uri="{BB962C8B-B14F-4D97-AF65-F5344CB8AC3E}">
        <p14:creationId xmlns:p14="http://schemas.microsoft.com/office/powerpoint/2010/main" val="11737706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596D3-314A-422C-8FD7-8E425821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FEEB2-CA4E-4B32-8531-2A859FD9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Tests pin invariants at configuration, construction, transition, episode, and resume boundaries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13144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611C2-15BC-4818-9DE9-F3FF3A86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Verification: test_simulator.py — 47 test functions; poisson_tests.py — replication / GOF utilities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5EE72-E9A8-4AE5-B478-86F1C21F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0AAC1-32DA-47A8-ABD1-758FC311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Statistical verification is separate from unit behavior: replication counts, dispersion, Poisson goodness-of-fit, and inter-arrival tests probe the rare-event approximation.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3919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4438650"/>
              </a:tblGrid>
              <a:tr h="576943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boundary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pinned behavior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</a:rPr>
                        <a:t>representative checks</a:t>
                      </a:r>
                    </a:p>
                  </a:txBody>
                  <a:tcPr marL="91440" marR="91440" marT="45720" marB="45720">
                    <a:solidFill>
                      <a:srgbClr val="14171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configuration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bad keys, seeds, proportions, ranges, calibration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clear ConfigError; every n feasible</a:t>
                      </a:r>
                    </a:p>
                  </a:txBody>
                  <a:tcPr marL="91440" marR="91440" marT="45720" marB="45720"/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street exact; environment known; q permanent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seed isolation; Dirichlet concentration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sampling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Gamma moments; duration floor; self-hop option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empirical moments; rejection behavior</a:t>
                      </a:r>
                    </a:p>
                  </a:txBody>
                  <a:tcPr marL="91440" marR="91440" marT="45720" marB="45720"/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episode semantics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start/end/restart/continue; hidden category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overlap, other-layer immunity, truncation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full 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all-six scoring; mass calibration; A→B 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self-continuity; no hash/pattern creation</a:t>
                      </a:r>
                    </a:p>
                  </a:txBody>
                  <a:tcPr marL="91440" marR="91440" marT="45720" marB="45720"/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reproducibility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same seeds and checkpoint path give same result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4171C"/>
                          </a:solidFill>
                        </a:rPr>
                        <a:t>bit-identical full episode list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5335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DBA13-660A-4247-B1C1-AEDE75A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MODEL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AAD38-BC50-48CA-BBE8-AF2C502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Auditable because the
approximations are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BC659-BB31-4949-9CF4-EF78D09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640C6-2418-4A47-8BD6-026C4669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71C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layers · i.i.d. categorical renewals · constant average speed · layer-wide duration laws · synthetic rarity identities · Monte Carlo rarity threshold · event-boundary stopping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577F1-A6E9-4150-9B0B-17FD0166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809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These are the simulator’s contract—not hidden implementation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E9713-4B33-41A8-BB22-65A06BA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0"/>
                </a:solidFill>
                <a:latin typeface="Helvetica Neue"/>
                <a:ea typeface="Helvetica Neue"/>
                <a:cs typeface="Helvetica Neue"/>
              </a:defRPr>
            </a:pPr>
            <a: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8871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2026-07-23T10:20:16.4830000Z</dcterms:created>
  <dcterms:modified xsi:type="dcterms:W3CDTF">2026-07-23T10:20:16.4830000Z</dcterms:modified>
</coreProperties>
</file>