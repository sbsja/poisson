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7423ca2ccb4144" /><Relationship Type="http://schemas.openxmlformats.org/officeDocument/2006/relationships/extended-properties" Target="/docProps/app.xml" Id="Ra0e398dc44b44894" /><Relationship Type="http://schemas.openxmlformats.org/officeDocument/2006/relationships/officeDocument" Target="/ppt/presentation.xml" Id="R9ff8524957a148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fc0d5a66134e0a"/>
  </p:sldMasterIdLst>
  <p:notesMasterIdLst>
    <p:notesMasterId xmlns:r="http://schemas.openxmlformats.org/officeDocument/2006/relationships" r:id="R0e00cb41be534b82"/>
  </p:notesMasterIdLst>
  <p:sldIdLst>
    <p:sldId xmlns:r="http://schemas.openxmlformats.org/officeDocument/2006/relationships" id="256" r:id="R07baa358a7f94b49"/>
    <p:sldId xmlns:r="http://schemas.openxmlformats.org/officeDocument/2006/relationships" id="257" r:id="Rb270a4ed545b4403"/>
    <p:sldId xmlns:r="http://schemas.openxmlformats.org/officeDocument/2006/relationships" id="258" r:id="R8862203f448549e3"/>
    <p:sldId xmlns:r="http://schemas.openxmlformats.org/officeDocument/2006/relationships" id="259" r:id="R63c5cbe69929450a"/>
    <p:sldId xmlns:r="http://schemas.openxmlformats.org/officeDocument/2006/relationships" id="260" r:id="R158d4b1acd294348"/>
    <p:sldId xmlns:r="http://schemas.openxmlformats.org/officeDocument/2006/relationships" id="261" r:id="R1b5bf6d10f384352"/>
    <p:sldId xmlns:r="http://schemas.openxmlformats.org/officeDocument/2006/relationships" id="262" r:id="Rddb3b55c66cc49eb"/>
    <p:sldId xmlns:r="http://schemas.openxmlformats.org/officeDocument/2006/relationships" id="263" r:id="R9072b091d65d4fc4"/>
    <p:sldId xmlns:r="http://schemas.openxmlformats.org/officeDocument/2006/relationships" id="264" r:id="R95d22fca3ea04fbf"/>
    <p:sldId xmlns:r="http://schemas.openxmlformats.org/officeDocument/2006/relationships" id="265" r:id="Rd114ed7ce595470f"/>
    <p:sldId xmlns:r="http://schemas.openxmlformats.org/officeDocument/2006/relationships" id="266" r:id="R23def1e4196d4b40"/>
    <p:sldId xmlns:r="http://schemas.openxmlformats.org/officeDocument/2006/relationships" id="267" r:id="R201f3a1901da45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52b814d4c84953" /><Relationship Type="http://schemas.openxmlformats.org/officeDocument/2006/relationships/slideMaster" Target="/ppt/slideMasters/slideMaster1.xml" Id="R9dfc0d5a66134e0a" /><Relationship Type="http://schemas.openxmlformats.org/officeDocument/2006/relationships/notesMaster" Target="/ppt/notesMasters/notesMaster1.xml" Id="R0e00cb41be534b82" /><Relationship Type="http://schemas.openxmlformats.org/officeDocument/2006/relationships/presProps" Target="/ppt/presProps.xml" Id="R8c27a6a39fd74c9a" /><Relationship Type="http://schemas.openxmlformats.org/officeDocument/2006/relationships/tableStyles" Target="/ppt/tableStyles.xml" Id="R65b73fe2c8a34e81" /><Relationship Type="http://schemas.openxmlformats.org/officeDocument/2006/relationships/slide" Target="/ppt/slides/slide1.xml" Id="R07baa358a7f94b49" /><Relationship Type="http://schemas.openxmlformats.org/officeDocument/2006/relationships/slide" Target="/ppt/slides/slide2.xml" Id="Rb270a4ed545b4403" /><Relationship Type="http://schemas.openxmlformats.org/officeDocument/2006/relationships/slide" Target="/ppt/slides/slide3.xml" Id="R8862203f448549e3" /><Relationship Type="http://schemas.openxmlformats.org/officeDocument/2006/relationships/slide" Target="/ppt/slides/slide4.xml" Id="R63c5cbe69929450a" /><Relationship Type="http://schemas.openxmlformats.org/officeDocument/2006/relationships/slide" Target="/ppt/slides/slide5.xml" Id="R158d4b1acd294348" /><Relationship Type="http://schemas.openxmlformats.org/officeDocument/2006/relationships/slide" Target="/ppt/slides/slide6.xml" Id="R1b5bf6d10f384352" /><Relationship Type="http://schemas.openxmlformats.org/officeDocument/2006/relationships/slide" Target="/ppt/slides/slide7.xml" Id="Rddb3b55c66cc49eb" /><Relationship Type="http://schemas.openxmlformats.org/officeDocument/2006/relationships/slide" Target="/ppt/slides/slide8.xml" Id="R9072b091d65d4fc4" /><Relationship Type="http://schemas.openxmlformats.org/officeDocument/2006/relationships/slide" Target="/ppt/slides/slide9.xml" Id="R95d22fca3ea04fbf" /><Relationship Type="http://schemas.openxmlformats.org/officeDocument/2006/relationships/slide" Target="/ppt/slides/slide10.xml" Id="Rd114ed7ce595470f" /><Relationship Type="http://schemas.openxmlformats.org/officeDocument/2006/relationships/slide" Target="/ppt/slides/slide11.xml" Id="R23def1e4196d4b40" /><Relationship Type="http://schemas.openxmlformats.org/officeDocument/2006/relationships/slide" Target="/ppt/slides/slide12.xml" Id="R201f3a1901da45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a183840cbe44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5dd02ddeeb4edb" /><Relationship Type="http://schemas.openxmlformats.org/officeDocument/2006/relationships/notesMaster" Target="/ppt/notesMasters/notesMaster1.xml" Id="Rad467dd76c554b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2ccc6d44b4641" /><Relationship Type="http://schemas.openxmlformats.org/officeDocument/2006/relationships/notesMaster" Target="/ppt/notesMasters/notesMaster1.xml" Id="R26fdd7416c09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568e9023a49f5" /><Relationship Type="http://schemas.openxmlformats.org/officeDocument/2006/relationships/notesMaster" Target="/ppt/notesMasters/notesMaster1.xml" Id="Rb850cdd9463948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a8a7f29cfe4963" /><Relationship Type="http://schemas.openxmlformats.org/officeDocument/2006/relationships/notesMaster" Target="/ppt/notesMasters/notesMaster1.xml" Id="R8105313be30d48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ff1a5aff7947c2" /><Relationship Type="http://schemas.openxmlformats.org/officeDocument/2006/relationships/notesMaster" Target="/ppt/notesMasters/notesMaster1.xml" Id="R2d317e3b3f144a5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206e84138a48bd" /><Relationship Type="http://schemas.openxmlformats.org/officeDocument/2006/relationships/notesMaster" Target="/ppt/notesMasters/notesMaster1.xml" Id="Ra02dd69d407748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e2e65ea79b4d8c" /><Relationship Type="http://schemas.openxmlformats.org/officeDocument/2006/relationships/notesMaster" Target="/ppt/notesMasters/notesMaster1.xml" Id="Rc719a4188f8141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3285c7112e46b4" /><Relationship Type="http://schemas.openxmlformats.org/officeDocument/2006/relationships/notesMaster" Target="/ppt/notesMasters/notesMaster1.xml" Id="Recb18137da8f48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361b25638f480b" /><Relationship Type="http://schemas.openxmlformats.org/officeDocument/2006/relationships/notesMaster" Target="/ppt/notesMasters/notesMaster1.xml" Id="R03fd342ec0f944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54e7dc6d2a46ae" /><Relationship Type="http://schemas.openxmlformats.org/officeDocument/2006/relationships/notesMaster" Target="/ppt/notesMasters/notesMaster1.xml" Id="R09111ad7054a48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4c34fb02344ebc" /><Relationship Type="http://schemas.openxmlformats.org/officeDocument/2006/relationships/notesMaster" Target="/ppt/notesMasters/notesMaster1.xml" Id="R6184698d420641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e38751034844ab" /><Relationship Type="http://schemas.openxmlformats.org/officeDocument/2006/relationships/notesMaster" Target="/ppt/notesMasters/notesMaster1.xml" Id="R1f7688f8a04e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61287a59942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d467c99eff4801" /><Relationship Type="http://schemas.openxmlformats.org/officeDocument/2006/relationships/slideLayout" Target="/ppt/slideLayouts/slideLayout1.xml" Id="R2ec2258562c34f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2258562c34f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e4d0f6cde4444" /><Relationship Type="http://schemas.openxmlformats.org/officeDocument/2006/relationships/notesSlide" Target="/ppt/notesSlides/notesSlide1.xml" Id="R5ae7a051506940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857d0fe45424a" /><Relationship Type="http://schemas.openxmlformats.org/officeDocument/2006/relationships/notesSlide" Target="/ppt/notesSlides/notesSlide2.xml" Id="Rb2b0c71daa2d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3638288694ef6" /><Relationship Type="http://schemas.openxmlformats.org/officeDocument/2006/relationships/notesSlide" Target="/ppt/notesSlides/notesSlide3.xml" Id="Rccf803eef1b140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b5f2d44f8c4636" /><Relationship Type="http://schemas.openxmlformats.org/officeDocument/2006/relationships/notesSlide" Target="/ppt/notesSlides/notesSlide4.xml" Id="R5475fb31ec954a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d4e03adc7445a" /><Relationship Type="http://schemas.openxmlformats.org/officeDocument/2006/relationships/notesSlide" Target="/ppt/notesSlides/notesSlide5.xml" Id="Rfe67481646104f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0882bd9514303" /><Relationship Type="http://schemas.openxmlformats.org/officeDocument/2006/relationships/notesSlide" Target="/ppt/notesSlides/notesSlide6.xml" Id="Rbe7fe429fa9940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06e603b774661" /><Relationship Type="http://schemas.openxmlformats.org/officeDocument/2006/relationships/notesSlide" Target="/ppt/notesSlides/notesSlide7.xml" Id="R781ec31da2aa43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49c5c879a442c" /><Relationship Type="http://schemas.openxmlformats.org/officeDocument/2006/relationships/chart" Target="/ppt/slides/charts/chart1.xml" Id="R2c8a580b9e5249a5" /><Relationship Type="http://schemas.openxmlformats.org/officeDocument/2006/relationships/notesSlide" Target="/ppt/notesSlides/notesSlide8.xml" Id="R56d57b1effed4b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68152d270408e" /><Relationship Type="http://schemas.openxmlformats.org/officeDocument/2006/relationships/chart" Target="/ppt/slides/charts/chart2.xml" Id="R6481f7f2d70a4793" /><Relationship Type="http://schemas.openxmlformats.org/officeDocument/2006/relationships/notesSlide" Target="/ppt/notesSlides/notesSlide9.xml" Id="R5a8cddc96c054b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23ddb5ea94fc3" /><Relationship Type="http://schemas.openxmlformats.org/officeDocument/2006/relationships/image" Target="/ppt/media/image.png" Id="Re71d5f24623241a2" /><Relationship Type="http://schemas.openxmlformats.org/officeDocument/2006/relationships/notesSlide" Target="/ppt/notesSlides/notesSlide10.xml" Id="Rcf5704668dc044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980e33fc5414b" /><Relationship Type="http://schemas.openxmlformats.org/officeDocument/2006/relationships/image" Target="/ppt/media/image2.png" Id="Rcd4d9ac26fe14ae9" /><Relationship Type="http://schemas.openxmlformats.org/officeDocument/2006/relationships/notesSlide" Target="/ppt/notesSlides/notesSlide11.xml" Id="R68ca0fb390a440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469409a904848" /><Relationship Type="http://schemas.openxmlformats.org/officeDocument/2006/relationships/notesSlide" Target="/ppt/notesSlides/notesSlide12.xml" Id="R343ddd1cedf6493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Episodes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Element</c:v>
              </c:pt>
              <c:pt idx="1">
                <c:v>Pattern</c:v>
              </c:pt>
              <c:pt idx="2">
                <c:v>Hash combination</c:v>
              </c:pt>
            </c:strLit>
          </c:cat>
          <c:val>
            <c:numLit>
              <c:formatCode>General</c:formatCode>
              <c:ptCount val="3"/>
              <c:pt idx="0">
                <c:v>39227</c:v>
              </c:pt>
              <c:pt idx="1">
                <c:v>3476</c:v>
              </c:pt>
              <c:pt idx="2">
                <c:v>41593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0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0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Element episodes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4"/>
              <c:pt idx="0">
                <c:v>Temporal</c:v>
              </c:pt>
              <c:pt idx="1">
                <c:v>Ego</c:v>
              </c:pt>
              <c:pt idx="2">
                <c:v>Road-user</c:v>
              </c:pt>
              <c:pt idx="3">
                <c:v>Triggering</c:v>
              </c:pt>
            </c:strLit>
          </c:cat>
          <c:val>
            <c:numLit>
              <c:formatCode>General</c:formatCode>
              <c:ptCount val="4"/>
              <c:pt idx="0">
                <c:v>977</c:v>
              </c:pt>
              <c:pt idx="1">
                <c:v>21018</c:v>
              </c:pt>
              <c:pt idx="2">
                <c:v>12217</c:v>
              </c:pt>
              <c:pt idx="3">
                <c:v>5015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CD4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24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2F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60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86CF0-2607-471B-AE4A-0DE85407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D613F-FE6B-4DC6-BEFA-C38CD641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How the AV scenario</a:t>
            </a:r>
          </a:p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simulator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06D48-1550-41A7-B332-0F176A14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And what the delivered 2-million-mile run actually tells 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51FBB-4478-4411-80D2-DFBE5FF8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0050"/>
            <a:ext cx="3714750" cy="56578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5E686-498B-4B78-92D3-1549446E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000125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9EAB96-6F88-427A-93D3-6E434FD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257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independent scenario layers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0DD14-E28E-4682-A880-F24DCE5CD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72415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F754A-F0E0-418D-A65E-C2E952A7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55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5CDB8-03DC-49C8-B8F0-FB84CE75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joint scenario tuple at any instant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2C592-35B6-4660-911B-D581A997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542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Delivered configuration: 2,000,000 miles at 50 mph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19C2A-47D8-4DAF-82F7-99530E68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29350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Results and mechanism walkthrough</a:t>
            </a:r>
          </a:p>
        </p:txBody>
      </p:sp>
    </p:spTree>
    <p:extLst>
      <p:ext uri="{BB962C8B-B14F-4D97-AF65-F5344CB8AC3E}">
        <p14:creationId xmlns:p14="http://schemas.microsoft.com/office/powerpoint/2010/main" val="105406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08599-7A01-4086-BDB1-C2A06825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C95F4C-55E3-493D-94D2-D20BD0D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It estimates unknown-scenario exposure—not vehicle safety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7A7F3-7CC2-429A-B6AB-06B2D90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CB67E-C1D8-410C-A51E-35426B4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2DEE5-1D8F-48EB-A300-CE95CEC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The simulator answers a coverage question: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AD95C-386D-4C3A-A6B2-96544D4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429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“How often, and for how long, does a modeled scenario enter an unknown state?”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0DEF83-0F1C-45DE-813C-26A1A3E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04950"/>
            <a:ext cx="4838700" cy="3867150"/>
          </a:xfrm>
          <a:prstGeom xmlns:a="http://schemas.openxmlformats.org/drawingml/2006/main" prst="roundRect">
            <a:avLst>
              <a:gd name="adj" fmla="val 295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3EC5F-496C-4F5A-89F1-2527DFFD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478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What it does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D96175-0444-4571-84C7-8C31863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05050"/>
            <a:ext cx="40005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samples categorical scenario elements</a:t>
            </a:r>
          </a:p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evolves each layer over time</a:t>
            </a:r>
          </a:p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tracks contiguous unknown episodes</a:t>
            </a:r>
          </a:p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reports exposure, duration, and 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63C23F-A87B-4F84-9EFA-36E74507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5A5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C5A5A"/>
                </a:solidFill>
                <a:latin typeface="Aptos"/>
                <a:ea typeface="Aptos"/>
                <a:cs typeface="Aptos"/>
              </a:rPr>
              <a:t>What it does not 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53AB3-F422-4466-A241-4333F7A6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No physical dynamics, perception errors, collision model, or calibrated real-world risk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BFADE-E820-4CDA-9E6A-D4A8674E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1666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B167D-9207-42E8-B685-F2899B9A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338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8B579-B0CE-4173-A9DD-235D217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DRIVE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B63BFA-19C2-4FC2-805E-E451E296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2M mi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1C465-3CD1-4942-8685-60616DF2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40,000 simulated hours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EA459-87F5-4DC2-A1C6-FCA5E63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1666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5D58E6-73AD-4A75-928A-14C71159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338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A42"/>
          </a:solidFill>
          <a:ln xmlns:a="http://schemas.openxmlformats.org/drawingml/2006/main" w="9525">
            <a:solidFill>
              <a:srgbClr val="E99A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701E3-0ED3-430F-8D30-D6B6DB73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243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F6CCA-0780-49F3-BF4E-E295EEEE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624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50 mph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A0406-F1DD-4E9B-93C1-985E3259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constant conversion from time to miles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9DBAB-DFD0-4C43-9581-E3C1B871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1666875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ACE92-097B-4E91-ADC5-BB6270D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3385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D78"/>
          </a:solidFill>
          <a:ln xmlns:a="http://schemas.openxmlformats.org/drawingml/2006/main" w="9525">
            <a:solidFill>
              <a:srgbClr val="3EAD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B66514-59AF-47BD-897E-1E7B9006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3243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E1A71F-4AB1-445C-A816-E10E489B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62475"/>
            <a:ext cx="128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Episodes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A710C-E918-46E2-9F14-88E33939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876800"/>
            <a:ext cx="1285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starts, durations, overlaps and rates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C09D6-6A57-40B3-B1C1-5C1044E88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README.md; DOCUMENTATION.md; config.yaml</a:t>
            </a:r>
          </a:p>
        </p:txBody>
      </p:sp>
    </p:spTree>
    <p:extLst>
      <p:ext uri="{BB962C8B-B14F-4D97-AF65-F5344CB8AC3E}">
        <p14:creationId xmlns:p14="http://schemas.microsoft.com/office/powerpoint/2010/main" val="2123788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2E4913-E1BE-4C40-842D-73C63162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A0A005-8909-4B14-BC28-441046DF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Six independent layers form every scenario tuple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D9FC10-6126-451A-B189-3394B926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F8098-9753-489F-A21B-7B1B5206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0301-6355-4F74-97DF-622B2928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Each layer has its own dwell-time distribution and transition probabilities. The joint scenario changes whenever any layer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91A8C-8905-4F68-835B-0CAD3074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A8C23-C1E3-43D0-8B39-0D13DEAB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33A26-B34C-44F4-8D0C-E57FFB5B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098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5F7C0D-0374-41EA-B456-B2320B93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324100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Examples of what it represents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FAC5D-E9C0-4B68-9153-893B81A1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0980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4BA90-11E1-4CF6-BC5D-67870A2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 dwell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F84F2-765B-4174-B181-44E02F96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09800"/>
            <a:ext cx="2266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98D33-879A-411A-A136-4B58313E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241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Element unknowns?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5177C-3A92-496C-B026-C94E69E8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74F20-3D1F-40D1-A07D-9C622B27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street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825E6-43E5-4641-A860-B2D5D9D2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098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16413-91FF-4504-A436-7BE568DD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77177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route composition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726CB-9A24-47B8-8E04-3C019BC5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098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FC8DB-9195-4775-9810-8D3EA46F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7177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300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7569A4-4B2F-4FF9-B419-E9E36851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98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0241DB-7673-4280-9BF7-F624DC80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717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1EB2F8-A586-4EA6-A2C8-FE4731BC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242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9DB59-C999-4709-9985-3EB96D44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861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temporal modifications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C8FAF-FF48-4A85-B8CB-BB60DB46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24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8730E0-5F3D-45B6-B4E2-71741176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8612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work zones / traffic management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83A1C-6B3C-4A7F-85C5-C44A0C60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242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98CF20-A19B-493A-8930-D3957AF8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8612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600 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53F07-A473-4F43-BE67-2CE938D8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008D70-17AB-4003-A634-3C7E96DF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75F21E-DFDB-44AA-B4FF-3F71B1F9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F24921-C172-40B9-A206-F1587347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ego maneuver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F0681D-DDE2-4383-BE34-B1984910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385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AB2365-5F2E-41A6-8D30-3D89A8FF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80047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AV maneuver class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4B30E2-6263-47B4-A127-A3F4CA76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385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5F05C8-6B7E-4071-BB78-3B51FC50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0047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30 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AE00AC-29AD-4F2A-8002-98464B66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385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9FCD82-699C-4262-9B1F-87628E7D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8004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03E46-9F4F-4FC6-9F03-8F8D4A51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15269F-0E8A-4DFF-BB72-15AB6B1C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road-user maneuver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2B0166-4FD0-48D4-83C5-924344EB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529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F6873-A73E-4968-BC9B-2112AB5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31482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other road-user maneuver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9E85CD-E14C-4FE1-861C-6FE6460E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E4E4A9-6E7A-4E35-A21B-44B3B68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1482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45 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4E40A0-955E-4C27-AEC6-8C5DC421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529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CFFBE9-F487-4FB4-AB5E-CD804BD9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3148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2DAC7C-791F-495E-9046-D6A2210F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7C11D8-FFAF-4CC8-86C0-9A92FC05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291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environment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B5333A-4A96-49EF-966B-9E3ECBD2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672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14647D-2980-4A09-A726-4E96409E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2917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weather / lighting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6C27A5-7A05-4470-8849-0BCDFB95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672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2C2C56-A42A-4751-A6C3-92A5FD40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2917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1,800 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A50B25-7057-46FB-BEA9-135C4450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6089EA-ABED-43E6-B8B0-92EEDBE6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2917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A5B186F-8AE0-4E1A-A46E-205F6E4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CC1B26-5CBD-43A7-8BD7-5C9CC0AF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triggering conditions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FD31A9-F0BE-42D7-9843-BF40425D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092C1A-6DD0-4046-B724-5684194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43525"/>
            <a:ext cx="3829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unexpected AV context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559C7F6-B7B6-46AC-9ACC-A8FE4958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1816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B7633A-45B8-44EB-94A0-1B3A8B3D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43525"/>
            <a:ext cx="1114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120 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4F18FB-B86B-4CCD-8D05-D15844D8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81600"/>
            <a:ext cx="2266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C0EFFC-D34C-4DE0-9C39-F1640968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43525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67B022B-F0DE-4017-9B5C-1A4874B2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75" b="0" i="1">
                <a:solidFill>
                  <a:srgbClr val="53616E"/>
                </a:solidFill>
                <a:latin typeface="Aptos"/>
                <a:ea typeface="Aptos"/>
                <a:cs typeface="Aptos"/>
              </a:rPr>
              <a:t>Independence is an intentional simplifying assumption: there are no conditional links between layers.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79AEBC-84E0-45D9-9A4B-434BF7AA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Source: config.yaml; simulator.py (LAYER_DEFINITIONS)</a:t>
            </a:r>
          </a:p>
        </p:txBody>
      </p:sp>
    </p:spTree>
    <p:extLst>
      <p:ext uri="{BB962C8B-B14F-4D97-AF65-F5344CB8AC3E}">
        <p14:creationId xmlns:p14="http://schemas.microsoft.com/office/powerpoint/2010/main" val="678963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4EBE3-5498-4A26-97DF-9E6DE6F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D8D24-C90C-493F-9CD6-987C9329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Each sampled layer gets a fixed probability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9D707-EB44-4B49-818B-E97A66D1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661AB-3599-4490-A803-B455AD5C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A04E33-CA22-4859-AC3E-F4435C7A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The street layer is special: its 12 configured route-composition probabilities are used exactly, without a Dirichlet draw.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3353C-830D-4377-B8C3-C3A46610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AF930-70DE-4ED8-A0C7-AF487ADE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BE133-D003-43B3-8E2B-2F5D6B5E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098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Choose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98390-B169-4C0C-A756-66E88C9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288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Sample an element count from the layer’s configured range.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056E0E-809F-4CC6-AF84-F8191F3B8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DF50E6-A665-4349-8744-BD8E118D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0512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9427A-D67E-47E4-8471-5F19D185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A7DDAF-381B-4426-8D68-8A5C58DA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241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Assign rarity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B8E5B4-2AC1-4B12-9754-57AC5AE9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4322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Use largest-remainder category counts, then shuffle labels across elements.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DA03F-813F-43EB-86EE-F60C3640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41171D-53BB-489C-96AA-A19D837D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4C7C2-B057-443F-9FCA-4FF3FC63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CF55F3-F8C7-4957-B0CE-7F1A88B1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Set weights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FC9BE-6906-41EF-BEF8-BE0C5479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5760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Common → very rare weights; solve the unknown weight for a 0.4% designed mass.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3E227-8834-4413-ABCA-5BEF01BE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876B7-D6FB-481F-9259-65D1F86D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AF4F11-5C6D-4738-B2BC-6223563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7A6ED5-0E21-48C7-B166-6E46846D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52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Draw probabilities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4FD5F2-A66A-4C52-839E-D9E99536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371975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One Dirichlet draw at concentration 20,000 creates the transition vector.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56F1E9-4594-42BA-9A80-C703C4EF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62FEB-7E1F-4EE3-966D-5963F726D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482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38F064-9FDA-4D32-B304-97C7AA36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AD1C0A-EA7F-49CB-ACC9-F42B91D6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67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Draw dwell times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90DC6B-A376-491E-B8F2-E84BE2B3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86350"/>
            <a:ext cx="704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Gamma(shape = μ²/var, scale = var/μ), clamped to ≥1 second.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59F2A-AC01-49F0-879E-FAC8DFB5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27813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5BA44C-9277-405E-9813-29CFE13F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715000"/>
            <a:ext cx="2552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Target unknown-element mass: 0.4%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73611-420A-45C4-9200-D95B6CF9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config.yaml; simulator.py (build_layer, compute_unknown_weight)</a:t>
            </a:r>
          </a:p>
        </p:txBody>
      </p:sp>
    </p:spTree>
    <p:extLst>
      <p:ext uri="{BB962C8B-B14F-4D97-AF65-F5344CB8AC3E}">
        <p14:creationId xmlns:p14="http://schemas.microsoft.com/office/powerpoint/2010/main" val="2320895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9F63B5-6688-436A-AA6B-7DCB1AB9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36243-2B78-44A7-8706-B4261A0C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engine jumps directly to the next layer expiry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0745B-85EE-4C84-A25E-32972617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73B46-4B13-47CD-830B-D51470E2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40370A-6FEF-4469-950A-0C9E9A59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At any instant, every layer has a remaining dwell time. The loop advances by the minimum of those times, then updates only expired layers.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37EC2-325E-4DDE-944D-28737DCA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09850"/>
            <a:ext cx="1733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37DCFF-71A5-4E73-9FE2-97E2C1C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905F3-6F7B-4BDA-B1B5-6650AF61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62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DBF8B-41E7-4275-AA71-9893308D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six current elements</a:t>
            </a:r>
          </a:p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+six remaining times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31F2A-EE39-44B6-A786-DCEAB364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385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0E0CD-56E2-489F-8EB5-984641B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09850"/>
            <a:ext cx="1733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B77B6-34D7-4CD9-8A4B-33106576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7C1F84-B03A-469C-8086-C043567D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62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Find next event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CC8B9-DE3A-4F28-A8C7-679622CF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195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dt = min(remaining)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DE0A19-7939-4602-BC48-43C3CBF3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385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B56B99-1D19-41F6-BC5B-37851A58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09850"/>
            <a:ext cx="1733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CDBCA-D641-46FE-BBB5-7DC888FD5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ADF946-B434-4A06-AA64-999EAD56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162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Advance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FC012-EDB1-4EAA-A1C5-BFD8CC8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6195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time += dt</a:t>
            </a:r>
          </a:p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miles += 50·dt / 3600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FDD0CA-DB14-421A-87A3-4FA01464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2385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93B714-7F85-40FB-9180-9E0EFBE7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1733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2CD7E-CB44-49CF-A6BB-4DAA386E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E19FEC-1F39-417D-ABCD-E4E03C72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62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Transition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0818B9-8724-4BF9-B983-F7C90A42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sample next element</a:t>
            </a:r>
          </a:p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and new Gamma duration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50E0DB-D957-4B00-8E15-4C4360BC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342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C5CA99-AE14-4F35-94D7-1904B902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609850"/>
            <a:ext cx="17335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98434-BF96-48A8-A369-A8472BF7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8003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BE38E-5B53-4F08-AEE5-91106A66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623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Track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A4B8E-40C0-4276-8AE3-5D77D0AD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19500"/>
            <a:ext cx="1390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update episodes and</a:t>
            </a:r>
          </a:p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combination matches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B3CB92-EFC7-4F4D-88E8-6FA288CF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3632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A91D6C-7436-47B0-953B-96D68214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91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7330B5-B087-419E-9E75-0EB1070A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91125"/>
            <a:ext cx="784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2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delivered 2M-mile run advances through 9,998,505 event steps in about 46 seconds—not 144 million one-second iterations.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6DCEA-7693-498D-9B7C-414172E6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simulator.py (ScenarioSimulator.run_resumable); results/summary.md</a:t>
            </a:r>
          </a:p>
        </p:txBody>
      </p:sp>
    </p:spTree>
    <p:extLst>
      <p:ext uri="{BB962C8B-B14F-4D97-AF65-F5344CB8AC3E}">
        <p14:creationId xmlns:p14="http://schemas.microsoft.com/office/powerpoint/2010/main" val="511839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7E0046-E9C2-444A-87DF-D98DC994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A4177-88CB-433D-9CBE-B8986C1F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Episodes measure continuous unknown occupancy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9736C-812F-4D14-AECA-B77D2220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2A169-0509-4912-912B-A330A840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55243-1AA4-40DD-B309-E176C106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This avoids inflating counts when a slow unknown condition persists while unrelated fast layers change around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3B9E17-79A0-4A52-B0AD-71322997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7170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ABF3F-358B-4388-8D4A-75FAAB3C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95525"/>
            <a:ext cx="3733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Layer transition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0F0D71-EC31-4432-8071-A82BED56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FDE13-EAA6-472B-865A-CBEBCD9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95525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CFFCC-CBF6-4D8A-B0AC-71C521DE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381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96FA1-36F4-46F3-AA94-20038760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95525"/>
            <a:ext cx="3543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CCF89-6761-40FB-8C77-FFC94C18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EE8606-2C4F-49D8-929A-5C522000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622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known → unknown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90596-2EC5-4A7D-B9AA-F9F235DEF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14648-9301-4B42-9271-8A0EE543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622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846CA-FAE1-4C5C-B884-296A3D1F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908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083BB-4E10-4987-8A40-26371F85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 new element episode starts.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B1FEF5-A1DF-4772-9775-A44062F8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FEC204-833A-476A-8514-8AB64D31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unknown → known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469D2-6B1B-43E8-B165-D97A1A52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FEBA7-AD8F-430C-8FC8-9A91984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147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B287E-BE92-4645-8109-2D0C5CC6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4325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C7D1E-F60B-4BE7-A29E-1B3298ED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current element episode ends.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818FF-8F37-43A7-88F5-A3ADBAF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DE80C-1F5F-4541-B0D2-51C4C5AE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671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unknown A → unknown 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CEA9E-6CF3-48B7-BE96-6302C0A6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F08CA-01FD-42D0-A511-23652680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671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close + open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3CFE9-0350-45F8-91D5-7831393D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6957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7B3FBB-19C7-4236-B702-201DA910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671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 different unknown gets its own episode.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0BF551-58DC-40DA-A2B1-7CE51E4C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481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1B705A-6AD7-40D3-9694-40C856BA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unknown A → unknown 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017A5D-CE4E-4CCA-9495-C0806FB9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2481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F36F2-66B9-443A-B608-A3B1B5A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1960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continue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39B5D-9B44-40BE-98E6-E19F043C7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4815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F87E1E-2121-48A9-AFFA-2D047919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1960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A self-transition does not split the episode.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5CB310-B0A1-424C-BB86-EFB0524A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006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7BB7B3-6B53-4C91-9982-DE23355B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known → known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DCD9D7-F4C5-4D45-B50E-461280CF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006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49DC48-17F3-44BF-9B1C-800E4F41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9720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nothing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893BB8-BBC7-4D2D-8DDC-FEADE536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0060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5F58C0-4C86-401E-B11F-5FF6AA10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972050"/>
            <a:ext cx="354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No element episode is active.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A842FF-2D8B-44D3-AAE4-3A0333B1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24500"/>
            <a:ext cx="108204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83E496-79E2-4EF4-BD77-E82D8274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Key consequence: element episodes are per layer and may overlap; changes in other layers do not start or end them.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A58D50-D7AD-49FA-9B71-0803A87E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Source: simulator.py (episode_transition_action and event loop); README.md</a:t>
            </a:r>
          </a:p>
        </p:txBody>
      </p:sp>
    </p:spTree>
    <p:extLst>
      <p:ext uri="{BB962C8B-B14F-4D97-AF65-F5344CB8AC3E}">
        <p14:creationId xmlns:p14="http://schemas.microsoft.com/office/powerpoint/2010/main" val="6071990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23AD88-0813-4843-BF49-8C82D569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FEF98-33F3-4EA8-BC77-DB6A65E7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Three distinct mechanisms are tracked at the same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960BF-0DFC-429A-8C6A-60746AA8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5A172-3F1B-49D7-802B-D635710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BE4E03-B721-4A1C-B542-42A4F9EC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All episode types contribute to the “unknown time” union, but they answer different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6D212-EF79-4489-B642-E384A427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A9E2C-F328-49E9-BF22-81659C04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D2106-0E0D-4EAD-89B0-1D48FFAB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ELEMENT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FCFC9B-83D3-4E80-8FA9-8CEB2591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Unknown element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1E5C-31DD-4DE5-9FDC-1A1BB12C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 single layer occupies an element labelled “unknown.” Starts and ends follow the occupancy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9488F8-CA28-4040-9532-58CB54B0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498AF0-3AC2-4EE2-AE71-24A49EDE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479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D78"/>
          </a:solidFill>
          <a:ln xmlns:a="http://schemas.openxmlformats.org/drawingml/2006/main" w="9525">
            <a:solidFill>
              <a:srgbClr val="3EAD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98A8AC-AB43-488A-97D8-ECC9B5A8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438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220A3-F958-4F2A-B335-30747F5B8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Known interaction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D70EC-8D5F-42F0-A58C-C27F13D8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0520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 configured conjunction across ≥2 layers, e.g. a particular street state + weather state. Survives unrelated changes.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01ECB2-32E8-42D9-8D87-D89A589E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3333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CC82B-06B7-4B81-BEF5-78DD65B9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47900"/>
            <a:ext cx="762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A42"/>
          </a:solidFill>
          <a:ln xmlns:a="http://schemas.openxmlformats.org/drawingml/2006/main" w="9525">
            <a:solidFill>
              <a:srgbClr val="E99A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0F74B3-98E5-4234-A25A-4EDD080C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38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HASH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93F3F2-4E56-4D42-81EB-D5E7AF0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62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Unknown tuple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62CA1A-1805-4C76-A0A6-0D092378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05200"/>
            <a:ext cx="2952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 deterministic SHA-256 classifier flags ~0.5% of all-known six-layer tuples. Ends on any tuple change.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67416-1C4F-4278-9C6B-11C1195A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578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Element episode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0C5A74-61FC-4BCD-9441-19180CE8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57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3CD16E-300F-4FB3-81BD-BF9277F6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2578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AD7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AD78"/>
                </a:solidFill>
                <a:latin typeface="Aptos"/>
                <a:ea typeface="Aptos"/>
                <a:cs typeface="Aptos"/>
              </a:rPr>
              <a:t>Pattern episode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A42D3-7812-4A88-8501-47D343F0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57800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+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71F8C-1E5D-4E34-B10C-9706483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5780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99A4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99A42"/>
                </a:solidFill>
                <a:latin typeface="Aptos"/>
                <a:ea typeface="Aptos"/>
                <a:cs typeface="Aptos"/>
              </a:rPr>
              <a:t>Hash episode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5070A-0E64-4C45-9A0A-8F93253B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43575"/>
            <a:ext cx="7391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= union time in “an unknown scenario” (overlaps counted once)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7ED56-2E89-44EF-A8E3-6B28CA69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README.md; simulator.py (CombinationRule and UnknownCombinationClassifier)</a:t>
            </a:r>
          </a:p>
        </p:txBody>
      </p:sp>
    </p:spTree>
    <p:extLst>
      <p:ext uri="{BB962C8B-B14F-4D97-AF65-F5344CB8AC3E}">
        <p14:creationId xmlns:p14="http://schemas.microsoft.com/office/powerpoint/2010/main" val="8095867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3B916-D87A-4E83-B8FF-7589ACC3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DELIVERED 2M-MILE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F5D51-F48F-480B-80CD-8AE4F84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84,296 unknown episodes came from three different mechanisms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75D76-FD92-4766-A052-9AFAA8B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4AFA5A-E6E0-4895-8791-A1BF2E5E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0E81F0-EA6F-452E-9AC0-B1D34318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The headline total blends element-level novelty with two synthetic combination mechanisms.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mlns:a="http://schemas.openxmlformats.org/drawingml/2006/main" x="457200" y="2095500"/>
          <a:ext xmlns:a="http://schemas.openxmlformats.org/drawingml/2006/main" cx="6191250" cy="3695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8a580b9e5249a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58BF6-8372-46E6-A2C4-2990D34B8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3848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689C3-0742-4C92-9DC2-2CB44C60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29B3D1-4D31-4DBB-ACED-17346E4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RATE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4F1D2-06FB-486C-9B86-73B4B77F8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003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42,148 / 1M 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A9EB10-509C-4328-8115-234F2563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146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Episode starts per million miles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4D9BD1-A46F-43D5-A1AD-E832F810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3848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73C058-346B-44B8-A6A0-4EDFBD4C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433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9488"/>
          </a:solidFill>
          <a:ln xmlns:a="http://schemas.openxmlformats.org/drawingml/2006/main" w="9525">
            <a:solidFill>
              <a:srgbClr val="0D948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736AF-AD2C-495E-BB99-07DA00F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UNION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BB988-4DB4-4B27-A775-CCBA7626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719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2.7408%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71209-D2BD-4E80-ADEA-D46AB6E1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862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3,946,822 seconds of simulated 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5CBE0-D313-43D4-A382-76905868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38481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92CCC-2FDE-405C-A3F5-1E3939AB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1490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D78"/>
          </a:solidFill>
          <a:ln xmlns:a="http://schemas.openxmlformats.org/drawingml/2006/main" w="9525">
            <a:solidFill>
              <a:srgbClr val="3EAD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E8C98-8F8A-42BE-9ED7-8617DD38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05400"/>
            <a:ext cx="3467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C806A6-BCD1-4D49-995D-4D094BCD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3435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0 truncated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255E6-50AF-4FA2-9126-E018B4E9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57850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No episodes remained open at run 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CB5438-5A2A-4C9C-B503-8F1CA25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Source: results/summary.md; results/stats.json</a:t>
            </a:r>
          </a:p>
        </p:txBody>
      </p:sp>
    </p:spTree>
    <p:extLst>
      <p:ext uri="{BB962C8B-B14F-4D97-AF65-F5344CB8AC3E}">
        <p14:creationId xmlns:p14="http://schemas.microsoft.com/office/powerpoint/2010/main" val="21213920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88903C-A366-4C3A-8F9C-23BDF1C3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DELIVERED 2M-MILE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2A949-DF93-4551-BC84-803A6F25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Short dwell times drive more episode starts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E5CAD-70FE-43C2-A51C-8466BB7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6A1B63-69A2-4ADF-8BD7-39808D39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975F37-8AA7-4709-A763-BF21B911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All four unknown-capable layers target 0.4% unknown selection. Episode counts still differ sharply because their dwell times differ.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6000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81f7f2d70a479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8AAE1-2CFF-43C1-9C55-BA629D89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1930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Element episodes by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B300A-009A-4A6D-BAB4-13C619E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4057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C1AA55-1F78-4081-8411-27240D2E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E0A14-54BE-420A-B42E-58DA8015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860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EGO MANEUVER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BB71D-7752-4389-96F5-67B6820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241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21,018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717EE-2E27-4FD7-8A76-FB218DCD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384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Mean dwell: 30 s → most frequent opportunities to start an episode.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EFCB98-3AA7-4CED-B11A-41202C6C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4057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065132-A3B4-4EC5-9377-A9A8ECC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A42"/>
          </a:solidFill>
          <a:ln xmlns:a="http://schemas.openxmlformats.org/drawingml/2006/main" w="9525">
            <a:solidFill>
              <a:srgbClr val="E99A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721F5-12CC-4FB4-A7CB-880C8317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7665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ROAD-USER MANEUVER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AA52B-F748-43E8-B8CC-ABC2C13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1477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12,217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5E5BC1-2AA1-4641-BFAB-34B9F0B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2910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Mean dwell: 45 s → second highest turnover rate.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C4882E-35E7-4661-8D22-7E7810E8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0576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14826-B4B7-42DD-BF34-40271A24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762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D78"/>
          </a:solidFill>
          <a:ln xmlns:a="http://schemas.openxmlformats.org/drawingml/2006/main" w="9525">
            <a:solidFill>
              <a:srgbClr val="3EAD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E23EAD-75DC-4FF1-A48E-64C10EB8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067300"/>
            <a:ext cx="3676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TEMPORAL MODIFICATIONS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BBD32-C04B-4499-BB16-76FA6D04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05425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977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65AD4-ACF3-4F16-B0BF-899B56D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197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Mean dwell: 600 s → far fewer transition opportunities.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3FACA6-2A63-4030-AFEA-671578B0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Source: results/summary.md; results/stats.json</a:t>
            </a:r>
          </a:p>
        </p:txBody>
      </p:sp>
    </p:spTree>
    <p:extLst>
      <p:ext uri="{BB962C8B-B14F-4D97-AF65-F5344CB8AC3E}">
        <p14:creationId xmlns:p14="http://schemas.microsoft.com/office/powerpoint/2010/main" val="19948440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74077-2166-4BDB-B4BF-CAF1D342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DELIVERED 2M-MILE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67B4C-4CE1-4071-8CE0-529D5A13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Duration reveals what ends each kind of episode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B520EA-6289-42F7-9340-B0B19BE8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90339F-3E09-48B5-BF32-F94D73B2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d5f24623241a2"/>
          <a:stretch xmlns:a="http://schemas.openxmlformats.org/drawingml/2006/main"/>
        </p:blipFill>
        <p:spPr>
          <a:xfrm xmlns:a="http://schemas.openxmlformats.org/drawingml/2006/main">
            <a:off x="400050" y="1929342"/>
            <a:ext cx="6667500" cy="370416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45BA1-343F-4DB0-A6B8-D177541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38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Mean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46D480-20A4-44DA-A3EA-DE069C9D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3752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A66B0-952A-42BB-99AD-A2D67E16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336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2F2DA3-BE53-4299-8089-A426DFB8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241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ELEMENT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9AD76-06F6-43DB-9610-412DE254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622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60.5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4B470-D06F-43B0-8D46-C9420987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765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Ends when that layer leaves its unknown element.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D59D0C-80F0-44E2-A7FB-8C8B017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3752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B9691-9A3E-4332-BBF1-6D9425CA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290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AD78"/>
          </a:solidFill>
          <a:ln xmlns:a="http://schemas.openxmlformats.org/drawingml/2006/main" w="9525">
            <a:solidFill>
              <a:srgbClr val="3EAD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5F513-8C0B-4626-9103-4379D4D7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195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PATTERN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8E99E-1148-454D-900E-BE5D7A7E6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8576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261.0 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8C2D3-BAD3-4130-B214-F58BDF55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719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Ends only when a referenced layer breaks the rule.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F3A5F-1E7B-4C2F-8222-F71CEF36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37528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6B1E1-188C-400D-80FF-B51A48B9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72440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A42"/>
          </a:solidFill>
          <a:ln xmlns:a="http://schemas.openxmlformats.org/drawingml/2006/main" w="9525">
            <a:solidFill>
              <a:srgbClr val="E99A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770E3-9403-4FBA-BFDA-AFB47417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HASH COMBINATION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61D427-E61A-41ED-B62C-655226F5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53025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16.7 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06B98C-C78D-4B04-B43D-EB7B969B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673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Ends on any genuine tuple change.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370F5-3524-4FEB-A137-6B554C8C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results/summary.md; results/plots/episode_durations.png</a:t>
            </a:r>
          </a:p>
        </p:txBody>
      </p:sp>
    </p:spTree>
    <p:extLst>
      <p:ext uri="{BB962C8B-B14F-4D97-AF65-F5344CB8AC3E}">
        <p14:creationId xmlns:p14="http://schemas.microsoft.com/office/powerpoint/2010/main" val="16280314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9F42A-AA7C-44DB-8272-5242C1DD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DELIVERED 2M-MILE RUN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997EE4-5408-422F-A5BF-A4A244B9B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Episode starts are steady at scale, but modestly more variable than Poisson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AD21D-CF33-4AA5-8425-1968366A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69D05-A5F6-42F1-A83C-01A88D84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d9ac26fe14ae9"/>
          <a:stretch xmlns:a="http://schemas.openxmlformats.org/drawingml/2006/main"/>
        </p:blipFill>
        <p:spPr>
          <a:xfrm xmlns:a="http://schemas.openxmlformats.org/drawingml/2006/main">
            <a:off x="400050" y="2009775"/>
            <a:ext cx="6743700" cy="33718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EB122-CFFB-4A40-9AC2-E4A63252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3429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4337E-62ED-4A9F-801E-57FFD00E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288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30B6E-C5A1-4EF6-9925-9474BB44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193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WINDOW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8DD11-F891-4352-AEB3-E78D01FE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574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421.5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16F6A-B430-4D59-8A58-C67CBB09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episode starts per 10,000 miles</a:t>
            </a:r>
          </a:p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(200 complete windows)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7DD58-9A73-41F2-A9CD-275C81C7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3429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A48E7-B2D3-45CF-A38C-306E9350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A42"/>
          </a:solidFill>
          <a:ln xmlns:a="http://schemas.openxmlformats.org/drawingml/2006/main" w="9525">
            <a:solidFill>
              <a:srgbClr val="E99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D10557-A45F-48CC-96BE-8692B933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DISPERSION INDEX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1202E-9288-4ECE-8F16-3B187E52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7433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1.261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E000E0-197B-47E7-A3F8-A9B3BDD6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variance / mean</a:t>
            </a:r>
          </a:p>
          <a:p xmlns:a="http://schemas.openxmlformats.org/drawingml/2006/main">
            <a:pPr algn="l">
              <a:defRPr sz="975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1.0 would be ideal Poisson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7DD25B-C6BB-438B-AE17-2C89290C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34290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A807D-5F65-4A18-9E09-095E6F4B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8157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AFF33-8F04-4B1B-897B-DF8F9BC1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482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97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Near-Poisson starts are consistent with independent rare transitions, but the process is not exactly Poisson.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4A3C9-B83E-4B16-B33C-5E63B509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results/summary.md; results/plots/window_counts.png; analytical_model.md</a:t>
            </a:r>
          </a:p>
        </p:txBody>
      </p:sp>
    </p:spTree>
    <p:extLst>
      <p:ext uri="{BB962C8B-B14F-4D97-AF65-F5344CB8AC3E}">
        <p14:creationId xmlns:p14="http://schemas.microsoft.com/office/powerpoint/2010/main" val="1339250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D710D-5980-4DD7-ACD1-592D9C9E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8D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D8DFF"/>
                </a:solidFill>
                <a:latin typeface="Aptos"/>
                <a:ea typeface="Aptos"/>
                <a:cs typeface="Aptos"/>
              </a:rPr>
              <a:t>LAYERED SCENARIO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9141C4-6CFF-4EF2-B71F-B5D4B0C0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038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91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1820"/>
                </a:solidFill>
                <a:latin typeface="Aptos"/>
                <a:ea typeface="Aptos"/>
                <a:cs typeface="Aptos"/>
              </a:rPr>
              <a:t>Use the simulator for coverage and sensitivity—not as a calibrated safety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BD60D-5EDD-47A4-A04C-27DB090F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61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16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5C944-1095-4A02-8CE4-5F28EA69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11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4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33E8C-F0ED-4343-A57B-880CFC0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801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The delivered run is internally coherent: the conditional analytical model predicts 84,724 episodes; simulation produced 84,296 (within 0.5%).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5FC8E-2DB1-4995-8E38-BC74379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1816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CCD4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28864-7429-490C-8BC0-72D1BB18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948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D9488"/>
                </a:solidFill>
                <a:latin typeface="Aptos"/>
                <a:ea typeface="Aptos"/>
                <a:cs typeface="Aptos"/>
              </a:rPr>
              <a:t>What the results support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84DF4-2B49-4D10-87C8-1BDE3EB6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3053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Sensitivity analysis of layer rates and dwell times</a:t>
            </a:r>
          </a:p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Comparing coverage strategies</a:t>
            </a:r>
          </a:p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Identifying which conditions drive exposure</a:t>
            </a:r>
          </a:p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• Testing episode definitions and overlap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CA6B6-C5F3-468D-9642-44112CEF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51816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F2CE9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5AD84-004A-447C-BA1E-97B1A844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99A42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99A42"/>
                </a:solidFill>
                <a:latin typeface="Aptos"/>
                <a:ea typeface="Aptos"/>
                <a:cs typeface="Aptos"/>
              </a:rPr>
              <a:t>Critical interpretation caveat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E580F-CAAC-4AF9-BC76-C7C19185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3053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182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1820"/>
                </a:solidFill>
                <a:latin typeface="Aptos"/>
                <a:ea typeface="Aptos"/>
                <a:cs typeface="Aptos"/>
              </a:rPr>
              <a:t>The analytical report’s 1.639% “unknown-time union” is element-only. It is not directly comparable with the simulated 2.741% union once pattern and hash combinations are enabled.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D1119-6727-414C-A115-4CF2E0E1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53050"/>
            <a:ext cx="108204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9525">
            <a:solidFill>
              <a:srgbClr val="10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076A67-1B77-422A-8D61-CF4B8D25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17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6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line: the run quantifies exposure to the model’s definition of unknownness—not empirical AV danger or failure probability.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261BC-539A-4FDE-9477-CE2955F9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3616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3616E"/>
                </a:solidFill>
                <a:latin typeface="Aptos"/>
                <a:ea typeface="Aptos"/>
                <a:cs typeface="Aptos"/>
              </a:rPr>
              <a:t>Sources: analytical_model.py; analytical_model.md; results/summary.md</a:t>
            </a:r>
          </a:p>
        </p:txBody>
      </p:sp>
    </p:spTree>
    <p:extLst>
      <p:ext uri="{BB962C8B-B14F-4D97-AF65-F5344CB8AC3E}">
        <p14:creationId xmlns:p14="http://schemas.microsoft.com/office/powerpoint/2010/main" val="7284498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2026-07-21T09:34:35.6050000Z</dcterms:created>
  <dcterms:modified xsi:type="dcterms:W3CDTF">2026-07-21T09:34:35.6050000Z</dcterms:modified>
</coreProperties>
</file>