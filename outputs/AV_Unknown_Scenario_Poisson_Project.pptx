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1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9808" y="82296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COVERAGE · SIMULATION STUDY · AUGUST 2026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49808" y="1325880"/>
            <a:ext cx="108813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Does the Occurrence of Unknown Scenarios</a:t>
            </a:r>
            <a:endParaRPr lang="en-US" sz="40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Follow a Poisson Distribution?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49808" y="324612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C7D5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layered-scenario simulator for autonomous-vehicle validation — project purpose, simulator design, and results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49808" y="41605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Samer Jameel  ·  Xinhai Zhang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Coverage work stream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49808" y="534924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100" kern="0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STREET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749808" y="5550408"/>
            <a:ext cx="1737360" cy="475488"/>
          </a:xfrm>
          <a:prstGeom prst="roundRect">
            <a:avLst>
              <a:gd name="adj" fmla="val 19231"/>
            </a:avLst>
          </a:prstGeom>
          <a:solidFill>
            <a:srgbClr val="EEF2F7"/>
          </a:solidFill>
          <a:ln w="15875">
            <a:solidFill>
              <a:srgbClr val="C3CFD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59536" y="5747004"/>
            <a:ext cx="82296" cy="82296"/>
          </a:xfrm>
          <a:prstGeom prst="ellipse">
            <a:avLst/>
          </a:prstGeom>
          <a:solidFill>
            <a:srgbClr val="64748B"/>
          </a:solidFill>
          <a:ln/>
        </p:spPr>
      </p:sp>
      <p:sp>
        <p:nvSpPr>
          <p:cNvPr id="9" name="Text 7"/>
          <p:cNvSpPr/>
          <p:nvPr/>
        </p:nvSpPr>
        <p:spPr>
          <a:xfrm>
            <a:off x="969264" y="5550408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D4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street_009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596896" y="534924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100" kern="0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2596896" y="5550408"/>
            <a:ext cx="1737360" cy="475488"/>
          </a:xfrm>
          <a:prstGeom prst="roundRect">
            <a:avLst>
              <a:gd name="adj" fmla="val 19231"/>
            </a:avLst>
          </a:prstGeom>
          <a:solidFill>
            <a:srgbClr val="EEF2F7"/>
          </a:solidFill>
          <a:ln w="15875">
            <a:solidFill>
              <a:srgbClr val="C3CFD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06624" y="5747004"/>
            <a:ext cx="82296" cy="82296"/>
          </a:xfrm>
          <a:prstGeom prst="ellipse">
            <a:avLst/>
          </a:prstGeom>
          <a:solidFill>
            <a:srgbClr val="64748B"/>
          </a:solidFill>
          <a:ln/>
        </p:spPr>
      </p:sp>
      <p:sp>
        <p:nvSpPr>
          <p:cNvPr id="13" name="Text 11"/>
          <p:cNvSpPr/>
          <p:nvPr/>
        </p:nvSpPr>
        <p:spPr>
          <a:xfrm>
            <a:off x="2816352" y="5550408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D4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temporal_030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443984" y="534924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100" kern="0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EGO MAN.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4443984" y="5550408"/>
            <a:ext cx="1737360" cy="475488"/>
          </a:xfrm>
          <a:prstGeom prst="roundRect">
            <a:avLst>
              <a:gd name="adj" fmla="val 19231"/>
            </a:avLst>
          </a:prstGeom>
          <a:solidFill>
            <a:srgbClr val="FBF0DA"/>
          </a:solidFill>
          <a:ln w="15875">
            <a:solidFill>
              <a:srgbClr val="E2B25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53712" y="5747004"/>
            <a:ext cx="82296" cy="82296"/>
          </a:xfrm>
          <a:prstGeom prst="ellipse">
            <a:avLst/>
          </a:prstGeom>
          <a:solidFill>
            <a:srgbClr val="DB8B1F"/>
          </a:solidFill>
          <a:ln/>
        </p:spPr>
      </p:sp>
      <p:sp>
        <p:nvSpPr>
          <p:cNvPr id="17" name="Text 15"/>
          <p:cNvSpPr/>
          <p:nvPr/>
        </p:nvSpPr>
        <p:spPr>
          <a:xfrm>
            <a:off x="4663440" y="5550408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8A57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ego_011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291072" y="534924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100" kern="0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 MAN.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6291072" y="5550408"/>
            <a:ext cx="1737360" cy="475488"/>
          </a:xfrm>
          <a:prstGeom prst="roundRect">
            <a:avLst>
              <a:gd name="adj" fmla="val 19231"/>
            </a:avLst>
          </a:prstGeom>
          <a:solidFill>
            <a:srgbClr val="FBF0DA"/>
          </a:solidFill>
          <a:ln w="15875">
            <a:solidFill>
              <a:srgbClr val="E2B25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0" y="5747004"/>
            <a:ext cx="82296" cy="82296"/>
          </a:xfrm>
          <a:prstGeom prst="ellipse">
            <a:avLst/>
          </a:prstGeom>
          <a:solidFill>
            <a:srgbClr val="DB8B1F"/>
          </a:solidFill>
          <a:ln/>
        </p:spPr>
      </p:sp>
      <p:sp>
        <p:nvSpPr>
          <p:cNvPr id="21" name="Text 19"/>
          <p:cNvSpPr/>
          <p:nvPr/>
        </p:nvSpPr>
        <p:spPr>
          <a:xfrm>
            <a:off x="6510528" y="5550408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8A57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ru_010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138160" y="534924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100" kern="0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8138160" y="5550408"/>
            <a:ext cx="1737360" cy="475488"/>
          </a:xfrm>
          <a:prstGeom prst="roundRect">
            <a:avLst>
              <a:gd name="adj" fmla="val 19231"/>
            </a:avLst>
          </a:prstGeom>
          <a:solidFill>
            <a:srgbClr val="EEF2F7"/>
          </a:solidFill>
          <a:ln w="15875">
            <a:solidFill>
              <a:srgbClr val="C3CFD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247888" y="5747004"/>
            <a:ext cx="82296" cy="82296"/>
          </a:xfrm>
          <a:prstGeom prst="ellipse">
            <a:avLst/>
          </a:prstGeom>
          <a:solidFill>
            <a:srgbClr val="64748B"/>
          </a:solidFill>
          <a:ln/>
        </p:spPr>
      </p:sp>
      <p:sp>
        <p:nvSpPr>
          <p:cNvPr id="25" name="Text 23"/>
          <p:cNvSpPr/>
          <p:nvPr/>
        </p:nvSpPr>
        <p:spPr>
          <a:xfrm>
            <a:off x="8357616" y="5550408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D4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environment_004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9985248" y="534924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100" kern="0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TRIGGERING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9985248" y="5550408"/>
            <a:ext cx="1737360" cy="475488"/>
          </a:xfrm>
          <a:prstGeom prst="roundRect">
            <a:avLst>
              <a:gd name="adj" fmla="val 19231"/>
            </a:avLst>
          </a:prstGeom>
          <a:solidFill>
            <a:srgbClr val="FBF0DA"/>
          </a:solidFill>
          <a:ln w="15875">
            <a:solidFill>
              <a:srgbClr val="E2B25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094976" y="5747004"/>
            <a:ext cx="82296" cy="82296"/>
          </a:xfrm>
          <a:prstGeom prst="ellipse">
            <a:avLst/>
          </a:prstGeom>
          <a:solidFill>
            <a:srgbClr val="DB8B1F"/>
          </a:solidFill>
          <a:ln/>
        </p:spPr>
      </p:sp>
      <p:sp>
        <p:nvSpPr>
          <p:cNvPr id="29" name="Text 27"/>
          <p:cNvSpPr/>
          <p:nvPr/>
        </p:nvSpPr>
        <p:spPr>
          <a:xfrm>
            <a:off x="10204704" y="5550408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8A57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trigger_014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49808" y="614476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simulated scenario state — the active rare set {ego_011, ru_010, trigger_014} matches a selected C3 rule and opens an unknown-scenario episode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200" kern="0" dirty="0">
                <a:solidFill>
                  <a:srgbClr val="D94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530352"/>
            <a:ext cx="1105783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presentation covers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1505895" y="6510528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8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6928" y="6510528"/>
            <a:ext cx="594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A6B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Unknown-Scenario Poisson Verification · Layered Scenario Simulator v6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5367528" cy="2121408"/>
          </a:xfrm>
          <a:prstGeom prst="roundRect">
            <a:avLst>
              <a:gd name="adj" fmla="val 3017"/>
            </a:avLst>
          </a:prstGeom>
          <a:solidFill>
            <a:srgbClr val="F7FAFD"/>
          </a:solidFill>
          <a:ln w="12700">
            <a:solidFill>
              <a:srgbClr val="D9E3E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1248" y="1773936"/>
            <a:ext cx="566928" cy="566928"/>
          </a:xfrm>
          <a:prstGeom prst="ellipse">
            <a:avLst/>
          </a:prstGeom>
          <a:solidFill>
            <a:srgbClr val="D94F3D"/>
          </a:solidFill>
          <a:ln/>
        </p:spPr>
      </p:sp>
      <p:pic>
        <p:nvPicPr>
          <p:cNvPr id="8" name="Image 0" descr="icons/targe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641" y="1904329"/>
            <a:ext cx="306141" cy="306141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157216" y="170078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C9D4E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841248" y="2468880"/>
            <a:ext cx="48188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 &amp; motivation</a:t>
            </a:r>
            <a:endParaRPr lang="en-US" sz="1650" dirty="0"/>
          </a:p>
        </p:txBody>
      </p:sp>
      <p:sp>
        <p:nvSpPr>
          <p:cNvPr id="11" name="Text 8"/>
          <p:cNvSpPr/>
          <p:nvPr/>
        </p:nvSpPr>
        <p:spPr>
          <a:xfrm>
            <a:off x="841248" y="2816352"/>
            <a:ext cx="48188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D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Poisson assumption matters for AV validation mileage and acceptance criteria — and why it can only be tested in simulation.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263640" y="1481328"/>
            <a:ext cx="5367528" cy="2121408"/>
          </a:xfrm>
          <a:prstGeom prst="roundRect">
            <a:avLst>
              <a:gd name="adj" fmla="val 3017"/>
            </a:avLst>
          </a:prstGeom>
          <a:solidFill>
            <a:srgbClr val="F7FAFD"/>
          </a:solidFill>
          <a:ln w="12700">
            <a:solidFill>
              <a:srgbClr val="D9E3E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537960" y="1773936"/>
            <a:ext cx="566928" cy="566928"/>
          </a:xfrm>
          <a:prstGeom prst="ellipse">
            <a:avLst/>
          </a:prstGeom>
          <a:solidFill>
            <a:srgbClr val="2E5EAA"/>
          </a:solidFill>
          <a:ln/>
        </p:spPr>
      </p:sp>
      <p:pic>
        <p:nvPicPr>
          <p:cNvPr id="14" name="Image 1" descr="icons/layers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8353" y="1904329"/>
            <a:ext cx="306141" cy="306141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0853928" y="170078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C9D4E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000" dirty="0"/>
          </a:p>
        </p:txBody>
      </p:sp>
      <p:sp>
        <p:nvSpPr>
          <p:cNvPr id="16" name="Text 12"/>
          <p:cNvSpPr/>
          <p:nvPr/>
        </p:nvSpPr>
        <p:spPr>
          <a:xfrm>
            <a:off x="6537960" y="2468880"/>
            <a:ext cx="48188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simulator</a:t>
            </a:r>
            <a:endParaRPr lang="en-US" sz="1650" dirty="0"/>
          </a:p>
        </p:txBody>
      </p:sp>
      <p:sp>
        <p:nvSpPr>
          <p:cNvPr id="17" name="Text 13"/>
          <p:cNvSpPr/>
          <p:nvPr/>
        </p:nvSpPr>
        <p:spPr>
          <a:xfrm>
            <a:off x="6537960" y="2816352"/>
            <a:ext cx="48188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D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six-layer scenario world: generated elements, three rarity classes, exact probability masses, per-element Gamma durations.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566928" y="3913632"/>
            <a:ext cx="5367528" cy="2121408"/>
          </a:xfrm>
          <a:prstGeom prst="roundRect">
            <a:avLst>
              <a:gd name="adj" fmla="val 3017"/>
            </a:avLst>
          </a:prstGeom>
          <a:solidFill>
            <a:srgbClr val="F7FAFD"/>
          </a:solidFill>
          <a:ln w="12700">
            <a:solidFill>
              <a:srgbClr val="D9E3EF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841248" y="4206240"/>
            <a:ext cx="566928" cy="566928"/>
          </a:xfrm>
          <a:prstGeom prst="ellipse">
            <a:avLst/>
          </a:prstGeom>
          <a:solidFill>
            <a:srgbClr val="2E5EAA"/>
          </a:solidFill>
          <a:ln/>
        </p:spPr>
      </p:sp>
      <p:pic>
        <p:nvPicPr>
          <p:cNvPr id="20" name="Image 2" descr="icons/play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641" y="4336633"/>
            <a:ext cx="306141" cy="306141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5157216" y="413308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C9D4E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000" dirty="0"/>
          </a:p>
        </p:txBody>
      </p:sp>
      <p:sp>
        <p:nvSpPr>
          <p:cNvPr id="22" name="Text 17"/>
          <p:cNvSpPr/>
          <p:nvPr/>
        </p:nvSpPr>
        <p:spPr>
          <a:xfrm>
            <a:off x="841248" y="4901184"/>
            <a:ext cx="48188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run works</a:t>
            </a:r>
            <a:endParaRPr lang="en-US" sz="1650" dirty="0"/>
          </a:p>
        </p:txBody>
      </p:sp>
      <p:sp>
        <p:nvSpPr>
          <p:cNvPr id="23" name="Text 18"/>
          <p:cNvSpPr/>
          <p:nvPr/>
        </p:nvSpPr>
        <p:spPr>
          <a:xfrm>
            <a:off x="841248" y="5248656"/>
            <a:ext cx="48188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D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event loop, the exact C3–C6 rare-combination mechanism, and a worked example of an episode's life cycle.</a:t>
            </a:r>
            <a:endParaRPr lang="en-US" sz="1150" dirty="0"/>
          </a:p>
        </p:txBody>
      </p:sp>
      <p:sp>
        <p:nvSpPr>
          <p:cNvPr id="24" name="Shape 19"/>
          <p:cNvSpPr/>
          <p:nvPr/>
        </p:nvSpPr>
        <p:spPr>
          <a:xfrm>
            <a:off x="6263640" y="3913632"/>
            <a:ext cx="5367528" cy="2121408"/>
          </a:xfrm>
          <a:prstGeom prst="roundRect">
            <a:avLst>
              <a:gd name="adj" fmla="val 3017"/>
            </a:avLst>
          </a:prstGeom>
          <a:solidFill>
            <a:srgbClr val="F7FAFD"/>
          </a:solidFill>
          <a:ln w="12700">
            <a:solidFill>
              <a:srgbClr val="D9E3EF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6537960" y="4206240"/>
            <a:ext cx="566928" cy="566928"/>
          </a:xfrm>
          <a:prstGeom prst="ellipse">
            <a:avLst/>
          </a:prstGeom>
          <a:solidFill>
            <a:srgbClr val="2E7D5B"/>
          </a:solidFill>
          <a:ln/>
        </p:spPr>
      </p:sp>
      <p:pic>
        <p:nvPicPr>
          <p:cNvPr id="26" name="Image 3" descr="icons/chart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8353" y="4336633"/>
            <a:ext cx="306141" cy="306141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10853928" y="413308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C9D4E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000" dirty="0"/>
          </a:p>
        </p:txBody>
      </p:sp>
      <p:sp>
        <p:nvSpPr>
          <p:cNvPr id="28" name="Text 22"/>
          <p:cNvSpPr/>
          <p:nvPr/>
        </p:nvSpPr>
        <p:spPr>
          <a:xfrm>
            <a:off x="6537960" y="4901184"/>
            <a:ext cx="48188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discussion</a:t>
            </a:r>
            <a:endParaRPr lang="en-US" sz="1650" dirty="0"/>
          </a:p>
        </p:txBody>
      </p:sp>
      <p:sp>
        <p:nvSpPr>
          <p:cNvPr id="29" name="Text 23"/>
          <p:cNvSpPr/>
          <p:nvPr/>
        </p:nvSpPr>
        <p:spPr>
          <a:xfrm>
            <a:off x="6537960" y="5248656"/>
            <a:ext cx="48188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D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20,000-hour reference run, Poisson diagnostics, the verification battery, sensitivity studies — and what it all means.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200" kern="0" dirty="0">
                <a:solidFill>
                  <a:srgbClr val="D94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530352"/>
            <a:ext cx="1105783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Verify the Poisson assumption behind the AV safety case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1505895" y="6510528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8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6928" y="6510528"/>
            <a:ext cx="594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A6B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Unknown-Scenario Poisson Verification · Layered Scenario Simulator v6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66928" y="1417320"/>
            <a:ext cx="59893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b="1" dirty="0">
                <a:solidFill>
                  <a:srgbClr val="22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AI assumes that manifestations of functional insufficiencies (FIs) follow a Poisson distribution.</a:t>
            </a:r>
            <a:endParaRPr lang="en-US" sz="1350" dirty="0"/>
          </a:p>
          <a:p>
            <a:pPr algn="l" marL="152400" indent="-152400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22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single assumption underpins two safety-case calculations:</a:t>
            </a:r>
            <a:endParaRPr lang="en-US" sz="1350" dirty="0"/>
          </a:p>
          <a:p>
            <a:pPr algn="l" marL="152400" indent="-152400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b="1" dirty="0">
                <a:solidFill>
                  <a:srgbClr val="22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mileage — </a:t>
            </a:r>
            <a:pPr algn="l" marL="152400" indent="-152400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22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miles are enough to demonstrate the residual FI rate is acceptably low.</a:t>
            </a:r>
            <a:endParaRPr lang="en-US" sz="1350" dirty="0"/>
          </a:p>
          <a:p>
            <a:pPr algn="l" marL="152400" indent="-152400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b="1" dirty="0">
                <a:solidFill>
                  <a:srgbClr val="22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Decomposition of acceptance criteria — </a:t>
            </a:r>
            <a:pPr algn="l" marL="152400" indent="-152400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22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splitting a vehicle-level target across scenario classes and subsystems.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66928" y="3794760"/>
            <a:ext cx="5989320" cy="1170432"/>
          </a:xfrm>
          <a:prstGeom prst="roundRect">
            <a:avLst>
              <a:gd name="adj" fmla="val 5469"/>
            </a:avLst>
          </a:prstGeom>
          <a:solidFill>
            <a:srgbClr val="FDEFEC"/>
          </a:solidFill>
          <a:ln w="12700">
            <a:solidFill>
              <a:srgbClr val="E8A09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68096" y="4087368"/>
            <a:ext cx="566928" cy="566928"/>
          </a:xfrm>
          <a:prstGeom prst="ellipse">
            <a:avLst/>
          </a:prstGeom>
          <a:solidFill>
            <a:srgbClr val="D94F3D"/>
          </a:solidFill>
          <a:ln/>
        </p:spPr>
      </p:sp>
      <p:pic>
        <p:nvPicPr>
          <p:cNvPr id="9" name="Image 0" descr="icons/crosshair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8489" y="4217761"/>
            <a:ext cx="306141" cy="306141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499616" y="3950208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9C2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of this work</a:t>
            </a:r>
            <a:endParaRPr lang="en-US" sz="13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2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the validity of this assumption — does the occurrence of unknown scenarios really follow a Poisson distribution?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566928" y="5138928"/>
            <a:ext cx="5989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D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problem definition, “Poisson Assumption Verification” (Jameel &amp; Zhang).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6903720" y="1417320"/>
            <a:ext cx="4721047" cy="4206240"/>
          </a:xfrm>
          <a:prstGeom prst="roundRect">
            <a:avLst>
              <a:gd name="adj" fmla="val 1522"/>
            </a:avLst>
          </a:prstGeom>
          <a:solidFill>
            <a:srgbClr val="F7FAFD"/>
          </a:solidFill>
          <a:ln w="12700">
            <a:solidFill>
              <a:srgbClr val="D9E3EF"/>
            </a:solidFill>
            <a:prstDash val="solid"/>
          </a:ln>
          <a:effectLst>
            <a:outerShdw sx="100000" sy="100000" kx="0" ky="0" algn="bl" rotWithShape="0" blurRad="88900" dist="25400" dir="5400000">
              <a:srgbClr val="1A2C4E">
                <a:alpha val="16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7178040" y="1664208"/>
            <a:ext cx="417240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test at the heart of it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7178040" y="1956816"/>
            <a:ext cx="417240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D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unknown-scenario occurrences k in fixed mileage windows, then compare </a:t>
            </a:r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5D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Var(k)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D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with </a:t>
            </a:r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5D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Mean(k)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D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7178040" y="2542032"/>
            <a:ext cx="4172407" cy="841248"/>
          </a:xfrm>
          <a:prstGeom prst="roundRect">
            <a:avLst>
              <a:gd name="adj" fmla="val 6522"/>
            </a:avLst>
          </a:prstGeom>
          <a:solidFill>
            <a:srgbClr val="FDEFEC"/>
          </a:solidFill>
          <a:ln/>
        </p:spPr>
      </p:sp>
      <p:sp>
        <p:nvSpPr>
          <p:cNvPr id="16" name="Text 13"/>
          <p:cNvSpPr/>
          <p:nvPr/>
        </p:nvSpPr>
        <p:spPr>
          <a:xfrm>
            <a:off x="7360920" y="2615184"/>
            <a:ext cx="38066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C2E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Var(k) ≫ Mean(k)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7360920" y="2907792"/>
            <a:ext cx="3806647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2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Overdispersion — risky: bursts of failures; needs more validation miles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7178040" y="3511296"/>
            <a:ext cx="4172407" cy="841248"/>
          </a:xfrm>
          <a:prstGeom prst="roundRect">
            <a:avLst>
              <a:gd name="adj" fmla="val 6522"/>
            </a:avLst>
          </a:prstGeom>
          <a:solidFill>
            <a:srgbClr val="E8F3EE"/>
          </a:solidFill>
          <a:ln/>
        </p:spPr>
      </p:sp>
      <p:sp>
        <p:nvSpPr>
          <p:cNvPr id="19" name="Text 16"/>
          <p:cNvSpPr/>
          <p:nvPr/>
        </p:nvSpPr>
        <p:spPr>
          <a:xfrm>
            <a:off x="7360920" y="3584448"/>
            <a:ext cx="38066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5C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Var(k) ≈ Mean(k)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7360920" y="3877056"/>
            <a:ext cx="3806647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2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Poisson-consistent — the assumption and the mileage math hold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7178040" y="4480560"/>
            <a:ext cx="4172407" cy="841248"/>
          </a:xfrm>
          <a:prstGeom prst="roundRect">
            <a:avLst>
              <a:gd name="adj" fmla="val 6522"/>
            </a:avLst>
          </a:prstGeom>
          <a:solidFill>
            <a:srgbClr val="FBF0DA"/>
          </a:solidFill>
          <a:ln/>
        </p:spPr>
      </p:sp>
      <p:sp>
        <p:nvSpPr>
          <p:cNvPr id="22" name="Text 19"/>
          <p:cNvSpPr/>
          <p:nvPr/>
        </p:nvSpPr>
        <p:spPr>
          <a:xfrm>
            <a:off x="7360920" y="4553712"/>
            <a:ext cx="38066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A57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Var(k) ≪ Mean(k)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7360920" y="4846320"/>
            <a:ext cx="3806647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2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Underdispersion — too conservative: mileage targets overshoot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200" kern="0" dirty="0">
                <a:solidFill>
                  <a:srgbClr val="D94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530352"/>
            <a:ext cx="1105783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it needs far more miles than any fleet can drive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1505895" y="6510528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8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6928" y="6510528"/>
            <a:ext cx="594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A6B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Unknown-Scenario Poisson Verification · Layered Scenario Simulator v6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66928" y="1417320"/>
            <a:ext cx="612648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lnSpc>
                <a:spcPct val="104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b="1" dirty="0">
                <a:solidFill>
                  <a:srgbClr val="22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 are triggered by scenarios. </a:t>
            </a:r>
            <a:pPr algn="l" marL="152400" indent="-152400">
              <a:lnSpc>
                <a:spcPct val="104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2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driving is a chain of scenarios; an FI manifests when the vehicle meets a scenario it cannot handle — so scenario occurrence is what must be modeled.</a:t>
            </a:r>
            <a:endParaRPr lang="en-US" sz="1350" dirty="0"/>
          </a:p>
          <a:p>
            <a:pPr algn="l" marL="152400" indent="-152400">
              <a:lnSpc>
                <a:spcPct val="104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b="1" dirty="0">
                <a:solidFill>
                  <a:srgbClr val="22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 scenarios are rare. </a:t>
            </a:r>
            <a:pPr algn="l" marL="152400" indent="-152400">
              <a:lnSpc>
                <a:spcPct val="104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2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simulated world: one episode every ≈2,000 miles. Real-world rates are far lower still.</a:t>
            </a:r>
            <a:endParaRPr lang="en-US" sz="1350" dirty="0"/>
          </a:p>
          <a:p>
            <a:pPr algn="l" marL="152400" indent="-152400">
              <a:lnSpc>
                <a:spcPct val="104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b="1" dirty="0">
                <a:solidFill>
                  <a:srgbClr val="22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Dispersion needs replication. </a:t>
            </a:r>
            <a:pPr algn="l" marL="152400" indent="-152400">
              <a:lnSpc>
                <a:spcPct val="104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2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Estimating Mean(k) and Var(k) takes hundreds of independent mileage windows — tens of millions of miles. “Can only be done in simulation.”</a:t>
            </a:r>
            <a:endParaRPr lang="en-US" sz="1350" dirty="0"/>
          </a:p>
          <a:p>
            <a:pPr algn="l" marL="152400" indent="-152400">
              <a:lnSpc>
                <a:spcPct val="104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b="1" dirty="0">
                <a:solidFill>
                  <a:srgbClr val="22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Poisson has a testable signature. </a:t>
            </a:r>
            <a:pPr algn="l" marL="152400" indent="-152400">
              <a:lnSpc>
                <a:spcPct val="104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2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counts are Poisson, the miles between successive occurrences are exponential and windows are independent — both directly checkable on simulator output.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995160" y="1417320"/>
            <a:ext cx="4629607" cy="2377440"/>
          </a:xfrm>
          <a:prstGeom prst="roundRect">
            <a:avLst>
              <a:gd name="adj" fmla="val 2692"/>
            </a:avLst>
          </a:prstGeom>
          <a:solidFill>
            <a:srgbClr val="F7FAFD"/>
          </a:solidFill>
          <a:ln w="12700">
            <a:solidFill>
              <a:srgbClr val="D9E3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251192" y="1627632"/>
            <a:ext cx="411754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 between FIs — exponential if Poisson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406640" y="2798064"/>
            <a:ext cx="3760927" cy="0"/>
          </a:xfrm>
          <a:prstGeom prst="line">
            <a:avLst/>
          </a:prstGeom>
          <a:noFill/>
          <a:ln w="19050">
            <a:solidFill>
              <a:srgbClr val="5D6B7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406640" y="2761488"/>
            <a:ext cx="0" cy="73152"/>
          </a:xfrm>
          <a:prstGeom prst="line">
            <a:avLst/>
          </a:prstGeom>
          <a:noFill/>
          <a:ln w="12700">
            <a:solidFill>
              <a:srgbClr val="5D6B7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223760" y="2889504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D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7943915" y="2761488"/>
            <a:ext cx="0" cy="73152"/>
          </a:xfrm>
          <a:prstGeom prst="line">
            <a:avLst/>
          </a:prstGeom>
          <a:noFill/>
          <a:ln w="12700">
            <a:solidFill>
              <a:srgbClr val="5D6B7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61035" y="2889504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D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8481191" y="2761488"/>
            <a:ext cx="0" cy="73152"/>
          </a:xfrm>
          <a:prstGeom prst="line">
            <a:avLst/>
          </a:prstGeom>
          <a:noFill/>
          <a:ln w="12700">
            <a:solidFill>
              <a:srgbClr val="5D6B7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98311" y="2889504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D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9018466" y="2761488"/>
            <a:ext cx="0" cy="73152"/>
          </a:xfrm>
          <a:prstGeom prst="line">
            <a:avLst/>
          </a:prstGeom>
          <a:noFill/>
          <a:ln w="12700">
            <a:solidFill>
              <a:srgbClr val="5D6B7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835586" y="2889504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D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9555741" y="2761488"/>
            <a:ext cx="0" cy="73152"/>
          </a:xfrm>
          <a:prstGeom prst="line">
            <a:avLst/>
          </a:prstGeom>
          <a:noFill/>
          <a:ln w="12700">
            <a:solidFill>
              <a:srgbClr val="5D6B7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372861" y="2889504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D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10093017" y="2761488"/>
            <a:ext cx="0" cy="73152"/>
          </a:xfrm>
          <a:prstGeom prst="line">
            <a:avLst/>
          </a:prstGeom>
          <a:noFill/>
          <a:ln w="12700">
            <a:solidFill>
              <a:srgbClr val="5D6B7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910137" y="2889504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D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10630292" y="2761488"/>
            <a:ext cx="0" cy="73152"/>
          </a:xfrm>
          <a:prstGeom prst="line">
            <a:avLst/>
          </a:prstGeom>
          <a:noFill/>
          <a:ln w="12700">
            <a:solidFill>
              <a:srgbClr val="5D6B7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447412" y="2889504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D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11167567" y="2761488"/>
            <a:ext cx="0" cy="73152"/>
          </a:xfrm>
          <a:prstGeom prst="line">
            <a:avLst/>
          </a:prstGeom>
          <a:noFill/>
          <a:ln w="12700">
            <a:solidFill>
              <a:srgbClr val="5D6B7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984687" y="2889504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D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3.5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7983023" y="2414016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94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321506" y="2414016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94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374566" y="2414016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94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9600222" y="2414016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94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9788268" y="2414016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94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0578063" y="2414016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94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0841328" y="2414016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94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251192" y="3108960"/>
            <a:ext cx="411754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D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driven mileage (million miles)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7251192" y="3364992"/>
            <a:ext cx="411754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D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= unknown-scenario occurrence — gaps should be memoryless (exponential)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995160" y="4041648"/>
            <a:ext cx="2205076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2700">
            <a:solidFill>
              <a:srgbClr val="D9E3E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123176" y="4133088"/>
            <a:ext cx="1949044" cy="5468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20,000 h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7123176" y="4630522"/>
            <a:ext cx="19490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D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per run — in 11.7 s of wall-clock time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9419692" y="4041648"/>
            <a:ext cx="2205076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2700">
            <a:solidFill>
              <a:srgbClr val="D9E3E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547708" y="4133088"/>
            <a:ext cx="1949044" cy="5468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1M miles</a:t>
            </a:r>
            <a:endParaRPr lang="en-US" sz="2200" dirty="0"/>
          </a:p>
        </p:txBody>
      </p:sp>
      <p:sp>
        <p:nvSpPr>
          <p:cNvPr id="40" name="Text 38"/>
          <p:cNvSpPr/>
          <p:nvPr/>
        </p:nvSpPr>
        <p:spPr>
          <a:xfrm>
            <a:off x="9547708" y="4630522"/>
            <a:ext cx="19490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D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driving history per run at 50 mph average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6995160" y="5230368"/>
            <a:ext cx="462960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D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the simulator turns a fleet-scale question into minutes of compute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200" kern="0" dirty="0">
                <a:solidFill>
                  <a:srgbClr val="2E5E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530352"/>
            <a:ext cx="1105783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driving scene = six layers, one active element each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1505895" y="6510528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8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6928" y="6510528"/>
            <a:ext cx="594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A6B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Unknown-Scenario Poisson Verification · Layered Scenario Simulator v6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66928" y="1389888"/>
            <a:ext cx="5806440" cy="566928"/>
          </a:xfrm>
          <a:prstGeom prst="roundRect">
            <a:avLst>
              <a:gd name="adj" fmla="val 9677"/>
            </a:avLst>
          </a:prstGeom>
          <a:solidFill>
            <a:srgbClr val="EEF3FA"/>
          </a:solidFill>
          <a:ln w="12700">
            <a:solidFill>
              <a:srgbClr val="D9E3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8096" y="144475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street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447288" y="1444752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5D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 geometry / section type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321808" y="1444752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D4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elements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66928" y="2048256"/>
            <a:ext cx="5806440" cy="566928"/>
          </a:xfrm>
          <a:prstGeom prst="roundRect">
            <a:avLst>
              <a:gd name="adj" fmla="val 9677"/>
            </a:avLst>
          </a:prstGeom>
          <a:solidFill>
            <a:srgbClr val="EEF3FA"/>
          </a:solidFill>
          <a:ln w="12700">
            <a:solidFill>
              <a:srgbClr val="D9E3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68096" y="21031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temporal_modifications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447288" y="21031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5D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zones, temporary traffic management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321808" y="2103120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D4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elements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66928" y="2706624"/>
            <a:ext cx="5806440" cy="566928"/>
          </a:xfrm>
          <a:prstGeom prst="roundRect">
            <a:avLst>
              <a:gd name="adj" fmla="val 9677"/>
            </a:avLst>
          </a:prstGeom>
          <a:solidFill>
            <a:srgbClr val="EEF3FA"/>
          </a:solidFill>
          <a:ln w="12700">
            <a:solidFill>
              <a:srgbClr val="D9E3E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" y="276148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ego_maneuver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3447288" y="276148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5D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ego vehicle maneuver classes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321808" y="276148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D4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elements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66928" y="3364992"/>
            <a:ext cx="5806440" cy="566928"/>
          </a:xfrm>
          <a:prstGeom prst="roundRect">
            <a:avLst>
              <a:gd name="adj" fmla="val 9677"/>
            </a:avLst>
          </a:prstGeom>
          <a:solidFill>
            <a:srgbClr val="EEF3FA"/>
          </a:solidFill>
          <a:ln w="12700">
            <a:solidFill>
              <a:srgbClr val="D9E3E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68096" y="3419856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ru_maneuver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3447288" y="3419856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5D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surrounding road-user maneuvers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321808" y="3419856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D4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elements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66928" y="4023360"/>
            <a:ext cx="5806440" cy="566928"/>
          </a:xfrm>
          <a:prstGeom prst="roundRect">
            <a:avLst>
              <a:gd name="adj" fmla="val 9677"/>
            </a:avLst>
          </a:prstGeom>
          <a:solidFill>
            <a:srgbClr val="EEF3FA"/>
          </a:solidFill>
          <a:ln w="12700">
            <a:solidFill>
              <a:srgbClr val="D9E3E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68096" y="4078224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environmental_conditions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3447288" y="4078224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5D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weather, visibility, light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321808" y="4078224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D4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elements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66928" y="4681728"/>
            <a:ext cx="5806440" cy="566928"/>
          </a:xfrm>
          <a:prstGeom prst="roundRect">
            <a:avLst>
              <a:gd name="adj" fmla="val 9677"/>
            </a:avLst>
          </a:prstGeom>
          <a:solidFill>
            <a:srgbClr val="FBF0DA"/>
          </a:solidFill>
          <a:ln w="12700">
            <a:solidFill>
              <a:srgbClr val="E2B25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68096" y="473659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triggering_conditions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3447288" y="4736592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5D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unexpected AV triggering conditions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321808" y="4736592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D4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 elements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66928" y="5431536"/>
            <a:ext cx="5806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i="1" dirty="0">
                <a:solidFill>
                  <a:srgbClr val="5D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structure follows the PEGASUS-style layered scenario model used in TRATON. The scene at any instant is the cross product of the six active elements; driving is a chain of such scenes.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720840" y="1389888"/>
            <a:ext cx="490392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can an unknown scenario come from?</a:t>
            </a:r>
            <a:endParaRPr lang="en-US" sz="1450" dirty="0"/>
          </a:p>
        </p:txBody>
      </p:sp>
      <p:sp>
        <p:nvSpPr>
          <p:cNvPr id="32" name="Shape 30"/>
          <p:cNvSpPr/>
          <p:nvPr/>
        </p:nvSpPr>
        <p:spPr>
          <a:xfrm>
            <a:off x="6720840" y="1828800"/>
            <a:ext cx="4903927" cy="1024128"/>
          </a:xfrm>
          <a:prstGeom prst="roundRect">
            <a:avLst>
              <a:gd name="adj" fmla="val 6250"/>
            </a:avLst>
          </a:prstGeom>
          <a:solidFill>
            <a:srgbClr val="F7FAFD"/>
          </a:solidFill>
          <a:ln w="12700">
            <a:solidFill>
              <a:srgbClr val="D9E3E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958584" y="1938528"/>
            <a:ext cx="334944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 element in a known layer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958584" y="2258568"/>
            <a:ext cx="433699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5D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phenomenon the taxonomy has no entry for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720840" y="2999232"/>
            <a:ext cx="4903927" cy="1024128"/>
          </a:xfrm>
          <a:prstGeom prst="roundRect">
            <a:avLst>
              <a:gd name="adj" fmla="val 6250"/>
            </a:avLst>
          </a:prstGeom>
          <a:solidFill>
            <a:srgbClr val="F7FAFD"/>
          </a:solidFill>
          <a:ln w="12700">
            <a:solidFill>
              <a:srgbClr val="D9E3E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958584" y="3108960"/>
            <a:ext cx="334944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 layer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958584" y="3429000"/>
            <a:ext cx="433699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5D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whole dimension missing from the model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720840" y="4169664"/>
            <a:ext cx="4903927" cy="1024128"/>
          </a:xfrm>
          <a:prstGeom prst="roundRect">
            <a:avLst>
              <a:gd name="adj" fmla="val 6250"/>
            </a:avLst>
          </a:prstGeom>
          <a:solidFill>
            <a:srgbClr val="FDEFEC"/>
          </a:solidFill>
          <a:ln w="12700">
            <a:solidFill>
              <a:srgbClr val="E0837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958584" y="4279392"/>
            <a:ext cx="334944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C2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 combination of known elements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6958584" y="4599432"/>
            <a:ext cx="433699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2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element is known — their joint occurrence was never anticipated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10143439" y="4297680"/>
            <a:ext cx="1280160" cy="237744"/>
          </a:xfrm>
          <a:prstGeom prst="rect">
            <a:avLst/>
          </a:prstGeom>
          <a:solidFill>
            <a:srgbClr val="D94F3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MODELED IN V6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6720840" y="5431536"/>
            <a:ext cx="4903927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i="1" dirty="0">
                <a:solidFill>
                  <a:srgbClr val="5D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simulator focuses on the third cause: it plants specific rare-element combinations as the “unknowns” and measures how often the driving process stumbles into them.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200" kern="0" dirty="0">
                <a:solidFill>
                  <a:srgbClr val="2E5E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SIMULATOR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530352"/>
            <a:ext cx="1105783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event-driven, fully reproducible six-layer world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1505895" y="6510528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8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6928" y="6510528"/>
            <a:ext cx="594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A6B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Unknown-Scenario Poisson Verification · Layered Scenario Simulator v6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2084832" cy="2286000"/>
          </a:xfrm>
          <a:prstGeom prst="roundRect">
            <a:avLst>
              <a:gd name="adj" fmla="val 3070"/>
            </a:avLst>
          </a:prstGeom>
          <a:solidFill>
            <a:srgbClr val="F7FAFD"/>
          </a:solidFill>
          <a:ln w="12700">
            <a:solidFill>
              <a:srgbClr val="D9E3E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68096" y="1682496"/>
            <a:ext cx="512064" cy="512064"/>
          </a:xfrm>
          <a:prstGeom prst="ellipse">
            <a:avLst/>
          </a:prstGeom>
          <a:solidFill>
            <a:srgbClr val="16233F"/>
          </a:solidFill>
          <a:ln/>
        </p:spPr>
      </p:sp>
      <p:pic>
        <p:nvPicPr>
          <p:cNvPr id="8" name="Image 0" descr="icons/settings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5871" y="1800271"/>
            <a:ext cx="276515" cy="27651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49808" y="2322576"/>
            <a:ext cx="1719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config.yaml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49808" y="2633472"/>
            <a:ext cx="171907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980" dirty="0">
                <a:solidFill>
                  <a:srgbClr val="5D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percentages, duration profiles, rule counts, 7 independent seeds</a:t>
            </a:r>
            <a:endParaRPr lang="en-US" sz="980" dirty="0"/>
          </a:p>
        </p:txBody>
      </p:sp>
      <p:sp>
        <p:nvSpPr>
          <p:cNvPr id="11" name="Text 8"/>
          <p:cNvSpPr/>
          <p:nvPr/>
        </p:nvSpPr>
        <p:spPr>
          <a:xfrm>
            <a:off x="2606040" y="2459736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AA8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2825496" y="1481328"/>
            <a:ext cx="2084832" cy="2286000"/>
          </a:xfrm>
          <a:prstGeom prst="roundRect">
            <a:avLst>
              <a:gd name="adj" fmla="val 3070"/>
            </a:avLst>
          </a:prstGeom>
          <a:solidFill>
            <a:srgbClr val="F7FAFD"/>
          </a:solidFill>
          <a:ln w="12700">
            <a:solidFill>
              <a:srgbClr val="D9E3E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026664" y="1682496"/>
            <a:ext cx="512064" cy="512064"/>
          </a:xfrm>
          <a:prstGeom prst="ellipse">
            <a:avLst/>
          </a:prstGeom>
          <a:solidFill>
            <a:srgbClr val="16233F"/>
          </a:solidFill>
          <a:ln/>
        </p:spPr>
      </p:sp>
      <p:pic>
        <p:nvPicPr>
          <p:cNvPr id="14" name="Image 1" descr="icons/layers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4439" y="1800271"/>
            <a:ext cx="276515" cy="276515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008376" y="2322576"/>
            <a:ext cx="1719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world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3008376" y="2633472"/>
            <a:ext cx="171907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980" dirty="0">
                <a:solidFill>
                  <a:srgbClr val="5D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elements &amp; rarities per layer; exact class masses; one Gamma law per element; select 100 C3–C6 rules</a:t>
            </a:r>
            <a:endParaRPr lang="en-US" sz="980" dirty="0"/>
          </a:p>
        </p:txBody>
      </p:sp>
      <p:sp>
        <p:nvSpPr>
          <p:cNvPr id="17" name="Text 13"/>
          <p:cNvSpPr/>
          <p:nvPr/>
        </p:nvSpPr>
        <p:spPr>
          <a:xfrm>
            <a:off x="4864608" y="2459736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AA8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8" name="Shape 14"/>
          <p:cNvSpPr/>
          <p:nvPr/>
        </p:nvSpPr>
        <p:spPr>
          <a:xfrm>
            <a:off x="5084064" y="1481328"/>
            <a:ext cx="2084832" cy="2286000"/>
          </a:xfrm>
          <a:prstGeom prst="roundRect">
            <a:avLst>
              <a:gd name="adj" fmla="val 3070"/>
            </a:avLst>
          </a:prstGeom>
          <a:solidFill>
            <a:srgbClr val="F7FAFD"/>
          </a:solidFill>
          <a:ln w="12700">
            <a:solidFill>
              <a:srgbClr val="D9E3EF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5285232" y="1682496"/>
            <a:ext cx="512064" cy="512064"/>
          </a:xfrm>
          <a:prstGeom prst="ellipse">
            <a:avLst/>
          </a:prstGeom>
          <a:solidFill>
            <a:srgbClr val="16233F"/>
          </a:solidFill>
          <a:ln/>
        </p:spPr>
      </p:sp>
      <p:pic>
        <p:nvPicPr>
          <p:cNvPr id="20" name="Image 2" descr="icons/repeat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3007" y="1800271"/>
            <a:ext cx="276515" cy="276515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5266944" y="2322576"/>
            <a:ext cx="1719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loop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5266944" y="2633472"/>
            <a:ext cx="171907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980" dirty="0">
                <a:solidFill>
                  <a:srgbClr val="5D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jump from layer expiry to layer expiry; resample expired layers; advance time &amp; miles</a:t>
            </a:r>
            <a:endParaRPr lang="en-US" sz="980" dirty="0"/>
          </a:p>
        </p:txBody>
      </p:sp>
      <p:sp>
        <p:nvSpPr>
          <p:cNvPr id="23" name="Text 18"/>
          <p:cNvSpPr/>
          <p:nvPr/>
        </p:nvSpPr>
        <p:spPr>
          <a:xfrm>
            <a:off x="7123176" y="2459736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AA8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4" name="Shape 19"/>
          <p:cNvSpPr/>
          <p:nvPr/>
        </p:nvSpPr>
        <p:spPr>
          <a:xfrm>
            <a:off x="7342632" y="1481328"/>
            <a:ext cx="2084832" cy="2286000"/>
          </a:xfrm>
          <a:prstGeom prst="roundRect">
            <a:avLst>
              <a:gd name="adj" fmla="val 3070"/>
            </a:avLst>
          </a:prstGeom>
          <a:solidFill>
            <a:srgbClr val="FDEFEC"/>
          </a:solidFill>
          <a:ln w="12700">
            <a:solidFill>
              <a:srgbClr val="E08373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7543800" y="1682496"/>
            <a:ext cx="512064" cy="512064"/>
          </a:xfrm>
          <a:prstGeom prst="ellipse">
            <a:avLst/>
          </a:prstGeom>
          <a:solidFill>
            <a:srgbClr val="D94F3D"/>
          </a:solidFill>
          <a:ln/>
        </p:spPr>
      </p:sp>
      <p:pic>
        <p:nvPicPr>
          <p:cNvPr id="26" name="Image 3" descr="icons/zap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61575" y="1800271"/>
            <a:ext cx="276515" cy="276515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7525512" y="2322576"/>
            <a:ext cx="1719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Episodes</a:t>
            </a:r>
            <a:endParaRPr lang="en-US" sz="1300" dirty="0"/>
          </a:p>
        </p:txBody>
      </p:sp>
      <p:sp>
        <p:nvSpPr>
          <p:cNvPr id="28" name="Text 22"/>
          <p:cNvSpPr/>
          <p:nvPr/>
        </p:nvSpPr>
        <p:spPr>
          <a:xfrm>
            <a:off x="7525512" y="2633472"/>
            <a:ext cx="171907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980" dirty="0">
                <a:solidFill>
                  <a:srgbClr val="5D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when the active rare set exactly matches a selected rule; close when the match breaks</a:t>
            </a:r>
            <a:endParaRPr lang="en-US" sz="980" dirty="0"/>
          </a:p>
        </p:txBody>
      </p:sp>
      <p:sp>
        <p:nvSpPr>
          <p:cNvPr id="29" name="Text 23"/>
          <p:cNvSpPr/>
          <p:nvPr/>
        </p:nvSpPr>
        <p:spPr>
          <a:xfrm>
            <a:off x="9381744" y="2459736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AA8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0" name="Shape 24"/>
          <p:cNvSpPr/>
          <p:nvPr/>
        </p:nvSpPr>
        <p:spPr>
          <a:xfrm>
            <a:off x="9601200" y="1481328"/>
            <a:ext cx="2084832" cy="2286000"/>
          </a:xfrm>
          <a:prstGeom prst="roundRect">
            <a:avLst>
              <a:gd name="adj" fmla="val 3070"/>
            </a:avLst>
          </a:prstGeom>
          <a:solidFill>
            <a:srgbClr val="F7FAFD"/>
          </a:solidFill>
          <a:ln w="12700">
            <a:solidFill>
              <a:srgbClr val="D9E3EF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9802368" y="1682496"/>
            <a:ext cx="512064" cy="512064"/>
          </a:xfrm>
          <a:prstGeom prst="ellipse">
            <a:avLst/>
          </a:prstGeom>
          <a:solidFill>
            <a:srgbClr val="16233F"/>
          </a:solidFill>
          <a:ln/>
        </p:spPr>
      </p:sp>
      <p:pic>
        <p:nvPicPr>
          <p:cNvPr id="32" name="Image 4" descr="icons/database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20143" y="1800271"/>
            <a:ext cx="276515" cy="276515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9784080" y="2322576"/>
            <a:ext cx="1719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</a:t>
            </a:r>
            <a:endParaRPr lang="en-US" sz="1300" dirty="0"/>
          </a:p>
        </p:txBody>
      </p:sp>
      <p:sp>
        <p:nvSpPr>
          <p:cNvPr id="34" name="Text 27"/>
          <p:cNvSpPr/>
          <p:nvPr/>
        </p:nvSpPr>
        <p:spPr>
          <a:xfrm>
            <a:off x="9784080" y="2633472"/>
            <a:ext cx="171907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980" dirty="0">
                <a:solidFill>
                  <a:srgbClr val="5D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episodes.csv, windows.csv, summary.md, stats.json, diagnostic plots</a:t>
            </a:r>
            <a:endParaRPr lang="en-US" sz="980" dirty="0"/>
          </a:p>
        </p:txBody>
      </p:sp>
      <p:sp>
        <p:nvSpPr>
          <p:cNvPr id="35" name="Shape 28"/>
          <p:cNvSpPr/>
          <p:nvPr/>
        </p:nvSpPr>
        <p:spPr>
          <a:xfrm>
            <a:off x="566928" y="4114800"/>
            <a:ext cx="2072579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2700">
            <a:solidFill>
              <a:srgbClr val="D9E3EF"/>
            </a:solidFill>
            <a:prstDash val="solid"/>
          </a:ln>
        </p:spPr>
      </p:sp>
      <p:sp>
        <p:nvSpPr>
          <p:cNvPr id="36" name="Text 29"/>
          <p:cNvSpPr/>
          <p:nvPr/>
        </p:nvSpPr>
        <p:spPr>
          <a:xfrm>
            <a:off x="694944" y="4206240"/>
            <a:ext cx="1816547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3000" dirty="0"/>
          </a:p>
        </p:txBody>
      </p:sp>
      <p:sp>
        <p:nvSpPr>
          <p:cNvPr id="37" name="Text 30"/>
          <p:cNvSpPr/>
          <p:nvPr/>
        </p:nvSpPr>
        <p:spPr>
          <a:xfrm>
            <a:off x="694944" y="4882896"/>
            <a:ext cx="181654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D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layers, each holding one active element</a:t>
            </a:r>
            <a:endParaRPr lang="en-US" sz="1050" dirty="0"/>
          </a:p>
        </p:txBody>
      </p:sp>
      <p:sp>
        <p:nvSpPr>
          <p:cNvPr id="38" name="Shape 31"/>
          <p:cNvSpPr/>
          <p:nvPr/>
        </p:nvSpPr>
        <p:spPr>
          <a:xfrm>
            <a:off x="2813243" y="4114800"/>
            <a:ext cx="2072579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2700">
            <a:solidFill>
              <a:srgbClr val="D9E3EF"/>
            </a:solidFill>
            <a:prstDash val="solid"/>
          </a:ln>
        </p:spPr>
      </p:sp>
      <p:sp>
        <p:nvSpPr>
          <p:cNvPr id="39" name="Text 32"/>
          <p:cNvSpPr/>
          <p:nvPr/>
        </p:nvSpPr>
        <p:spPr>
          <a:xfrm>
            <a:off x="2941259" y="4206240"/>
            <a:ext cx="1816547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204</a:t>
            </a:r>
            <a:endParaRPr lang="en-US" sz="3000" dirty="0"/>
          </a:p>
        </p:txBody>
      </p:sp>
      <p:sp>
        <p:nvSpPr>
          <p:cNvPr id="40" name="Text 33"/>
          <p:cNvSpPr/>
          <p:nvPr/>
        </p:nvSpPr>
        <p:spPr>
          <a:xfrm>
            <a:off x="2941259" y="4882896"/>
            <a:ext cx="181654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D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elements (this build): 145 common · 40 rare · 19 unknown</a:t>
            </a:r>
            <a:endParaRPr lang="en-US" sz="1050" dirty="0"/>
          </a:p>
        </p:txBody>
      </p:sp>
      <p:sp>
        <p:nvSpPr>
          <p:cNvPr id="41" name="Shape 34"/>
          <p:cNvSpPr/>
          <p:nvPr/>
        </p:nvSpPr>
        <p:spPr>
          <a:xfrm>
            <a:off x="5059558" y="4114800"/>
            <a:ext cx="2072579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2700">
            <a:solidFill>
              <a:srgbClr val="D9E3EF"/>
            </a:solidFill>
            <a:prstDash val="solid"/>
          </a:ln>
        </p:spPr>
      </p:sp>
      <p:sp>
        <p:nvSpPr>
          <p:cNvPr id="42" name="Text 35"/>
          <p:cNvSpPr/>
          <p:nvPr/>
        </p:nvSpPr>
        <p:spPr>
          <a:xfrm>
            <a:off x="5187574" y="4206240"/>
            <a:ext cx="1816547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</a:t>
            </a:r>
            <a:endParaRPr lang="en-US" sz="3000" dirty="0"/>
          </a:p>
        </p:txBody>
      </p:sp>
      <p:sp>
        <p:nvSpPr>
          <p:cNvPr id="43" name="Text 36"/>
          <p:cNvSpPr/>
          <p:nvPr/>
        </p:nvSpPr>
        <p:spPr>
          <a:xfrm>
            <a:off x="5187574" y="4882896"/>
            <a:ext cx="181654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D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planted rare-combination rules: C3 40 · C4 30 · C5 20 · C6 10</a:t>
            </a:r>
            <a:endParaRPr lang="en-US" sz="1050" dirty="0"/>
          </a:p>
        </p:txBody>
      </p:sp>
      <p:sp>
        <p:nvSpPr>
          <p:cNvPr id="44" name="Shape 37"/>
          <p:cNvSpPr/>
          <p:nvPr/>
        </p:nvSpPr>
        <p:spPr>
          <a:xfrm>
            <a:off x="7305873" y="4114800"/>
            <a:ext cx="2072579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2700">
            <a:solidFill>
              <a:srgbClr val="D9E3EF"/>
            </a:solidFill>
            <a:prstDash val="solid"/>
          </a:ln>
        </p:spPr>
      </p:sp>
      <p:sp>
        <p:nvSpPr>
          <p:cNvPr id="45" name="Text 38"/>
          <p:cNvSpPr/>
          <p:nvPr/>
        </p:nvSpPr>
        <p:spPr>
          <a:xfrm>
            <a:off x="7433889" y="4206240"/>
            <a:ext cx="1816547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3000" dirty="0"/>
          </a:p>
        </p:txBody>
      </p:sp>
      <p:sp>
        <p:nvSpPr>
          <p:cNvPr id="46" name="Text 39"/>
          <p:cNvSpPr/>
          <p:nvPr/>
        </p:nvSpPr>
        <p:spPr>
          <a:xfrm>
            <a:off x="7433889" y="4882896"/>
            <a:ext cx="181654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D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streams — same config ⇒ bit-identical run (checkpoint-safe)</a:t>
            </a:r>
            <a:endParaRPr lang="en-US" sz="1050" dirty="0"/>
          </a:p>
        </p:txBody>
      </p:sp>
      <p:sp>
        <p:nvSpPr>
          <p:cNvPr id="47" name="Shape 40"/>
          <p:cNvSpPr/>
          <p:nvPr/>
        </p:nvSpPr>
        <p:spPr>
          <a:xfrm>
            <a:off x="9552188" y="4114800"/>
            <a:ext cx="2072579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2700">
            <a:solidFill>
              <a:srgbClr val="D9E3EF"/>
            </a:solidFill>
            <a:prstDash val="solid"/>
          </a:ln>
        </p:spPr>
      </p:sp>
      <p:sp>
        <p:nvSpPr>
          <p:cNvPr id="48" name="Text 41"/>
          <p:cNvSpPr/>
          <p:nvPr/>
        </p:nvSpPr>
        <p:spPr>
          <a:xfrm>
            <a:off x="9680204" y="4206240"/>
            <a:ext cx="1816547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39</a:t>
            </a:r>
            <a:endParaRPr lang="en-US" sz="3000" dirty="0"/>
          </a:p>
        </p:txBody>
      </p:sp>
      <p:sp>
        <p:nvSpPr>
          <p:cNvPr id="49" name="Text 42"/>
          <p:cNvSpPr/>
          <p:nvPr/>
        </p:nvSpPr>
        <p:spPr>
          <a:xfrm>
            <a:off x="9680204" y="4882896"/>
            <a:ext cx="181654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D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tests pass; config validation rejects invalid setups</a:t>
            </a:r>
            <a:endParaRPr lang="en-US" sz="1050" dirty="0"/>
          </a:p>
        </p:txBody>
      </p:sp>
      <p:sp>
        <p:nvSpPr>
          <p:cNvPr id="50" name="Text 43"/>
          <p:cNvSpPr/>
          <p:nvPr/>
        </p:nvSpPr>
        <p:spPr>
          <a:xfrm>
            <a:off x="566928" y="5742432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D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Semi-Markov world: layers evolve independently; “unknown” rarity-class elements exist but never open episodes by themselves in v6 — only exact rare combinations do.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200" kern="0" dirty="0">
                <a:solidFill>
                  <a:srgbClr val="2E5E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SIMULATOR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530352"/>
            <a:ext cx="1105783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Building the world: controlled rarity in every layer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1505895" y="6510528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8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6928" y="6510528"/>
            <a:ext cx="594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A6B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Unknown-Scenario Poisson Verification · Layered Scenario Simulator v6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66928" y="1444752"/>
            <a:ext cx="6675120" cy="457200"/>
          </a:xfrm>
          <a:prstGeom prst="rect">
            <a:avLst/>
          </a:prstGeom>
          <a:solidFill>
            <a:srgbClr val="16233F"/>
          </a:solidFill>
          <a:ln/>
        </p:spPr>
      </p:sp>
      <p:sp>
        <p:nvSpPr>
          <p:cNvPr id="7" name="Text 5"/>
          <p:cNvSpPr/>
          <p:nvPr/>
        </p:nvSpPr>
        <p:spPr>
          <a:xfrm>
            <a:off x="658368" y="144475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054096" y="1444752"/>
            <a:ext cx="8595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range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023360" y="144475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681728" y="1444752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/ rare / unknown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19088" y="1444752"/>
            <a:ext cx="804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mean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58368" y="190195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street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054096" y="1901952"/>
            <a:ext cx="8595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2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023360" y="190195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2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681728" y="1901952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2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 / 1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419088" y="1901952"/>
            <a:ext cx="804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2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 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66928" y="2359152"/>
            <a:ext cx="6675120" cy="457200"/>
          </a:xfrm>
          <a:prstGeom prst="rect">
            <a:avLst/>
          </a:prstGeom>
          <a:solidFill>
            <a:srgbClr val="F7FAFD"/>
          </a:solidFill>
          <a:ln/>
        </p:spPr>
      </p:sp>
      <p:sp>
        <p:nvSpPr>
          <p:cNvPr id="18" name="Text 16"/>
          <p:cNvSpPr/>
          <p:nvPr/>
        </p:nvSpPr>
        <p:spPr>
          <a:xfrm>
            <a:off x="658368" y="235915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temporal_modifications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054096" y="2359152"/>
            <a:ext cx="8595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2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40–45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023360" y="235915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2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681728" y="2359152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2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/ 9 / 4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419088" y="2359152"/>
            <a:ext cx="804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2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600 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58368" y="281635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ego_maneuver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054096" y="2816352"/>
            <a:ext cx="8595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2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20–24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023360" y="281635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2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681728" y="2816352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2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4 / 2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419088" y="2816352"/>
            <a:ext cx="804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2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66928" y="3273552"/>
            <a:ext cx="6675120" cy="457200"/>
          </a:xfrm>
          <a:prstGeom prst="rect">
            <a:avLst/>
          </a:prstGeom>
          <a:solidFill>
            <a:srgbClr val="F7FAFD"/>
          </a:solidFill>
          <a:ln/>
        </p:spPr>
      </p:sp>
      <p:sp>
        <p:nvSpPr>
          <p:cNvPr id="29" name="Text 27"/>
          <p:cNvSpPr/>
          <p:nvPr/>
        </p:nvSpPr>
        <p:spPr>
          <a:xfrm>
            <a:off x="658368" y="327355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ru_maneuver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3054096" y="3273552"/>
            <a:ext cx="8595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2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20–24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023360" y="327355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2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681728" y="3273552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2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4 / 2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419088" y="3273552"/>
            <a:ext cx="804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2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s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58368" y="373075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environmental_conditions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3054096" y="3730752"/>
            <a:ext cx="8595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2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4023360" y="373075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2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4681728" y="3730752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2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4 / 2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6419088" y="3730752"/>
            <a:ext cx="804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2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1,800 s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566928" y="4187952"/>
            <a:ext cx="6675120" cy="457200"/>
          </a:xfrm>
          <a:prstGeom prst="rect">
            <a:avLst/>
          </a:prstGeom>
          <a:solidFill>
            <a:srgbClr val="F7FAFD"/>
          </a:solidFill>
          <a:ln/>
        </p:spPr>
      </p:sp>
      <p:sp>
        <p:nvSpPr>
          <p:cNvPr id="40" name="Text 38"/>
          <p:cNvSpPr/>
          <p:nvPr/>
        </p:nvSpPr>
        <p:spPr>
          <a:xfrm>
            <a:off x="658368" y="418795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triggering_conditions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3054096" y="4187952"/>
            <a:ext cx="8595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2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80–90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4023360" y="418795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2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4681728" y="4187952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2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 / 17 / 8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6419088" y="4187952"/>
            <a:ext cx="804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2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 s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566928" y="4645152"/>
            <a:ext cx="6675120" cy="0"/>
          </a:xfrm>
          <a:prstGeom prst="line">
            <a:avLst/>
          </a:prstGeom>
          <a:noFill/>
          <a:ln w="12700">
            <a:solidFill>
              <a:srgbClr val="D9E3E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66928" y="4892040"/>
            <a:ext cx="6675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lnSpc>
                <a:spcPct val="104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2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 counts are drawn per layer from the configured range (seeded); IDs are stable: </a:t>
            </a:r>
            <a:pPr algn="l" marL="152400" indent="-152400">
              <a:lnSpc>
                <a:spcPct val="104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i="1" dirty="0">
                <a:solidFill>
                  <a:srgbClr val="22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street_000, ego_003, trigger_042 …</a:t>
            </a:r>
            <a:endParaRPr lang="en-US" sz="1150" dirty="0"/>
          </a:p>
          <a:p>
            <a:pPr algn="l" marL="152400" indent="-152400">
              <a:lnSpc>
                <a:spcPct val="104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2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counts use the largest-remainder method on the configured 70 / 20 / 10 split — integer counts, always ≥ 1 per class.</a:t>
            </a:r>
            <a:endParaRPr lang="en-US" sz="1150" dirty="0"/>
          </a:p>
        </p:txBody>
      </p:sp>
      <p:sp>
        <p:nvSpPr>
          <p:cNvPr id="47" name="Text 45"/>
          <p:cNvSpPr/>
          <p:nvPr/>
        </p:nvSpPr>
        <p:spPr>
          <a:xfrm>
            <a:off x="7635240" y="1444752"/>
            <a:ext cx="398952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all six layers</a:t>
            </a:r>
            <a:endParaRPr lang="en-US" sz="1350" dirty="0"/>
          </a:p>
        </p:txBody>
      </p:sp>
      <p:sp>
        <p:nvSpPr>
          <p:cNvPr id="48" name="Shape 46"/>
          <p:cNvSpPr/>
          <p:nvPr/>
        </p:nvSpPr>
        <p:spPr>
          <a:xfrm>
            <a:off x="7635240" y="1810512"/>
            <a:ext cx="3989527" cy="841248"/>
          </a:xfrm>
          <a:prstGeom prst="roundRect">
            <a:avLst>
              <a:gd name="adj" fmla="val 7609"/>
            </a:avLst>
          </a:prstGeom>
          <a:solidFill>
            <a:srgbClr val="FFFFFF"/>
          </a:solidFill>
          <a:ln w="12700">
            <a:solidFill>
              <a:srgbClr val="D9E3EF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836408" y="2112264"/>
            <a:ext cx="237744" cy="237744"/>
          </a:xfrm>
          <a:prstGeom prst="ellipse">
            <a:avLst/>
          </a:prstGeom>
          <a:solidFill>
            <a:srgbClr val="64748B"/>
          </a:solidFill>
          <a:ln/>
        </p:spPr>
      </p:sp>
      <p:sp>
        <p:nvSpPr>
          <p:cNvPr id="50" name="Text 48"/>
          <p:cNvSpPr/>
          <p:nvPr/>
        </p:nvSpPr>
        <p:spPr>
          <a:xfrm>
            <a:off x="8202168" y="1883664"/>
            <a:ext cx="10515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145</a:t>
            </a:r>
            <a:endParaRPr lang="en-US" sz="2600" dirty="0"/>
          </a:p>
        </p:txBody>
      </p:sp>
      <p:sp>
        <p:nvSpPr>
          <p:cNvPr id="51" name="Text 49"/>
          <p:cNvSpPr/>
          <p:nvPr/>
        </p:nvSpPr>
        <p:spPr>
          <a:xfrm>
            <a:off x="9281160" y="1920240"/>
            <a:ext cx="2160727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2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elements</a:t>
            </a:r>
            <a:endParaRPr lang="en-US" sz="1150" dirty="0"/>
          </a:p>
          <a:p>
            <a:pPr indent="0" marL="0">
              <a:buNone/>
            </a:pPr>
            <a:r>
              <a:rPr lang="en-US" sz="1000" dirty="0">
                <a:solidFill>
                  <a:srgbClr val="5D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71.1% of 204 — target 70%</a:t>
            </a:r>
            <a:endParaRPr lang="en-US" sz="1150" dirty="0"/>
          </a:p>
        </p:txBody>
      </p:sp>
      <p:sp>
        <p:nvSpPr>
          <p:cNvPr id="52" name="Shape 50"/>
          <p:cNvSpPr/>
          <p:nvPr/>
        </p:nvSpPr>
        <p:spPr>
          <a:xfrm>
            <a:off x="7635240" y="2779776"/>
            <a:ext cx="3989527" cy="841248"/>
          </a:xfrm>
          <a:prstGeom prst="roundRect">
            <a:avLst>
              <a:gd name="adj" fmla="val 7609"/>
            </a:avLst>
          </a:prstGeom>
          <a:solidFill>
            <a:srgbClr val="FFFFFF"/>
          </a:solidFill>
          <a:ln w="12700">
            <a:solidFill>
              <a:srgbClr val="D9E3EF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7836408" y="3081528"/>
            <a:ext cx="237744" cy="237744"/>
          </a:xfrm>
          <a:prstGeom prst="ellipse">
            <a:avLst/>
          </a:prstGeom>
          <a:solidFill>
            <a:srgbClr val="DB8B1F"/>
          </a:solidFill>
          <a:ln/>
        </p:spPr>
      </p:sp>
      <p:sp>
        <p:nvSpPr>
          <p:cNvPr id="54" name="Text 52"/>
          <p:cNvSpPr/>
          <p:nvPr/>
        </p:nvSpPr>
        <p:spPr>
          <a:xfrm>
            <a:off x="8202168" y="2852928"/>
            <a:ext cx="10515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</a:t>
            </a:r>
            <a:endParaRPr lang="en-US" sz="2600" dirty="0"/>
          </a:p>
        </p:txBody>
      </p:sp>
      <p:sp>
        <p:nvSpPr>
          <p:cNvPr id="55" name="Text 53"/>
          <p:cNvSpPr/>
          <p:nvPr/>
        </p:nvSpPr>
        <p:spPr>
          <a:xfrm>
            <a:off x="9281160" y="2889504"/>
            <a:ext cx="2160727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2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rare elements</a:t>
            </a:r>
            <a:endParaRPr lang="en-US" sz="1150" dirty="0"/>
          </a:p>
          <a:p>
            <a:pPr indent="0" marL="0">
              <a:buNone/>
            </a:pPr>
            <a:r>
              <a:rPr lang="en-US" sz="1000" dirty="0">
                <a:solidFill>
                  <a:srgbClr val="5D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19.6% of 204 — target 20%</a:t>
            </a:r>
            <a:endParaRPr lang="en-US" sz="1150" dirty="0"/>
          </a:p>
        </p:txBody>
      </p:sp>
      <p:sp>
        <p:nvSpPr>
          <p:cNvPr id="56" name="Shape 54"/>
          <p:cNvSpPr/>
          <p:nvPr/>
        </p:nvSpPr>
        <p:spPr>
          <a:xfrm>
            <a:off x="7635240" y="3749040"/>
            <a:ext cx="3989527" cy="841248"/>
          </a:xfrm>
          <a:prstGeom prst="roundRect">
            <a:avLst>
              <a:gd name="adj" fmla="val 7609"/>
            </a:avLst>
          </a:prstGeom>
          <a:solidFill>
            <a:srgbClr val="FFFFFF"/>
          </a:solidFill>
          <a:ln w="12700">
            <a:solidFill>
              <a:srgbClr val="D9E3EF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7836408" y="4050792"/>
            <a:ext cx="237744" cy="237744"/>
          </a:xfrm>
          <a:prstGeom prst="ellipse">
            <a:avLst/>
          </a:prstGeom>
          <a:solidFill>
            <a:srgbClr val="D94F3D"/>
          </a:solidFill>
          <a:ln/>
        </p:spPr>
      </p:sp>
      <p:sp>
        <p:nvSpPr>
          <p:cNvPr id="58" name="Text 56"/>
          <p:cNvSpPr/>
          <p:nvPr/>
        </p:nvSpPr>
        <p:spPr>
          <a:xfrm>
            <a:off x="8202168" y="3822192"/>
            <a:ext cx="10515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</a:t>
            </a:r>
            <a:endParaRPr lang="en-US" sz="2600" dirty="0"/>
          </a:p>
        </p:txBody>
      </p:sp>
      <p:sp>
        <p:nvSpPr>
          <p:cNvPr id="59" name="Text 57"/>
          <p:cNvSpPr/>
          <p:nvPr/>
        </p:nvSpPr>
        <p:spPr>
          <a:xfrm>
            <a:off x="9281160" y="3858768"/>
            <a:ext cx="2160727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2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 elements</a:t>
            </a:r>
            <a:endParaRPr lang="en-US" sz="1150" dirty="0"/>
          </a:p>
          <a:p>
            <a:pPr indent="0" marL="0">
              <a:buNone/>
            </a:pPr>
            <a:r>
              <a:rPr lang="en-US" sz="1000" dirty="0">
                <a:solidFill>
                  <a:srgbClr val="5D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9.3% of 204 — target 10%</a:t>
            </a:r>
            <a:endParaRPr lang="en-US" sz="1150" dirty="0"/>
          </a:p>
        </p:txBody>
      </p:sp>
      <p:sp>
        <p:nvSpPr>
          <p:cNvPr id="60" name="Shape 58"/>
          <p:cNvSpPr/>
          <p:nvPr/>
        </p:nvSpPr>
        <p:spPr>
          <a:xfrm>
            <a:off x="7635240" y="4828032"/>
            <a:ext cx="3989527" cy="1225296"/>
          </a:xfrm>
          <a:prstGeom prst="roundRect">
            <a:avLst>
              <a:gd name="adj" fmla="val 5224"/>
            </a:avLst>
          </a:prstGeom>
          <a:solidFill>
            <a:srgbClr val="EEF3FA"/>
          </a:solidFill>
          <a:ln w="12700">
            <a:solidFill>
              <a:srgbClr val="D9E3EF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836408" y="4956048"/>
            <a:ext cx="3587191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b="1" dirty="0">
                <a:solidFill>
                  <a:srgbClr val="22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— unknown-class elements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22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occur in ~10% of selections, but in v6 they never open episodes themselves; they only </a:t>
            </a:r>
            <a:pPr indent="0" marL="0">
              <a:lnSpc>
                <a:spcPct val="108000"/>
              </a:lnSpc>
              <a:buNone/>
            </a:pPr>
            <a:r>
              <a:rPr lang="en-US" sz="1100" b="1" dirty="0">
                <a:solidFill>
                  <a:srgbClr val="22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disqualify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22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rare-combination match while active.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200" kern="0" dirty="0">
                <a:solidFill>
                  <a:srgbClr val="2E5E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SIMULATOR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530352"/>
            <a:ext cx="1105783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comes next: exact class masses, varied within class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1505895" y="6510528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8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6928" y="6510528"/>
            <a:ext cx="594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A6B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Unknown-Scenario Poisson Verification · Layered Scenario Simulator v6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66928" y="1417320"/>
            <a:ext cx="603504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b="1" dirty="0">
                <a:solidFill>
                  <a:srgbClr val="22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Permanent transition vector per layer. </a:t>
            </a:r>
            <a:pPr algn="l" marL="152400" indent="-152400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2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sojourn expires, the next element is drawn from the layer's fixed probability vector — independent of all other layers (self-transitions allowed).</a:t>
            </a:r>
            <a:endParaRPr lang="en-US" sz="1300" dirty="0"/>
          </a:p>
          <a:p>
            <a:pPr algn="l" marL="152400" indent="-152400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b="1" dirty="0">
                <a:solidFill>
                  <a:srgbClr val="22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masses are pinned exactly. </a:t>
            </a:r>
            <a:pPr algn="l" marL="152400" indent="-152400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2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selection_class_percentages fixes common / rare / unknown total probability at 70% / 20% / 10% — by construction, not on average.</a:t>
            </a:r>
            <a:endParaRPr lang="en-US" sz="1300" dirty="0"/>
          </a:p>
          <a:p>
            <a:pPr algn="l" marL="152400" indent="-152400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b="1" dirty="0">
                <a:solidFill>
                  <a:srgbClr val="22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Variation inside a class. </a:t>
            </a:r>
            <a:pPr algn="l" marL="152400" indent="-152400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2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Dirichlet(c·p) draw (c = 20,000) makes elements unequal; each class is then rescaled back to its exact mass — jitter changes only the within-class split.</a:t>
            </a:r>
            <a:endParaRPr lang="en-US" sz="1300" dirty="0"/>
          </a:p>
          <a:p>
            <a:pPr algn="l" marL="152400" indent="-152400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b="1" dirty="0">
                <a:solidFill>
                  <a:srgbClr val="22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state </a:t>
            </a:r>
            <a:pPr algn="l" marL="152400" indent="-152400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2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the same exact class totals; every random source has its own seed stream.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858000" y="1417320"/>
            <a:ext cx="4766767" cy="3017520"/>
          </a:xfrm>
          <a:prstGeom prst="roundRect">
            <a:avLst>
              <a:gd name="adj" fmla="val 2121"/>
            </a:avLst>
          </a:prstGeom>
          <a:solidFill>
            <a:srgbClr val="F7FAFD"/>
          </a:solidFill>
          <a:ln w="12700">
            <a:solidFill>
              <a:srgbClr val="D9E3EF"/>
            </a:solidFill>
            <a:prstDash val="solid"/>
          </a:ln>
          <a:effectLst>
            <a:outerShdw sx="100000" sy="100000" kx="0" ky="0" algn="bl" rotWithShape="0" blurRad="88900" dist="25400" dir="5400000">
              <a:srgbClr val="1A2C4E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114032" y="1627632"/>
            <a:ext cx="425470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 — triggering_conditions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114032" y="2048256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D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rare class mass (configured)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10241280" y="2048256"/>
            <a:ext cx="1109167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20.000%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114032" y="2487168"/>
            <a:ext cx="4254703" cy="0"/>
          </a:xfrm>
          <a:prstGeom prst="line">
            <a:avLst/>
          </a:prstGeom>
          <a:noFill/>
          <a:ln w="9525">
            <a:solidFill>
              <a:srgbClr val="D9E3E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14032" y="2505456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D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rare elements in this layer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10241280" y="2505456"/>
            <a:ext cx="1109167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114032" y="2944368"/>
            <a:ext cx="4254703" cy="0"/>
          </a:xfrm>
          <a:prstGeom prst="line">
            <a:avLst/>
          </a:prstGeom>
          <a:noFill/>
          <a:ln w="9525">
            <a:solidFill>
              <a:srgbClr val="D9E3E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14032" y="2962656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D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equal-split baseline per element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10241280" y="2962656"/>
            <a:ext cx="1109167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1.18%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114032" y="3401568"/>
            <a:ext cx="4254703" cy="0"/>
          </a:xfrm>
          <a:prstGeom prst="line">
            <a:avLst/>
          </a:prstGeom>
          <a:noFill/>
          <a:ln w="9525">
            <a:solidFill>
              <a:srgbClr val="D9E3E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14032" y="3419856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D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seeded Dirichlet jitter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10241280" y="3419856"/>
            <a:ext cx="1109167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1.05 – 1.31% each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114032" y="3858768"/>
            <a:ext cx="4254703" cy="0"/>
          </a:xfrm>
          <a:prstGeom prst="line">
            <a:avLst/>
          </a:prstGeom>
          <a:noFill/>
          <a:ln w="9525">
            <a:solidFill>
              <a:srgbClr val="D9E3E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14032" y="3877056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D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total after rescaling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10241280" y="3877056"/>
            <a:ext cx="1109167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exactly 20.000%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858000" y="4617720"/>
            <a:ext cx="4766767" cy="1234440"/>
          </a:xfrm>
          <a:prstGeom prst="roundRect">
            <a:avLst>
              <a:gd name="adj" fmla="val 5185"/>
            </a:avLst>
          </a:prstGeom>
          <a:solidFill>
            <a:srgbClr val="E8F3EE"/>
          </a:solidFill>
          <a:ln w="12700">
            <a:solidFill>
              <a:srgbClr val="9CC6B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040880" y="4956048"/>
            <a:ext cx="512064" cy="512064"/>
          </a:xfrm>
          <a:prstGeom prst="ellipse">
            <a:avLst/>
          </a:prstGeom>
          <a:solidFill>
            <a:srgbClr val="2E7D5B"/>
          </a:solidFill>
          <a:ln/>
        </p:spPr>
      </p:sp>
      <p:pic>
        <p:nvPicPr>
          <p:cNvPr id="25" name="Image 0" descr="icons/chec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58655" y="5073823"/>
            <a:ext cx="276515" cy="276515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7717536" y="4736592"/>
            <a:ext cx="3669487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100" b="1" dirty="0">
                <a:solidFill>
                  <a:srgbClr val="1F5C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in the run: 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22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layer's realized transition mass is 10.0000% unknown / 20.0000% rare / 70.0000% common; empirical unknown selection share 10.02% vs 10% design target.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200" kern="0" dirty="0">
                <a:solidFill>
                  <a:srgbClr val="2E5E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SIMULATOR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530352"/>
            <a:ext cx="1105783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long an element persists: one Gamma law per element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1505895" y="6510528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8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6928" y="6510528"/>
            <a:ext cx="594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A6B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Unknown-Scenario Poisson Verification · Layered Scenario Simulator v6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66928" y="1371600"/>
            <a:ext cx="5394960" cy="1371600"/>
          </a:xfrm>
          <a:prstGeom prst="roundRect">
            <a:avLst>
              <a:gd name="adj" fmla="val 4667"/>
            </a:avLst>
          </a:prstGeom>
          <a:solidFill>
            <a:srgbClr val="16233F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536192"/>
            <a:ext cx="48828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μᵢ = μ_layer × m_rarity × (1 + spread · uᵢ)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σᵢ = CV_rarity · μᵢ      Gamma: shape = μᵢ²/σᵢ², scale = σᵢ²/μᵢ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uᵢ ∈ [−1, 1]: stable position of element i inside its class band · clamp ≥ 1 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66928" y="3017520"/>
            <a:ext cx="5212080" cy="420624"/>
          </a:xfrm>
          <a:prstGeom prst="rect">
            <a:avLst/>
          </a:prstGeom>
          <a:solidFill>
            <a:srgbClr val="EEF3FA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3017520"/>
            <a:ext cx="13075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5D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2057400" y="3017520"/>
            <a:ext cx="1490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5D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multiplier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657600" y="3017520"/>
            <a:ext cx="9875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5D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754880" y="3017520"/>
            <a:ext cx="9875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5D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40080" y="3438144"/>
            <a:ext cx="13075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2057400" y="3438144"/>
            <a:ext cx="1490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2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1.50 ×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657600" y="3438144"/>
            <a:ext cx="9875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2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0.45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754880" y="3438144"/>
            <a:ext cx="9875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2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±10%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40080" y="3858768"/>
            <a:ext cx="13075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DB8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rare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2057400" y="3858768"/>
            <a:ext cx="1490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2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0.75 ×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3657600" y="3858768"/>
            <a:ext cx="9875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2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0.60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754880" y="3858768"/>
            <a:ext cx="9875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2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±10%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40080" y="4279392"/>
            <a:ext cx="13075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D94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2057400" y="4279392"/>
            <a:ext cx="1490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2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0.25 ×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3657600" y="4279392"/>
            <a:ext cx="9875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2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0.80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754880" y="4279392"/>
            <a:ext cx="9875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2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±10%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66928" y="4892040"/>
            <a:ext cx="5394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lnSpc>
                <a:spcPct val="104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2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Bands never overlap within a layer: every common mean &gt; every rare mean &gt; every unknown mean — unknown states are brief by design.</a:t>
            </a:r>
            <a:endParaRPr lang="en-US" sz="1150" dirty="0"/>
          </a:p>
          <a:p>
            <a:pPr algn="l" marL="152400" indent="-152400">
              <a:lnSpc>
                <a:spcPct val="104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2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Gamma shape κ = 1/CV² ≈ 1.6–4.9, so sojourns are more regular than exponential.</a:t>
            </a:r>
            <a:endParaRPr lang="en-US" sz="1150" dirty="0"/>
          </a:p>
        </p:txBody>
      </p:sp>
      <p:pic>
        <p:nvPicPr>
          <p:cNvPr id="26" name="Image 0" descr="assets/triggering_conditio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35624" y="1554480"/>
            <a:ext cx="5486400" cy="2110154"/>
          </a:xfrm>
          <a:prstGeom prst="rect">
            <a:avLst/>
          </a:prstGeom>
        </p:spPr>
      </p:pic>
      <p:sp>
        <p:nvSpPr>
          <p:cNvPr id="27" name="Shape 24"/>
          <p:cNvSpPr/>
          <p:nvPr/>
        </p:nvSpPr>
        <p:spPr>
          <a:xfrm>
            <a:off x="6135624" y="3829226"/>
            <a:ext cx="5486400" cy="914400"/>
          </a:xfrm>
          <a:prstGeom prst="roundRect">
            <a:avLst>
              <a:gd name="adj" fmla="val 7000"/>
            </a:avLst>
          </a:prstGeom>
          <a:solidFill>
            <a:srgbClr val="F7FAFD"/>
          </a:solidFill>
          <a:ln w="12700">
            <a:solidFill>
              <a:srgbClr val="D9E3E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318504" y="3993818"/>
            <a:ext cx="5120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5D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Simulator output — duration_distributions/triggering_conditions.png.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D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baseline 120 s → representative means: common 179.7 s, rare 90.0 s, unknown 29.6 s.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200" kern="0" dirty="0">
                <a:solidFill>
                  <a:srgbClr val="2E5E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RUN WORKS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530352"/>
            <a:ext cx="1105783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event loop: jump from expiry to expiry, never tick seconds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1505895" y="6510528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8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6928" y="6510528"/>
            <a:ext cx="594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A6B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Unknown-Scenario Poisson Verification · Layered Scenario Simulator v6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66928" y="1444752"/>
            <a:ext cx="457200" cy="457200"/>
          </a:xfrm>
          <a:prstGeom prst="ellipse">
            <a:avLst/>
          </a:prstGeom>
          <a:solidFill>
            <a:srgbClr val="16233F"/>
          </a:solidFill>
          <a:ln/>
        </p:spPr>
      </p:sp>
      <p:sp>
        <p:nvSpPr>
          <p:cNvPr id="7" name="Text 5"/>
          <p:cNvSpPr/>
          <p:nvPr/>
        </p:nvSpPr>
        <p:spPr>
          <a:xfrm>
            <a:off x="566928" y="14447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25296" y="1389888"/>
            <a:ext cx="45079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next event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5D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 = min over layers of remaining sojourn time (clipped at the 20,000 h horizon)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66928" y="2414016"/>
            <a:ext cx="457200" cy="457200"/>
          </a:xfrm>
          <a:prstGeom prst="ellipse">
            <a:avLst/>
          </a:prstGeom>
          <a:solidFill>
            <a:srgbClr val="16233F"/>
          </a:solidFill>
          <a:ln/>
        </p:spPr>
      </p:sp>
      <p:sp>
        <p:nvSpPr>
          <p:cNvPr id="10" name="Text 8"/>
          <p:cNvSpPr/>
          <p:nvPr/>
        </p:nvSpPr>
        <p:spPr>
          <a:xfrm>
            <a:off x="566928" y="24140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25296" y="2359152"/>
            <a:ext cx="45079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 the world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5D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+= dt;  miles += 50 mph × dt / 3600 — mileage is derived, time is the clock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66928" y="3383280"/>
            <a:ext cx="457200" cy="457200"/>
          </a:xfrm>
          <a:prstGeom prst="ellipse">
            <a:avLst/>
          </a:prstGeom>
          <a:solidFill>
            <a:srgbClr val="16233F"/>
          </a:solidFill>
          <a:ln/>
        </p:spPr>
      </p:sp>
      <p:sp>
        <p:nvSpPr>
          <p:cNvPr id="13" name="Text 11"/>
          <p:cNvSpPr/>
          <p:nvPr/>
        </p:nvSpPr>
        <p:spPr>
          <a:xfrm>
            <a:off x="566928" y="3383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25296" y="3328416"/>
            <a:ext cx="45079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Resample expired layers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5D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the next element from the layer's vector; draw its own Gamma duration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66928" y="4352544"/>
            <a:ext cx="457200" cy="457200"/>
          </a:xfrm>
          <a:prstGeom prst="ellipse">
            <a:avLst/>
          </a:prstGeom>
          <a:solidFill>
            <a:srgbClr val="16233F"/>
          </a:solidFill>
          <a:ln/>
        </p:spPr>
      </p:sp>
      <p:sp>
        <p:nvSpPr>
          <p:cNvPr id="16" name="Text 14"/>
          <p:cNvSpPr/>
          <p:nvPr/>
        </p:nvSpPr>
        <p:spPr>
          <a:xfrm>
            <a:off x="566928" y="43525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25296" y="4297680"/>
            <a:ext cx="45079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the rules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5D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the new active rare set against the 100 planted combinations; open / continue / close an episode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66928" y="5376672"/>
            <a:ext cx="5166360" cy="841248"/>
          </a:xfrm>
          <a:prstGeom prst="roundRect">
            <a:avLst>
              <a:gd name="adj" fmla="val 7609"/>
            </a:avLst>
          </a:prstGeom>
          <a:solidFill>
            <a:srgbClr val="EEF3FA"/>
          </a:solidFill>
          <a:ln w="12700">
            <a:solidFill>
              <a:srgbClr val="D9E3E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68096" y="5468112"/>
            <a:ext cx="47640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4,079,575 events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2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 20,000 h (one event per ≈18 simulated seconds) — 11.7 s wall-clock.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172200" y="1188720"/>
            <a:ext cx="545256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D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independent sojourn clocks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172200" y="1481328"/>
            <a:ext cx="960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street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223760" y="1527048"/>
            <a:ext cx="1279154" cy="384048"/>
          </a:xfrm>
          <a:prstGeom prst="roundRect">
            <a:avLst>
              <a:gd name="adj" fmla="val 11905"/>
            </a:avLst>
          </a:prstGeom>
          <a:solidFill>
            <a:srgbClr val="EEF2F7"/>
          </a:solidFill>
          <a:ln w="12700">
            <a:solidFill>
              <a:srgbClr val="C3CFD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544062" y="1527048"/>
            <a:ext cx="1807275" cy="384048"/>
          </a:xfrm>
          <a:prstGeom prst="roundRect">
            <a:avLst>
              <a:gd name="adj" fmla="val 11905"/>
            </a:avLst>
          </a:prstGeom>
          <a:solidFill>
            <a:srgbClr val="EEF2F7"/>
          </a:solidFill>
          <a:ln w="12700">
            <a:solidFill>
              <a:srgbClr val="C3CFD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392485" y="1527048"/>
            <a:ext cx="1191134" cy="384048"/>
          </a:xfrm>
          <a:prstGeom prst="roundRect">
            <a:avLst>
              <a:gd name="adj" fmla="val 11905"/>
            </a:avLst>
          </a:prstGeom>
          <a:solidFill>
            <a:srgbClr val="FBF0DA"/>
          </a:solidFill>
          <a:ln w="12700">
            <a:solidFill>
              <a:srgbClr val="E2B25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72200" y="2103120"/>
            <a:ext cx="960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7223760" y="2148840"/>
            <a:ext cx="2687476" cy="384048"/>
          </a:xfrm>
          <a:prstGeom prst="roundRect">
            <a:avLst>
              <a:gd name="adj" fmla="val 11905"/>
            </a:avLst>
          </a:prstGeom>
          <a:solidFill>
            <a:srgbClr val="EEF2F7"/>
          </a:solidFill>
          <a:ln w="12700">
            <a:solidFill>
              <a:srgbClr val="C3CFD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952384" y="2148840"/>
            <a:ext cx="1631235" cy="384048"/>
          </a:xfrm>
          <a:prstGeom prst="roundRect">
            <a:avLst>
              <a:gd name="adj" fmla="val 11905"/>
            </a:avLst>
          </a:prstGeom>
          <a:solidFill>
            <a:srgbClr val="EEF2F7"/>
          </a:solidFill>
          <a:ln w="12700">
            <a:solidFill>
              <a:srgbClr val="C3CFD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72200" y="2724912"/>
            <a:ext cx="960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ego man.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7223760" y="2770632"/>
            <a:ext cx="398953" cy="384048"/>
          </a:xfrm>
          <a:prstGeom prst="roundRect">
            <a:avLst>
              <a:gd name="adj" fmla="val 11905"/>
            </a:avLst>
          </a:prstGeom>
          <a:solidFill>
            <a:srgbClr val="EEF2F7"/>
          </a:solidFill>
          <a:ln w="12700">
            <a:solidFill>
              <a:srgbClr val="C3CFD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663861" y="2770632"/>
            <a:ext cx="530983" cy="384048"/>
          </a:xfrm>
          <a:prstGeom prst="roundRect">
            <a:avLst>
              <a:gd name="adj" fmla="val 11905"/>
            </a:avLst>
          </a:prstGeom>
          <a:solidFill>
            <a:srgbClr val="FBF0DA"/>
          </a:solidFill>
          <a:ln w="12700">
            <a:solidFill>
              <a:srgbClr val="E2B25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235992" y="2770632"/>
            <a:ext cx="354943" cy="384048"/>
          </a:xfrm>
          <a:prstGeom prst="roundRect">
            <a:avLst>
              <a:gd name="adj" fmla="val 12881"/>
            </a:avLst>
          </a:prstGeom>
          <a:solidFill>
            <a:srgbClr val="EEF2F7"/>
          </a:solidFill>
          <a:ln w="12700">
            <a:solidFill>
              <a:srgbClr val="C3CFD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632082" y="2770632"/>
            <a:ext cx="486973" cy="384048"/>
          </a:xfrm>
          <a:prstGeom prst="roundRect">
            <a:avLst>
              <a:gd name="adj" fmla="val 11905"/>
            </a:avLst>
          </a:prstGeom>
          <a:solidFill>
            <a:srgbClr val="EEF2F7"/>
          </a:solidFill>
          <a:ln w="12700">
            <a:solidFill>
              <a:srgbClr val="C3CFD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160203" y="2770632"/>
            <a:ext cx="398953" cy="384048"/>
          </a:xfrm>
          <a:prstGeom prst="roundRect">
            <a:avLst>
              <a:gd name="adj" fmla="val 11905"/>
            </a:avLst>
          </a:prstGeom>
          <a:solidFill>
            <a:srgbClr val="FBE3DF"/>
          </a:solidFill>
          <a:ln w="12700">
            <a:solidFill>
              <a:srgbClr val="E0837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600304" y="2770632"/>
            <a:ext cx="574993" cy="384048"/>
          </a:xfrm>
          <a:prstGeom prst="roundRect">
            <a:avLst>
              <a:gd name="adj" fmla="val 11905"/>
            </a:avLst>
          </a:prstGeom>
          <a:solidFill>
            <a:srgbClr val="EEF2F7"/>
          </a:solidFill>
          <a:ln w="12700">
            <a:solidFill>
              <a:srgbClr val="C3CFD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216445" y="2770632"/>
            <a:ext cx="442963" cy="384048"/>
          </a:xfrm>
          <a:prstGeom prst="roundRect">
            <a:avLst>
              <a:gd name="adj" fmla="val 11905"/>
            </a:avLst>
          </a:prstGeom>
          <a:solidFill>
            <a:srgbClr val="FBF0DA"/>
          </a:solidFill>
          <a:ln w="12700">
            <a:solidFill>
              <a:srgbClr val="E2B25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0700556" y="2770632"/>
            <a:ext cx="883064" cy="384048"/>
          </a:xfrm>
          <a:prstGeom prst="roundRect">
            <a:avLst>
              <a:gd name="adj" fmla="val 11905"/>
            </a:avLst>
          </a:prstGeom>
          <a:solidFill>
            <a:srgbClr val="EEF2F7"/>
          </a:solidFill>
          <a:ln w="12700">
            <a:solidFill>
              <a:srgbClr val="C3CFD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172200" y="3346704"/>
            <a:ext cx="960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 man.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7223760" y="3392424"/>
            <a:ext cx="663013" cy="384048"/>
          </a:xfrm>
          <a:prstGeom prst="roundRect">
            <a:avLst>
              <a:gd name="adj" fmla="val 11905"/>
            </a:avLst>
          </a:prstGeom>
          <a:solidFill>
            <a:srgbClr val="EEF2F7"/>
          </a:solidFill>
          <a:ln w="12700">
            <a:solidFill>
              <a:srgbClr val="C3CFDE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927921" y="3392424"/>
            <a:ext cx="486973" cy="384048"/>
          </a:xfrm>
          <a:prstGeom prst="roundRect">
            <a:avLst>
              <a:gd name="adj" fmla="val 11905"/>
            </a:avLst>
          </a:prstGeom>
          <a:solidFill>
            <a:srgbClr val="EEF2F7"/>
          </a:solidFill>
          <a:ln w="12700">
            <a:solidFill>
              <a:srgbClr val="C3CFDE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456042" y="3392424"/>
            <a:ext cx="751033" cy="384048"/>
          </a:xfrm>
          <a:prstGeom prst="roundRect">
            <a:avLst>
              <a:gd name="adj" fmla="val 11905"/>
            </a:avLst>
          </a:prstGeom>
          <a:solidFill>
            <a:srgbClr val="FBF0DA"/>
          </a:solidFill>
          <a:ln w="12700">
            <a:solidFill>
              <a:srgbClr val="E2B25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248223" y="3392424"/>
            <a:ext cx="530983" cy="384048"/>
          </a:xfrm>
          <a:prstGeom prst="roundRect">
            <a:avLst>
              <a:gd name="adj" fmla="val 11905"/>
            </a:avLst>
          </a:prstGeom>
          <a:solidFill>
            <a:srgbClr val="EEF2F7"/>
          </a:solidFill>
          <a:ln w="12700">
            <a:solidFill>
              <a:srgbClr val="C3CFDE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9820354" y="3392424"/>
            <a:ext cx="442963" cy="384048"/>
          </a:xfrm>
          <a:prstGeom prst="roundRect">
            <a:avLst>
              <a:gd name="adj" fmla="val 11905"/>
            </a:avLst>
          </a:prstGeom>
          <a:solidFill>
            <a:srgbClr val="EEF2F7"/>
          </a:solidFill>
          <a:ln w="12700">
            <a:solidFill>
              <a:srgbClr val="C3CFDE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0304465" y="3392424"/>
            <a:ext cx="663013" cy="384048"/>
          </a:xfrm>
          <a:prstGeom prst="roundRect">
            <a:avLst>
              <a:gd name="adj" fmla="val 11905"/>
            </a:avLst>
          </a:prstGeom>
          <a:solidFill>
            <a:srgbClr val="EEF2F7"/>
          </a:solidFill>
          <a:ln w="12700">
            <a:solidFill>
              <a:srgbClr val="C3CFDE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1008626" y="3392424"/>
            <a:ext cx="574993" cy="384048"/>
          </a:xfrm>
          <a:prstGeom prst="roundRect">
            <a:avLst>
              <a:gd name="adj" fmla="val 11905"/>
            </a:avLst>
          </a:prstGeom>
          <a:solidFill>
            <a:srgbClr val="FBF0DA"/>
          </a:solidFill>
          <a:ln w="12700">
            <a:solidFill>
              <a:srgbClr val="E2B25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172200" y="3968496"/>
            <a:ext cx="960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7223760" y="4014216"/>
            <a:ext cx="4359859" cy="384048"/>
          </a:xfrm>
          <a:prstGeom prst="roundRect">
            <a:avLst>
              <a:gd name="adj" fmla="val 11905"/>
            </a:avLst>
          </a:prstGeom>
          <a:solidFill>
            <a:srgbClr val="EEF2F7"/>
          </a:solidFill>
          <a:ln w="12700">
            <a:solidFill>
              <a:srgbClr val="C3CFD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172200" y="4590288"/>
            <a:ext cx="960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triggering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7223760" y="4636008"/>
            <a:ext cx="310933" cy="384048"/>
          </a:xfrm>
          <a:prstGeom prst="roundRect">
            <a:avLst>
              <a:gd name="adj" fmla="val 14704"/>
            </a:avLst>
          </a:prstGeom>
          <a:solidFill>
            <a:srgbClr val="EEF2F7"/>
          </a:solidFill>
          <a:ln w="12700">
            <a:solidFill>
              <a:srgbClr val="C3CFDE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575841" y="4636008"/>
            <a:ext cx="442963" cy="384048"/>
          </a:xfrm>
          <a:prstGeom prst="roundRect">
            <a:avLst>
              <a:gd name="adj" fmla="val 11905"/>
            </a:avLst>
          </a:prstGeom>
          <a:solidFill>
            <a:srgbClr val="FBF0DA"/>
          </a:solidFill>
          <a:ln w="12700">
            <a:solidFill>
              <a:srgbClr val="E2B25F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059951" y="4636008"/>
            <a:ext cx="222912" cy="384048"/>
          </a:xfrm>
          <a:prstGeom prst="roundRect">
            <a:avLst>
              <a:gd name="adj" fmla="val 20510"/>
            </a:avLst>
          </a:prstGeom>
          <a:solidFill>
            <a:srgbClr val="EEF2F7"/>
          </a:solidFill>
          <a:ln w="12700">
            <a:solidFill>
              <a:srgbClr val="C3CFDE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324012" y="4636008"/>
            <a:ext cx="354943" cy="384048"/>
          </a:xfrm>
          <a:prstGeom prst="roundRect">
            <a:avLst>
              <a:gd name="adj" fmla="val 12881"/>
            </a:avLst>
          </a:prstGeom>
          <a:solidFill>
            <a:srgbClr val="EEF2F7"/>
          </a:solidFill>
          <a:ln w="12700">
            <a:solidFill>
              <a:srgbClr val="C3CFDE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720102" y="4636008"/>
            <a:ext cx="266923" cy="384048"/>
          </a:xfrm>
          <a:prstGeom prst="roundRect">
            <a:avLst>
              <a:gd name="adj" fmla="val 17129"/>
            </a:avLst>
          </a:prstGeom>
          <a:solidFill>
            <a:srgbClr val="FBF0DA"/>
          </a:solidFill>
          <a:ln w="12700">
            <a:solidFill>
              <a:srgbClr val="E2B25F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9028173" y="4636008"/>
            <a:ext cx="398953" cy="384048"/>
          </a:xfrm>
          <a:prstGeom prst="roundRect">
            <a:avLst>
              <a:gd name="adj" fmla="val 11905"/>
            </a:avLst>
          </a:prstGeom>
          <a:solidFill>
            <a:srgbClr val="EEF2F7"/>
          </a:solidFill>
          <a:ln w="12700">
            <a:solidFill>
              <a:srgbClr val="C3CFDE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9468274" y="4636008"/>
            <a:ext cx="310933" cy="384048"/>
          </a:xfrm>
          <a:prstGeom prst="roundRect">
            <a:avLst>
              <a:gd name="adj" fmla="val 14704"/>
            </a:avLst>
          </a:prstGeom>
          <a:solidFill>
            <a:srgbClr val="FBE3DF"/>
          </a:solidFill>
          <a:ln w="12700">
            <a:solidFill>
              <a:srgbClr val="E08373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9820354" y="4636008"/>
            <a:ext cx="354943" cy="384048"/>
          </a:xfrm>
          <a:prstGeom prst="roundRect">
            <a:avLst>
              <a:gd name="adj" fmla="val 12881"/>
            </a:avLst>
          </a:prstGeom>
          <a:solidFill>
            <a:srgbClr val="EEF2F7"/>
          </a:solidFill>
          <a:ln w="12700">
            <a:solidFill>
              <a:srgbClr val="C3CFDE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0216445" y="4636008"/>
            <a:ext cx="486973" cy="384048"/>
          </a:xfrm>
          <a:prstGeom prst="roundRect">
            <a:avLst>
              <a:gd name="adj" fmla="val 11905"/>
            </a:avLst>
          </a:prstGeom>
          <a:solidFill>
            <a:srgbClr val="FBF0DA"/>
          </a:solidFill>
          <a:ln w="12700">
            <a:solidFill>
              <a:srgbClr val="E2B25F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0744566" y="4636008"/>
            <a:ext cx="839053" cy="384048"/>
          </a:xfrm>
          <a:prstGeom prst="roundRect">
            <a:avLst>
              <a:gd name="adj" fmla="val 11905"/>
            </a:avLst>
          </a:prstGeom>
          <a:solidFill>
            <a:srgbClr val="EEF2F7"/>
          </a:solidFill>
          <a:ln w="12700">
            <a:solidFill>
              <a:srgbClr val="C3CFDE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9160203" y="1389888"/>
            <a:ext cx="0" cy="3767328"/>
          </a:xfrm>
          <a:prstGeom prst="line">
            <a:avLst/>
          </a:prstGeom>
          <a:noFill/>
          <a:ln w="19050">
            <a:solidFill>
              <a:srgbClr val="D94F3D"/>
            </a:solidFill>
            <a:prstDash val="dash"/>
          </a:ln>
        </p:spPr>
      </p:sp>
      <p:sp>
        <p:nvSpPr>
          <p:cNvPr id="59" name="Text 57"/>
          <p:cNvSpPr/>
          <p:nvPr/>
        </p:nvSpPr>
        <p:spPr>
          <a:xfrm>
            <a:off x="7223760" y="5266944"/>
            <a:ext cx="440100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000" i="1" dirty="0">
                <a:solidFill>
                  <a:srgbClr val="5D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event: a layer expires → only that layer resamples; the other five clocks keep running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7223760" y="5783580"/>
            <a:ext cx="91440" cy="91440"/>
          </a:xfrm>
          <a:prstGeom prst="ellipse">
            <a:avLst/>
          </a:prstGeom>
          <a:solidFill>
            <a:srgbClr val="64748B"/>
          </a:solidFill>
          <a:ln/>
        </p:spPr>
      </p:sp>
      <p:sp>
        <p:nvSpPr>
          <p:cNvPr id="61" name="Text 59"/>
          <p:cNvSpPr/>
          <p:nvPr/>
        </p:nvSpPr>
        <p:spPr>
          <a:xfrm>
            <a:off x="7351776" y="5742432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D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8129016" y="5783580"/>
            <a:ext cx="91440" cy="91440"/>
          </a:xfrm>
          <a:prstGeom prst="ellipse">
            <a:avLst/>
          </a:prstGeom>
          <a:solidFill>
            <a:srgbClr val="DB8B1F"/>
          </a:solidFill>
          <a:ln/>
        </p:spPr>
      </p:sp>
      <p:sp>
        <p:nvSpPr>
          <p:cNvPr id="63" name="Text 61"/>
          <p:cNvSpPr/>
          <p:nvPr/>
        </p:nvSpPr>
        <p:spPr>
          <a:xfrm>
            <a:off x="8257032" y="5742432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D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rare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9034272" y="5783580"/>
            <a:ext cx="91440" cy="91440"/>
          </a:xfrm>
          <a:prstGeom prst="ellipse">
            <a:avLst/>
          </a:prstGeom>
          <a:solidFill>
            <a:srgbClr val="D94F3D"/>
          </a:solidFill>
          <a:ln/>
        </p:spPr>
      </p:sp>
      <p:sp>
        <p:nvSpPr>
          <p:cNvPr id="65" name="Text 63"/>
          <p:cNvSpPr/>
          <p:nvPr/>
        </p:nvSpPr>
        <p:spPr>
          <a:xfrm>
            <a:off x="9162288" y="5742432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D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200" kern="0" dirty="0">
                <a:solidFill>
                  <a:srgbClr val="2E5E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RUN WORKS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530352"/>
            <a:ext cx="1105783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Unknown scenarios = exact combinations of known rare elements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1505895" y="6510528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8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6928" y="6510528"/>
            <a:ext cx="594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A6B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Unknown-Scenario Poisson Verification · Layered Scenario Simulator v6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66928" y="1417320"/>
            <a:ext cx="58064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lnSpc>
                <a:spcPct val="104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b="1" dirty="0">
                <a:solidFill>
                  <a:srgbClr val="22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rules planted at build time </a:t>
            </a:r>
            <a:pPr algn="l" marL="152400" indent="-152400">
              <a:lnSpc>
                <a:spcPct val="104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2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C3: 40, C4: 30, C5: 20, C6: 10 — sampled uniformly without replacement (ordinal unranking; no Cartesian blow-up).</a:t>
            </a:r>
            <a:endParaRPr lang="en-US" sz="1250" dirty="0"/>
          </a:p>
          <a:p>
            <a:pPr algn="l" marL="152400" indent="-152400">
              <a:lnSpc>
                <a:spcPct val="104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b="1" dirty="0">
                <a:solidFill>
                  <a:srgbClr val="22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rule spans distinct layers </a:t>
            </a:r>
            <a:pPr algn="l" marL="152400" indent="-152400">
              <a:lnSpc>
                <a:spcPct val="104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2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one rare element per layer, and always includes a rare triggering condition.</a:t>
            </a:r>
            <a:endParaRPr lang="en-US" sz="1250" dirty="0"/>
          </a:p>
          <a:p>
            <a:pPr algn="l" marL="152400" indent="-152400">
              <a:lnSpc>
                <a:spcPct val="104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b="1" dirty="0">
                <a:solidFill>
                  <a:srgbClr val="22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mass = product of its members' probabilities. </a:t>
            </a:r>
            <a:pPr algn="l" marL="152400" indent="-152400">
              <a:lnSpc>
                <a:spcPct val="104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2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C3 masses ≈ 0.001–0.006%; C5/C6 masses ≈ 10⁻⁸ — planted but effectively never met.</a:t>
            </a:r>
            <a:endParaRPr lang="en-US" sz="1250" dirty="0"/>
          </a:p>
          <a:p>
            <a:pPr algn="l" marL="152400" indent="-152400">
              <a:lnSpc>
                <a:spcPct val="104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b="1" dirty="0">
                <a:solidFill>
                  <a:srgbClr val="22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self-transition that leaves the rare set unchanged </a:t>
            </a:r>
            <a:pPr algn="l" marL="152400" indent="-152400">
              <a:lnSpc>
                <a:spcPct val="104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2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continues the open episode — it does not close or re-open it.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66928" y="4224528"/>
            <a:ext cx="5806440" cy="1600200"/>
          </a:xfrm>
          <a:prstGeom prst="roundRect">
            <a:avLst>
              <a:gd name="adj" fmla="val 4000"/>
            </a:avLst>
          </a:prstGeom>
          <a:solidFill>
            <a:srgbClr val="EEF3FA"/>
          </a:solidFill>
          <a:ln w="12700">
            <a:solidFill>
              <a:srgbClr val="D9E3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6384" y="4370832"/>
            <a:ext cx="536752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“exact” matching? 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22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rule matches only when the complete active rare set equals it. A C3 inside a richer rare state does not fire — no double counting, and every episode is attributable to exactly one rule.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675120" y="1417320"/>
            <a:ext cx="4949647" cy="4407408"/>
          </a:xfrm>
          <a:prstGeom prst="roundRect">
            <a:avLst>
              <a:gd name="adj" fmla="val 1452"/>
            </a:avLst>
          </a:prstGeom>
          <a:solidFill>
            <a:srgbClr val="F7FAFD"/>
          </a:solidFill>
          <a:ln w="12700">
            <a:solidFill>
              <a:srgbClr val="D9E3EF"/>
            </a:solidFill>
            <a:prstDash val="solid"/>
          </a:ln>
          <a:effectLst>
            <a:outerShdw sx="100000" sy="100000" kx="0" ky="0" algn="bl" rotWithShape="0" blurRad="88900" dist="25400" dir="5400000">
              <a:srgbClr val="1A2C4E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931152" y="1627632"/>
            <a:ext cx="443758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current state match a rule?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931152" y="2084832"/>
            <a:ext cx="457200" cy="457200"/>
          </a:xfrm>
          <a:prstGeom prst="ellipse">
            <a:avLst/>
          </a:prstGeom>
          <a:solidFill>
            <a:srgbClr val="2E7D5B"/>
          </a:solidFill>
          <a:ln/>
        </p:spPr>
      </p:sp>
      <p:pic>
        <p:nvPicPr>
          <p:cNvPr id="12" name="Image 0" descr="icons/chec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36308" y="2189988"/>
            <a:ext cx="246888" cy="246888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7543800" y="2048256"/>
            <a:ext cx="3806647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2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rare set = the rule's set, exactly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D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rule element active; no extra rare element anywhere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6931152" y="3017520"/>
            <a:ext cx="457200" cy="457200"/>
          </a:xfrm>
          <a:prstGeom prst="ellipse">
            <a:avLst/>
          </a:prstGeom>
          <a:solidFill>
            <a:srgbClr val="D94F3D"/>
          </a:solidFill>
          <a:ln/>
        </p:spPr>
      </p:sp>
      <p:pic>
        <p:nvPicPr>
          <p:cNvPr id="15" name="Image 1" descr="icons/x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6308" y="3122676"/>
            <a:ext cx="246888" cy="24688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543800" y="2980944"/>
            <a:ext cx="3806647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2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unknown-class element active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D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unknown element in any layer disqualifies the match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6931152" y="3950208"/>
            <a:ext cx="457200" cy="457200"/>
          </a:xfrm>
          <a:prstGeom prst="ellipse">
            <a:avLst/>
          </a:prstGeom>
          <a:solidFill>
            <a:srgbClr val="2E7D5B"/>
          </a:solidFill>
          <a:ln/>
        </p:spPr>
      </p:sp>
      <p:pic>
        <p:nvPicPr>
          <p:cNvPr id="18" name="Image 2" descr="icons/check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6308" y="4055364"/>
            <a:ext cx="246888" cy="24688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7543800" y="3913632"/>
            <a:ext cx="3806647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2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remaining layers are common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D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follows from the two conditions above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6931152" y="4882896"/>
            <a:ext cx="457200" cy="457200"/>
          </a:xfrm>
          <a:prstGeom prst="ellipse">
            <a:avLst/>
          </a:prstGeom>
          <a:solidFill>
            <a:srgbClr val="DB8B1F"/>
          </a:solidFill>
          <a:ln/>
        </p:spPr>
      </p:sp>
      <p:pic>
        <p:nvPicPr>
          <p:cNvPr id="21" name="Image 3" descr="icons/zap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36308" y="4988052"/>
            <a:ext cx="246888" cy="24688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543800" y="4846320"/>
            <a:ext cx="3806647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2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→ open (or continue) an episode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D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stays open while the match persists — self-transitions do not close it; closes on the first breaking change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200" kern="0" dirty="0">
                <a:solidFill>
                  <a:srgbClr val="2E5E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RUN WORKS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530352"/>
            <a:ext cx="1105783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Worked example: the life of episode #1 (real run data)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1505895" y="6510528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8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6928" y="6510528"/>
            <a:ext cx="594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A6B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Unknown-Scenario Poisson Verification · Layered Scenario Simulator v6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66928" y="120700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</a:t>
            </a:r>
            <a:pPr indent="0" marL="0">
              <a:buNone/>
            </a:pPr>
            <a:r>
              <a:rPr lang="en-US" sz="12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C3: ego_maneuver = ego_011  &amp;  ru_maneuver = ru_010  &amp;  triggering_conditions = trigger_014</a:t>
            </a:r>
            <a:pPr indent="0" marL="0">
              <a:buNone/>
            </a:pPr>
            <a:r>
              <a:rPr lang="en-US" sz="1200" dirty="0">
                <a:solidFill>
                  <a:srgbClr val="5D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mass 0.0031%   ·   27 episodes in this run   ·   common-layer chips illustrative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66928" y="1627632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D94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 2,269.8 — EPISODE OPENS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66928" y="1847088"/>
            <a:ext cx="1036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100" kern="0" dirty="0">
                <a:solidFill>
                  <a:srgbClr val="8B9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STREET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566928" y="2048256"/>
            <a:ext cx="1036320" cy="420624"/>
          </a:xfrm>
          <a:prstGeom prst="roundRect">
            <a:avLst>
              <a:gd name="adj" fmla="val 21739"/>
            </a:avLst>
          </a:prstGeom>
          <a:solidFill>
            <a:srgbClr val="EEF2F7"/>
          </a:solidFill>
          <a:ln w="15875">
            <a:solidFill>
              <a:srgbClr val="C3CFD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76656" y="2217420"/>
            <a:ext cx="82296" cy="82296"/>
          </a:xfrm>
          <a:prstGeom prst="ellipse">
            <a:avLst/>
          </a:prstGeom>
          <a:solidFill>
            <a:srgbClr val="64748B"/>
          </a:solidFill>
          <a:ln/>
        </p:spPr>
      </p:sp>
      <p:sp>
        <p:nvSpPr>
          <p:cNvPr id="11" name="Text 9"/>
          <p:cNvSpPr/>
          <p:nvPr/>
        </p:nvSpPr>
        <p:spPr>
          <a:xfrm>
            <a:off x="786384" y="2048256"/>
            <a:ext cx="762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D4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712976" y="1847088"/>
            <a:ext cx="1036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100" kern="0" dirty="0">
                <a:solidFill>
                  <a:srgbClr val="8B9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1712976" y="2048256"/>
            <a:ext cx="1036320" cy="420624"/>
          </a:xfrm>
          <a:prstGeom prst="roundRect">
            <a:avLst>
              <a:gd name="adj" fmla="val 21739"/>
            </a:avLst>
          </a:prstGeom>
          <a:solidFill>
            <a:srgbClr val="EEF2F7"/>
          </a:solidFill>
          <a:ln w="15875">
            <a:solidFill>
              <a:srgbClr val="C3CFD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822704" y="2217420"/>
            <a:ext cx="82296" cy="82296"/>
          </a:xfrm>
          <a:prstGeom prst="ellipse">
            <a:avLst/>
          </a:prstGeom>
          <a:solidFill>
            <a:srgbClr val="64748B"/>
          </a:solidFill>
          <a:ln/>
        </p:spPr>
      </p:sp>
      <p:sp>
        <p:nvSpPr>
          <p:cNvPr id="15" name="Text 13"/>
          <p:cNvSpPr/>
          <p:nvPr/>
        </p:nvSpPr>
        <p:spPr>
          <a:xfrm>
            <a:off x="1932432" y="2048256"/>
            <a:ext cx="762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D4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859024" y="1847088"/>
            <a:ext cx="1036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100" kern="0" dirty="0">
                <a:solidFill>
                  <a:srgbClr val="8B9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EGO MAN.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2859024" y="2048256"/>
            <a:ext cx="1036320" cy="420624"/>
          </a:xfrm>
          <a:prstGeom prst="roundRect">
            <a:avLst>
              <a:gd name="adj" fmla="val 21739"/>
            </a:avLst>
          </a:prstGeom>
          <a:solidFill>
            <a:srgbClr val="FBF0DA"/>
          </a:solidFill>
          <a:ln w="15875">
            <a:solidFill>
              <a:srgbClr val="E2B25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968752" y="2217420"/>
            <a:ext cx="82296" cy="82296"/>
          </a:xfrm>
          <a:prstGeom prst="ellipse">
            <a:avLst/>
          </a:prstGeom>
          <a:solidFill>
            <a:srgbClr val="DB8B1F"/>
          </a:solidFill>
          <a:ln/>
        </p:spPr>
      </p:sp>
      <p:sp>
        <p:nvSpPr>
          <p:cNvPr id="19" name="Text 17"/>
          <p:cNvSpPr/>
          <p:nvPr/>
        </p:nvSpPr>
        <p:spPr>
          <a:xfrm>
            <a:off x="3078480" y="2048256"/>
            <a:ext cx="762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8A57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ego_011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005072" y="1847088"/>
            <a:ext cx="1036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100" kern="0" dirty="0">
                <a:solidFill>
                  <a:srgbClr val="8B9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 MAN.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4005072" y="2048256"/>
            <a:ext cx="1036320" cy="420624"/>
          </a:xfrm>
          <a:prstGeom prst="roundRect">
            <a:avLst>
              <a:gd name="adj" fmla="val 21739"/>
            </a:avLst>
          </a:prstGeom>
          <a:solidFill>
            <a:srgbClr val="FBF0DA"/>
          </a:solidFill>
          <a:ln w="15875">
            <a:solidFill>
              <a:srgbClr val="E2B25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114800" y="2217420"/>
            <a:ext cx="82296" cy="82296"/>
          </a:xfrm>
          <a:prstGeom prst="ellipse">
            <a:avLst/>
          </a:prstGeom>
          <a:solidFill>
            <a:srgbClr val="DB8B1F"/>
          </a:solidFill>
          <a:ln/>
        </p:spPr>
      </p:sp>
      <p:sp>
        <p:nvSpPr>
          <p:cNvPr id="23" name="Text 21"/>
          <p:cNvSpPr/>
          <p:nvPr/>
        </p:nvSpPr>
        <p:spPr>
          <a:xfrm>
            <a:off x="4224528" y="2048256"/>
            <a:ext cx="762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8A57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ru_010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151120" y="1847088"/>
            <a:ext cx="1036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100" kern="0" dirty="0">
                <a:solidFill>
                  <a:srgbClr val="8B9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5151120" y="2048256"/>
            <a:ext cx="1036320" cy="420624"/>
          </a:xfrm>
          <a:prstGeom prst="roundRect">
            <a:avLst>
              <a:gd name="adj" fmla="val 21739"/>
            </a:avLst>
          </a:prstGeom>
          <a:solidFill>
            <a:srgbClr val="EEF2F7"/>
          </a:solidFill>
          <a:ln w="15875">
            <a:solidFill>
              <a:srgbClr val="C3CFD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260848" y="2217420"/>
            <a:ext cx="82296" cy="82296"/>
          </a:xfrm>
          <a:prstGeom prst="ellipse">
            <a:avLst/>
          </a:prstGeom>
          <a:solidFill>
            <a:srgbClr val="64748B"/>
          </a:solidFill>
          <a:ln/>
        </p:spPr>
      </p:sp>
      <p:sp>
        <p:nvSpPr>
          <p:cNvPr id="27" name="Text 25"/>
          <p:cNvSpPr/>
          <p:nvPr/>
        </p:nvSpPr>
        <p:spPr>
          <a:xfrm>
            <a:off x="5370576" y="2048256"/>
            <a:ext cx="762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D4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297168" y="1847088"/>
            <a:ext cx="1036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100" kern="0" dirty="0">
                <a:solidFill>
                  <a:srgbClr val="8B9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TRIGGERING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6297168" y="2048256"/>
            <a:ext cx="1036320" cy="420624"/>
          </a:xfrm>
          <a:prstGeom prst="roundRect">
            <a:avLst>
              <a:gd name="adj" fmla="val 21739"/>
            </a:avLst>
          </a:prstGeom>
          <a:solidFill>
            <a:srgbClr val="FBF0DA"/>
          </a:solidFill>
          <a:ln w="15875">
            <a:solidFill>
              <a:srgbClr val="E2B25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06896" y="2217420"/>
            <a:ext cx="82296" cy="82296"/>
          </a:xfrm>
          <a:prstGeom prst="ellipse">
            <a:avLst/>
          </a:prstGeom>
          <a:solidFill>
            <a:srgbClr val="DB8B1F"/>
          </a:solidFill>
          <a:ln/>
        </p:spPr>
      </p:sp>
      <p:sp>
        <p:nvSpPr>
          <p:cNvPr id="31" name="Text 29"/>
          <p:cNvSpPr/>
          <p:nvPr/>
        </p:nvSpPr>
        <p:spPr>
          <a:xfrm>
            <a:off x="6516624" y="2048256"/>
            <a:ext cx="762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8A57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trigger_014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7635240" y="1883664"/>
            <a:ext cx="3989527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5D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trigger_014 is drawn at a triggering-layer expiry → active rare set now equals the rule exactly → unknown-scenario episode opens.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566928" y="3017520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DB8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THE MATCH PERSISTS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66928" y="3236976"/>
            <a:ext cx="1036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100" kern="0" dirty="0">
                <a:solidFill>
                  <a:srgbClr val="8B9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STREET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566928" y="3438144"/>
            <a:ext cx="1036320" cy="420624"/>
          </a:xfrm>
          <a:prstGeom prst="roundRect">
            <a:avLst>
              <a:gd name="adj" fmla="val 21739"/>
            </a:avLst>
          </a:prstGeom>
          <a:solidFill>
            <a:srgbClr val="EEF2F7"/>
          </a:solidFill>
          <a:ln w="15875">
            <a:solidFill>
              <a:srgbClr val="C3CFD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76656" y="3607308"/>
            <a:ext cx="82296" cy="82296"/>
          </a:xfrm>
          <a:prstGeom prst="ellipse">
            <a:avLst/>
          </a:prstGeom>
          <a:solidFill>
            <a:srgbClr val="64748B"/>
          </a:solidFill>
          <a:ln/>
        </p:spPr>
      </p:sp>
      <p:sp>
        <p:nvSpPr>
          <p:cNvPr id="37" name="Text 35"/>
          <p:cNvSpPr/>
          <p:nvPr/>
        </p:nvSpPr>
        <p:spPr>
          <a:xfrm>
            <a:off x="786384" y="3438144"/>
            <a:ext cx="762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D4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common′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1712976" y="3236976"/>
            <a:ext cx="1036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100" kern="0" dirty="0">
                <a:solidFill>
                  <a:srgbClr val="8B9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1712976" y="3438144"/>
            <a:ext cx="1036320" cy="420624"/>
          </a:xfrm>
          <a:prstGeom prst="roundRect">
            <a:avLst>
              <a:gd name="adj" fmla="val 21739"/>
            </a:avLst>
          </a:prstGeom>
          <a:solidFill>
            <a:srgbClr val="EEF2F7"/>
          </a:solidFill>
          <a:ln w="15875">
            <a:solidFill>
              <a:srgbClr val="C3CFDE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822704" y="3607308"/>
            <a:ext cx="82296" cy="82296"/>
          </a:xfrm>
          <a:prstGeom prst="ellipse">
            <a:avLst/>
          </a:prstGeom>
          <a:solidFill>
            <a:srgbClr val="64748B"/>
          </a:solidFill>
          <a:ln/>
        </p:spPr>
      </p:sp>
      <p:sp>
        <p:nvSpPr>
          <p:cNvPr id="41" name="Text 39"/>
          <p:cNvSpPr/>
          <p:nvPr/>
        </p:nvSpPr>
        <p:spPr>
          <a:xfrm>
            <a:off x="1932432" y="3438144"/>
            <a:ext cx="762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D4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2859024" y="3236976"/>
            <a:ext cx="1036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100" kern="0" dirty="0">
                <a:solidFill>
                  <a:srgbClr val="8B9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EGO MAN.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2859024" y="3438144"/>
            <a:ext cx="1036320" cy="420624"/>
          </a:xfrm>
          <a:prstGeom prst="roundRect">
            <a:avLst>
              <a:gd name="adj" fmla="val 21739"/>
            </a:avLst>
          </a:prstGeom>
          <a:solidFill>
            <a:srgbClr val="FBF0DA"/>
          </a:solidFill>
          <a:ln w="15875">
            <a:solidFill>
              <a:srgbClr val="E2B25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968752" y="3607308"/>
            <a:ext cx="82296" cy="82296"/>
          </a:xfrm>
          <a:prstGeom prst="ellipse">
            <a:avLst/>
          </a:prstGeom>
          <a:solidFill>
            <a:srgbClr val="DB8B1F"/>
          </a:solidFill>
          <a:ln/>
        </p:spPr>
      </p:sp>
      <p:sp>
        <p:nvSpPr>
          <p:cNvPr id="45" name="Text 43"/>
          <p:cNvSpPr/>
          <p:nvPr/>
        </p:nvSpPr>
        <p:spPr>
          <a:xfrm>
            <a:off x="3078480" y="3438144"/>
            <a:ext cx="762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8A57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ego_011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4005072" y="3236976"/>
            <a:ext cx="1036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100" kern="0" dirty="0">
                <a:solidFill>
                  <a:srgbClr val="8B9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 MAN.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4005072" y="3438144"/>
            <a:ext cx="1036320" cy="420624"/>
          </a:xfrm>
          <a:prstGeom prst="roundRect">
            <a:avLst>
              <a:gd name="adj" fmla="val 21739"/>
            </a:avLst>
          </a:prstGeom>
          <a:solidFill>
            <a:srgbClr val="FBF0DA"/>
          </a:solidFill>
          <a:ln w="15875">
            <a:solidFill>
              <a:srgbClr val="E2B25F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114800" y="3607308"/>
            <a:ext cx="82296" cy="82296"/>
          </a:xfrm>
          <a:prstGeom prst="ellipse">
            <a:avLst/>
          </a:prstGeom>
          <a:solidFill>
            <a:srgbClr val="DB8B1F"/>
          </a:solidFill>
          <a:ln/>
        </p:spPr>
      </p:sp>
      <p:sp>
        <p:nvSpPr>
          <p:cNvPr id="49" name="Text 47"/>
          <p:cNvSpPr/>
          <p:nvPr/>
        </p:nvSpPr>
        <p:spPr>
          <a:xfrm>
            <a:off x="4224528" y="3438144"/>
            <a:ext cx="762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8A57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ru_010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5151120" y="3236976"/>
            <a:ext cx="1036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100" kern="0" dirty="0">
                <a:solidFill>
                  <a:srgbClr val="8B9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5151120" y="3438144"/>
            <a:ext cx="1036320" cy="420624"/>
          </a:xfrm>
          <a:prstGeom prst="roundRect">
            <a:avLst>
              <a:gd name="adj" fmla="val 21739"/>
            </a:avLst>
          </a:prstGeom>
          <a:solidFill>
            <a:srgbClr val="EEF2F7"/>
          </a:solidFill>
          <a:ln w="15875">
            <a:solidFill>
              <a:srgbClr val="C3CFDE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260848" y="3607308"/>
            <a:ext cx="82296" cy="82296"/>
          </a:xfrm>
          <a:prstGeom prst="ellipse">
            <a:avLst/>
          </a:prstGeom>
          <a:solidFill>
            <a:srgbClr val="64748B"/>
          </a:solidFill>
          <a:ln/>
        </p:spPr>
      </p:sp>
      <p:sp>
        <p:nvSpPr>
          <p:cNvPr id="53" name="Text 51"/>
          <p:cNvSpPr/>
          <p:nvPr/>
        </p:nvSpPr>
        <p:spPr>
          <a:xfrm>
            <a:off x="5370576" y="3438144"/>
            <a:ext cx="762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D4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6297168" y="3236976"/>
            <a:ext cx="1036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100" kern="0" dirty="0">
                <a:solidFill>
                  <a:srgbClr val="8B9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TRIGGERING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6297168" y="3438144"/>
            <a:ext cx="1036320" cy="420624"/>
          </a:xfrm>
          <a:prstGeom prst="roundRect">
            <a:avLst>
              <a:gd name="adj" fmla="val 21739"/>
            </a:avLst>
          </a:prstGeom>
          <a:solidFill>
            <a:srgbClr val="FBF0DA"/>
          </a:solidFill>
          <a:ln w="15875">
            <a:solidFill>
              <a:srgbClr val="E2B25F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406896" y="3607308"/>
            <a:ext cx="82296" cy="82296"/>
          </a:xfrm>
          <a:prstGeom prst="ellipse">
            <a:avLst/>
          </a:prstGeom>
          <a:solidFill>
            <a:srgbClr val="DB8B1F"/>
          </a:solidFill>
          <a:ln/>
        </p:spPr>
      </p:sp>
      <p:sp>
        <p:nvSpPr>
          <p:cNvPr id="57" name="Text 55"/>
          <p:cNvSpPr/>
          <p:nvPr/>
        </p:nvSpPr>
        <p:spPr>
          <a:xfrm>
            <a:off x="6516624" y="3438144"/>
            <a:ext cx="762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8A57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trigger_014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7635240" y="3273552"/>
            <a:ext cx="3989527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5D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layers may transition to other common elements; the rare set is unchanged → the same episode continues (no re-count).</a:t>
            </a:r>
            <a:endParaRPr lang="en-US" sz="1050" dirty="0"/>
          </a:p>
        </p:txBody>
      </p:sp>
      <p:sp>
        <p:nvSpPr>
          <p:cNvPr id="59" name="Text 57"/>
          <p:cNvSpPr/>
          <p:nvPr/>
        </p:nvSpPr>
        <p:spPr>
          <a:xfrm>
            <a:off x="566928" y="4407408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23.9 s / 0.33 mi LATER — EPISODE CLOSES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566928" y="4626864"/>
            <a:ext cx="1036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100" kern="0" dirty="0">
                <a:solidFill>
                  <a:srgbClr val="8B9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STREET</a:t>
            </a:r>
            <a:endParaRPr lang="en-US" sz="750" dirty="0"/>
          </a:p>
        </p:txBody>
      </p:sp>
      <p:sp>
        <p:nvSpPr>
          <p:cNvPr id="61" name="Shape 59"/>
          <p:cNvSpPr/>
          <p:nvPr/>
        </p:nvSpPr>
        <p:spPr>
          <a:xfrm>
            <a:off x="566928" y="4828032"/>
            <a:ext cx="1036320" cy="420624"/>
          </a:xfrm>
          <a:prstGeom prst="roundRect">
            <a:avLst>
              <a:gd name="adj" fmla="val 21739"/>
            </a:avLst>
          </a:prstGeom>
          <a:solidFill>
            <a:srgbClr val="EEF2F7"/>
          </a:solidFill>
          <a:ln w="15875">
            <a:solidFill>
              <a:srgbClr val="C3CFDE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4997196"/>
            <a:ext cx="82296" cy="82296"/>
          </a:xfrm>
          <a:prstGeom prst="ellipse">
            <a:avLst/>
          </a:prstGeom>
          <a:solidFill>
            <a:srgbClr val="64748B"/>
          </a:solidFill>
          <a:ln/>
        </p:spPr>
      </p:sp>
      <p:sp>
        <p:nvSpPr>
          <p:cNvPr id="63" name="Text 61"/>
          <p:cNvSpPr/>
          <p:nvPr/>
        </p:nvSpPr>
        <p:spPr>
          <a:xfrm>
            <a:off x="786384" y="4828032"/>
            <a:ext cx="762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D4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</a:t>
            </a:r>
            <a:endParaRPr lang="en-US" sz="950" dirty="0"/>
          </a:p>
        </p:txBody>
      </p:sp>
      <p:sp>
        <p:nvSpPr>
          <p:cNvPr id="64" name="Text 62"/>
          <p:cNvSpPr/>
          <p:nvPr/>
        </p:nvSpPr>
        <p:spPr>
          <a:xfrm>
            <a:off x="1712976" y="4626864"/>
            <a:ext cx="1036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100" kern="0" dirty="0">
                <a:solidFill>
                  <a:srgbClr val="8B9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</a:t>
            </a:r>
            <a:endParaRPr lang="en-US" sz="750" dirty="0"/>
          </a:p>
        </p:txBody>
      </p:sp>
      <p:sp>
        <p:nvSpPr>
          <p:cNvPr id="65" name="Shape 63"/>
          <p:cNvSpPr/>
          <p:nvPr/>
        </p:nvSpPr>
        <p:spPr>
          <a:xfrm>
            <a:off x="1712976" y="4828032"/>
            <a:ext cx="1036320" cy="420624"/>
          </a:xfrm>
          <a:prstGeom prst="roundRect">
            <a:avLst>
              <a:gd name="adj" fmla="val 21739"/>
            </a:avLst>
          </a:prstGeom>
          <a:solidFill>
            <a:srgbClr val="EEF2F7"/>
          </a:solidFill>
          <a:ln w="15875">
            <a:solidFill>
              <a:srgbClr val="C3CFDE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1822704" y="4997196"/>
            <a:ext cx="82296" cy="82296"/>
          </a:xfrm>
          <a:prstGeom prst="ellipse">
            <a:avLst/>
          </a:prstGeom>
          <a:solidFill>
            <a:srgbClr val="64748B"/>
          </a:solidFill>
          <a:ln/>
        </p:spPr>
      </p:sp>
      <p:sp>
        <p:nvSpPr>
          <p:cNvPr id="67" name="Text 65"/>
          <p:cNvSpPr/>
          <p:nvPr/>
        </p:nvSpPr>
        <p:spPr>
          <a:xfrm>
            <a:off x="1932432" y="4828032"/>
            <a:ext cx="762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D4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</a:t>
            </a:r>
            <a:endParaRPr lang="en-US" sz="950" dirty="0"/>
          </a:p>
        </p:txBody>
      </p:sp>
      <p:sp>
        <p:nvSpPr>
          <p:cNvPr id="68" name="Text 66"/>
          <p:cNvSpPr/>
          <p:nvPr/>
        </p:nvSpPr>
        <p:spPr>
          <a:xfrm>
            <a:off x="2859024" y="4626864"/>
            <a:ext cx="1036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100" kern="0" dirty="0">
                <a:solidFill>
                  <a:srgbClr val="8B9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EGO MAN.</a:t>
            </a:r>
            <a:endParaRPr lang="en-US" sz="750" dirty="0"/>
          </a:p>
        </p:txBody>
      </p:sp>
      <p:sp>
        <p:nvSpPr>
          <p:cNvPr id="69" name="Shape 67"/>
          <p:cNvSpPr/>
          <p:nvPr/>
        </p:nvSpPr>
        <p:spPr>
          <a:xfrm>
            <a:off x="2859024" y="4828032"/>
            <a:ext cx="1036320" cy="420624"/>
          </a:xfrm>
          <a:prstGeom prst="roundRect">
            <a:avLst>
              <a:gd name="adj" fmla="val 21739"/>
            </a:avLst>
          </a:prstGeom>
          <a:solidFill>
            <a:srgbClr val="FBF0DA"/>
          </a:solidFill>
          <a:ln w="15875">
            <a:solidFill>
              <a:srgbClr val="E2B25F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2968752" y="4997196"/>
            <a:ext cx="82296" cy="82296"/>
          </a:xfrm>
          <a:prstGeom prst="ellipse">
            <a:avLst/>
          </a:prstGeom>
          <a:solidFill>
            <a:srgbClr val="DB8B1F"/>
          </a:solidFill>
          <a:ln/>
        </p:spPr>
      </p:sp>
      <p:sp>
        <p:nvSpPr>
          <p:cNvPr id="71" name="Text 69"/>
          <p:cNvSpPr/>
          <p:nvPr/>
        </p:nvSpPr>
        <p:spPr>
          <a:xfrm>
            <a:off x="3078480" y="4828032"/>
            <a:ext cx="762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8A57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ego_011</a:t>
            </a:r>
            <a:endParaRPr lang="en-US" sz="950" dirty="0"/>
          </a:p>
        </p:txBody>
      </p:sp>
      <p:sp>
        <p:nvSpPr>
          <p:cNvPr id="72" name="Text 70"/>
          <p:cNvSpPr/>
          <p:nvPr/>
        </p:nvSpPr>
        <p:spPr>
          <a:xfrm>
            <a:off x="4005072" y="4626864"/>
            <a:ext cx="1036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100" kern="0" dirty="0">
                <a:solidFill>
                  <a:srgbClr val="8B9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 MAN.</a:t>
            </a:r>
            <a:endParaRPr lang="en-US" sz="750" dirty="0"/>
          </a:p>
        </p:txBody>
      </p:sp>
      <p:sp>
        <p:nvSpPr>
          <p:cNvPr id="73" name="Shape 71"/>
          <p:cNvSpPr/>
          <p:nvPr/>
        </p:nvSpPr>
        <p:spPr>
          <a:xfrm>
            <a:off x="4005072" y="4828032"/>
            <a:ext cx="1036320" cy="420624"/>
          </a:xfrm>
          <a:prstGeom prst="roundRect">
            <a:avLst>
              <a:gd name="adj" fmla="val 21739"/>
            </a:avLst>
          </a:prstGeom>
          <a:solidFill>
            <a:srgbClr val="FBF0DA"/>
          </a:solidFill>
          <a:ln w="15875">
            <a:solidFill>
              <a:srgbClr val="E2B25F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4114800" y="4997196"/>
            <a:ext cx="82296" cy="82296"/>
          </a:xfrm>
          <a:prstGeom prst="ellipse">
            <a:avLst/>
          </a:prstGeom>
          <a:solidFill>
            <a:srgbClr val="DB8B1F"/>
          </a:solidFill>
          <a:ln/>
        </p:spPr>
      </p:sp>
      <p:sp>
        <p:nvSpPr>
          <p:cNvPr id="75" name="Text 73"/>
          <p:cNvSpPr/>
          <p:nvPr/>
        </p:nvSpPr>
        <p:spPr>
          <a:xfrm>
            <a:off x="4224528" y="4828032"/>
            <a:ext cx="762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8A57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ru_010</a:t>
            </a:r>
            <a:endParaRPr lang="en-US" sz="950" dirty="0"/>
          </a:p>
        </p:txBody>
      </p:sp>
      <p:sp>
        <p:nvSpPr>
          <p:cNvPr id="76" name="Text 74"/>
          <p:cNvSpPr/>
          <p:nvPr/>
        </p:nvSpPr>
        <p:spPr>
          <a:xfrm>
            <a:off x="5151120" y="4626864"/>
            <a:ext cx="1036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100" kern="0" dirty="0">
                <a:solidFill>
                  <a:srgbClr val="8B9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</a:t>
            </a:r>
            <a:endParaRPr lang="en-US" sz="750" dirty="0"/>
          </a:p>
        </p:txBody>
      </p:sp>
      <p:sp>
        <p:nvSpPr>
          <p:cNvPr id="77" name="Shape 75"/>
          <p:cNvSpPr/>
          <p:nvPr/>
        </p:nvSpPr>
        <p:spPr>
          <a:xfrm>
            <a:off x="5151120" y="4828032"/>
            <a:ext cx="1036320" cy="420624"/>
          </a:xfrm>
          <a:prstGeom prst="roundRect">
            <a:avLst>
              <a:gd name="adj" fmla="val 21739"/>
            </a:avLst>
          </a:prstGeom>
          <a:solidFill>
            <a:srgbClr val="EEF2F7"/>
          </a:solidFill>
          <a:ln w="15875">
            <a:solidFill>
              <a:srgbClr val="C3CFDE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5260848" y="4997196"/>
            <a:ext cx="82296" cy="82296"/>
          </a:xfrm>
          <a:prstGeom prst="ellipse">
            <a:avLst/>
          </a:prstGeom>
          <a:solidFill>
            <a:srgbClr val="64748B"/>
          </a:solidFill>
          <a:ln/>
        </p:spPr>
      </p:sp>
      <p:sp>
        <p:nvSpPr>
          <p:cNvPr id="79" name="Text 77"/>
          <p:cNvSpPr/>
          <p:nvPr/>
        </p:nvSpPr>
        <p:spPr>
          <a:xfrm>
            <a:off x="5370576" y="4828032"/>
            <a:ext cx="762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D4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</a:t>
            </a:r>
            <a:endParaRPr lang="en-US" sz="950" dirty="0"/>
          </a:p>
        </p:txBody>
      </p:sp>
      <p:sp>
        <p:nvSpPr>
          <p:cNvPr id="80" name="Text 78"/>
          <p:cNvSpPr/>
          <p:nvPr/>
        </p:nvSpPr>
        <p:spPr>
          <a:xfrm>
            <a:off x="6297168" y="4626864"/>
            <a:ext cx="1036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100" kern="0" dirty="0">
                <a:solidFill>
                  <a:srgbClr val="8B9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TRIGGERING</a:t>
            </a:r>
            <a:endParaRPr lang="en-US" sz="750" dirty="0"/>
          </a:p>
        </p:txBody>
      </p:sp>
      <p:sp>
        <p:nvSpPr>
          <p:cNvPr id="81" name="Shape 79"/>
          <p:cNvSpPr/>
          <p:nvPr/>
        </p:nvSpPr>
        <p:spPr>
          <a:xfrm>
            <a:off x="6297168" y="4828032"/>
            <a:ext cx="1036320" cy="420624"/>
          </a:xfrm>
          <a:prstGeom prst="roundRect">
            <a:avLst>
              <a:gd name="adj" fmla="val 21739"/>
            </a:avLst>
          </a:prstGeom>
          <a:solidFill>
            <a:srgbClr val="EEF2F7"/>
          </a:solidFill>
          <a:ln w="15875">
            <a:solidFill>
              <a:srgbClr val="C3CFDE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6406896" y="4997196"/>
            <a:ext cx="82296" cy="82296"/>
          </a:xfrm>
          <a:prstGeom prst="ellipse">
            <a:avLst/>
          </a:prstGeom>
          <a:solidFill>
            <a:srgbClr val="64748B"/>
          </a:solidFill>
          <a:ln/>
        </p:spPr>
      </p:sp>
      <p:sp>
        <p:nvSpPr>
          <p:cNvPr id="83" name="Text 81"/>
          <p:cNvSpPr/>
          <p:nvPr/>
        </p:nvSpPr>
        <p:spPr>
          <a:xfrm>
            <a:off x="6516624" y="4828032"/>
            <a:ext cx="762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D4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trigger_083</a:t>
            </a:r>
            <a:endParaRPr lang="en-US" sz="950" dirty="0"/>
          </a:p>
        </p:txBody>
      </p:sp>
      <p:sp>
        <p:nvSpPr>
          <p:cNvPr id="84" name="Text 82"/>
          <p:cNvSpPr/>
          <p:nvPr/>
        </p:nvSpPr>
        <p:spPr>
          <a:xfrm>
            <a:off x="7635240" y="4663440"/>
            <a:ext cx="3989527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5D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trigger_014 expires and a common trigger replaces it → rare set no longer equals the rule → episode closes; start, end, duration written to episodes.csv.</a:t>
            </a:r>
            <a:endParaRPr lang="en-US" sz="1050" dirty="0"/>
          </a:p>
        </p:txBody>
      </p:sp>
      <p:sp>
        <p:nvSpPr>
          <p:cNvPr id="85" name="Shape 83"/>
          <p:cNvSpPr/>
          <p:nvPr/>
        </p:nvSpPr>
        <p:spPr>
          <a:xfrm>
            <a:off x="566928" y="5797296"/>
            <a:ext cx="11057839" cy="566928"/>
          </a:xfrm>
          <a:prstGeom prst="roundRect">
            <a:avLst>
              <a:gd name="adj" fmla="val 9677"/>
            </a:avLst>
          </a:prstGeom>
          <a:solidFill>
            <a:srgbClr val="FDEFEC"/>
          </a:solidFill>
          <a:ln w="12700">
            <a:solidFill>
              <a:srgbClr val="E8A093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786384" y="5797296"/>
            <a:ext cx="1061892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C2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match if:  </a:t>
            </a:r>
            <a:pPr indent="0" marL="0">
              <a:buNone/>
            </a:pPr>
            <a:r>
              <a:rPr lang="en-US" sz="1150" dirty="0">
                <a:solidFill>
                  <a:srgbClr val="22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extra rare element is active (rare set ≠ rule)  ·  any unknown-class element is active  ·  only a subset of the rule is present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200" kern="0" dirty="0">
                <a:solidFill>
                  <a:srgbClr val="2E5E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RUN WORKS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530352"/>
            <a:ext cx="1105783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Count episodes, not encounters — the change that made counts testable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1505895" y="6510528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8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6928" y="6510528"/>
            <a:ext cx="594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A6B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Unknown-Scenario Poisson Verification · Layered Scenario Simulator v6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66928" y="1463040"/>
            <a:ext cx="5346040" cy="2697480"/>
          </a:xfrm>
          <a:prstGeom prst="roundRect">
            <a:avLst>
              <a:gd name="adj" fmla="val 2373"/>
            </a:avLst>
          </a:prstGeom>
          <a:solidFill>
            <a:srgbClr val="FDEFEC"/>
          </a:solidFill>
          <a:ln w="12700">
            <a:solidFill>
              <a:srgbClr val="E8A0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682496"/>
            <a:ext cx="4833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9C2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(v1): per-tuple encounters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22960" y="2103120"/>
            <a:ext cx="483397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lnSpc>
                <a:spcPct val="104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2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new element tuple seen during one unknown period was counted as a fresh “encounter”.</a:t>
            </a:r>
            <a:endParaRPr lang="en-US" sz="1200" dirty="0"/>
          </a:p>
          <a:p>
            <a:pPr algn="l" marL="152400" indent="-152400">
              <a:lnSpc>
                <a:spcPct val="104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2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layers churn while a slow unknown persists → bursts of counts from a single real condition.</a:t>
            </a:r>
            <a:endParaRPr lang="en-US" sz="1200" dirty="0"/>
          </a:p>
          <a:p>
            <a:pPr algn="l" marL="152400" indent="-152400">
              <a:lnSpc>
                <a:spcPct val="104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2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shared bursts → heavily clustered counts, nothing like Poisson.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78728" y="1463040"/>
            <a:ext cx="5346040" cy="2697480"/>
          </a:xfrm>
          <a:prstGeom prst="roundRect">
            <a:avLst>
              <a:gd name="adj" fmla="val 2373"/>
            </a:avLst>
          </a:prstGeom>
          <a:solidFill>
            <a:srgbClr val="E8F3EE"/>
          </a:solidFill>
          <a:ln w="12700">
            <a:solidFill>
              <a:srgbClr val="9CC6B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34760" y="1682496"/>
            <a:ext cx="4833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5C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Since v2 (kept in v6): episodes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534760" y="2103120"/>
            <a:ext cx="483397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lnSpc>
                <a:spcPct val="104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2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episode = one maximal continuous period during which the unknown condition persists.</a:t>
            </a:r>
            <a:endParaRPr lang="en-US" sz="1200" dirty="0"/>
          </a:p>
          <a:p>
            <a:pPr algn="l" marL="152400" indent="-152400">
              <a:lnSpc>
                <a:spcPct val="104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2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 are rare, short, well-separated events — the natural analogue of “one FI manifestation.”</a:t>
            </a:r>
            <a:endParaRPr lang="en-US" sz="1200" dirty="0"/>
          </a:p>
          <a:p>
            <a:pPr algn="l" marL="152400" indent="-152400">
              <a:lnSpc>
                <a:spcPct val="104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2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v6: the period during which the active rare set stays equal to one rule.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572768" y="4572000"/>
            <a:ext cx="310896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2700">
            <a:solidFill>
              <a:srgbClr val="D9E3E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700784" y="4663440"/>
            <a:ext cx="2852928" cy="6419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9C2E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 ≈ 12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1700784" y="5263286"/>
            <a:ext cx="285292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D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encounter counts — strongly clustered (early runs)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910328" y="489204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AA8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16" name="Shape 14"/>
          <p:cNvSpPr/>
          <p:nvPr/>
        </p:nvSpPr>
        <p:spPr>
          <a:xfrm>
            <a:off x="5779008" y="4572000"/>
            <a:ext cx="310896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2700">
            <a:solidFill>
              <a:srgbClr val="D9E3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07024" y="4663440"/>
            <a:ext cx="2852928" cy="6419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5C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 ≈ 1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5907024" y="5263286"/>
            <a:ext cx="285292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D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episode starts — near-Poisson dispersion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9162288" y="493776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D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= Var / Mean of counts per 10,000-mile window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200" kern="0" dirty="0">
                <a:solidFill>
                  <a:srgbClr val="2E5E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SIMULATOR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530352"/>
            <a:ext cx="1105783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simulator does exactly what the configuration says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1505895" y="6510528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8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6928" y="6510528"/>
            <a:ext cx="594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A6B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Unknown-Scenario Poisson Verification · Layered Scenario Simulator v6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66928" y="1920240"/>
            <a:ext cx="52120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22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independent seed streams </a:t>
            </a:r>
            <a:pPr algn="l" marL="152400" indent="-152400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2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(element counts, rarity placement, Dirichlet, durations, initial state, transition sampling, rule selection) — the same config always reproduces the identical run.</a:t>
            </a:r>
            <a:endParaRPr lang="en-US" sz="1250" dirty="0"/>
          </a:p>
          <a:p>
            <a:pPr algn="l" marL="152400" indent="-152400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22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 / resume is bit-identical </a:t>
            </a:r>
            <a:pPr algn="l" marL="152400" indent="-152400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2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an uninterrupted run — long horizons can be chunked safely.</a:t>
            </a:r>
            <a:endParaRPr lang="en-US" sz="1250" dirty="0"/>
          </a:p>
          <a:p>
            <a:pPr algn="l" marL="152400" indent="-152400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22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 automated tests pass, </a:t>
            </a:r>
            <a:pPr algn="l" marL="152400" indent="-152400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2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covering validation, exact-set matching, triggering-condition inclusion, unknown disqualification, exact time stop, and resume.</a:t>
            </a:r>
            <a:endParaRPr lang="en-US" sz="1250" dirty="0"/>
          </a:p>
          <a:p>
            <a:pPr algn="l" marL="152400" indent="-152400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22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Realized behavior matches configured targets: </a:t>
            </a:r>
            <a:pPr algn="l" marL="152400" indent="-152400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2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masses exact by construction; empirical unknown selection 10.02% vs 10%; per-layer realized mean sojourns within ≈4% of configured (e.g. street 381 s cfg → 366 s emp).</a:t>
            </a:r>
            <a:endParaRPr lang="en-US" sz="1250" dirty="0"/>
          </a:p>
        </p:txBody>
      </p:sp>
      <p:pic>
        <p:nvPicPr>
          <p:cNvPr id="7" name="Image 0" descr="assets/class_mass_verific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61304" y="2103120"/>
            <a:ext cx="5760720" cy="265838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861304" y="4871233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00" i="1" dirty="0">
                <a:solidFill>
                  <a:srgbClr val="5D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Simulator output — configured vs realized vs empirical class shares, per layer (plots/class_mass_verification.png)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200" kern="0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530352"/>
            <a:ext cx="1105783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Poisson is the expected answer — conditional on a built world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1505895" y="6510528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8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6928" y="6510528"/>
            <a:ext cx="594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A6B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Unknown-Scenario Poisson Verification · Layered Scenario Simulator v6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66928" y="1463040"/>
            <a:ext cx="3503066" cy="3246120"/>
          </a:xfrm>
          <a:prstGeom prst="roundRect">
            <a:avLst>
              <a:gd name="adj" fmla="val 1972"/>
            </a:avLst>
          </a:prstGeom>
          <a:solidFill>
            <a:srgbClr val="F7FAFD"/>
          </a:solidFill>
          <a:ln w="12700">
            <a:solidFill>
              <a:srgbClr val="D9E3EF"/>
            </a:solidFill>
            <a:prstDash val="solid"/>
          </a:ln>
          <a:effectLst>
            <a:outerShdw sx="100000" sy="100000" kx="0" ky="0" algn="bl" rotWithShape="0" blurRad="88900" dist="25400" dir="5400000">
              <a:srgbClr val="1A2C4E">
                <a:alpha val="1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04672" y="1682496"/>
            <a:ext cx="302757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ONE LAYER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04672" y="1938528"/>
            <a:ext cx="302757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55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Thinned renewal → exponential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804672" y="2377440"/>
            <a:ext cx="302757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22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transition opens an episode with small probability p; the wait between opens is a geometric sum of Gamma sojourns. Rényi (1956): as p → 0 the normalized gaps converge to Exp(1) — the opens form a Poisson process of rate p/μ.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44314" y="1463040"/>
            <a:ext cx="3503066" cy="3246120"/>
          </a:xfrm>
          <a:prstGeom prst="roundRect">
            <a:avLst>
              <a:gd name="adj" fmla="val 1972"/>
            </a:avLst>
          </a:prstGeom>
          <a:solidFill>
            <a:srgbClr val="F7FAFD"/>
          </a:solidFill>
          <a:ln w="12700">
            <a:solidFill>
              <a:srgbClr val="D9E3EF"/>
            </a:solidFill>
            <a:prstDash val="solid"/>
          </a:ln>
          <a:effectLst>
            <a:outerShdw sx="100000" sy="100000" kx="0" ky="0" algn="bl" rotWithShape="0" blurRad="88900" dist="25400" dir="5400000">
              <a:srgbClr val="1A2C4E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82058" y="1682496"/>
            <a:ext cx="302757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SIX LAYERS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82058" y="1938528"/>
            <a:ext cx="302757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55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Superposition stays Poisson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4582058" y="2377440"/>
            <a:ext cx="302757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22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Layers are independent by construction. Grigelionis: the union of independent near-Poisson streams converges to a Poisson process with the summed rate Λ = Σ (mₖ − sₖ)/μₖ. Disjoint windows become independent.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121701" y="1463040"/>
            <a:ext cx="3503066" cy="3246120"/>
          </a:xfrm>
          <a:prstGeom prst="roundRect">
            <a:avLst>
              <a:gd name="adj" fmla="val 1972"/>
            </a:avLst>
          </a:prstGeom>
          <a:solidFill>
            <a:srgbClr val="F7FAFD"/>
          </a:solidFill>
          <a:ln w="12700">
            <a:solidFill>
              <a:srgbClr val="D9E3EF"/>
            </a:solidFill>
            <a:prstDash val="solid"/>
          </a:ln>
          <a:effectLst>
            <a:outerShdw sx="100000" sy="100000" kx="0" ky="0" algn="bl" rotWithShape="0" blurRad="88900" dist="25400" dir="5400000">
              <a:srgbClr val="1A2C4E">
                <a:alpha val="1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359445" y="1682496"/>
            <a:ext cx="302757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FINITE P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359445" y="1938528"/>
            <a:ext cx="302757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55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correction is invisible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8359445" y="2377440"/>
            <a:ext cx="302757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22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 thinned renewal stream, dispersion → 1 − p(1 − 1/κ). At p ≈ 0.004 and Gamma κ ∈ [1.8, 4]: a 0.18–0.30% deviation — an order of magnitude below the sampling noise of any realistic window count.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66928" y="4983480"/>
            <a:ext cx="11057839" cy="1051560"/>
          </a:xfrm>
          <a:prstGeom prst="roundRect">
            <a:avLst>
              <a:gd name="adj" fmla="val 6087"/>
            </a:avLst>
          </a:prstGeom>
          <a:solidFill>
            <a:srgbClr val="EEF3FA"/>
          </a:solidFill>
          <a:ln w="12700">
            <a:solidFill>
              <a:srgbClr val="D9E3E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4672" y="5102352"/>
            <a:ext cx="10582351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boundaries of the claim.  </a:t>
            </a:r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22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(1) It is conditional on one built world — across construction seeds, counts are mixed Poisson and genuinely overdispersed.  (2) The proof thins transitions i.i.d.; v6's exact-combination matching depends on the joint cross-layer state — the results section measures what that does.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66928" y="614476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D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derivation: poisson_proof.md (renewal theory + Chen–Stein bound for the 1-dependent indicators).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200" kern="0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530352"/>
            <a:ext cx="1105783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v6 reference run: 20,000 hours, one million miles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1505895" y="6510528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8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6928" y="6510528"/>
            <a:ext cx="594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A6B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Unknown-Scenario Poisson Verification · Layered Scenario Simulator v6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2599868" cy="1298448"/>
          </a:xfrm>
          <a:prstGeom prst="roundRect">
            <a:avLst>
              <a:gd name="adj" fmla="val 4930"/>
            </a:avLst>
          </a:prstGeom>
          <a:solidFill>
            <a:srgbClr val="FFFFFF"/>
          </a:solidFill>
          <a:ln w="12700">
            <a:solidFill>
              <a:srgbClr val="D9E3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94944" y="1572768"/>
            <a:ext cx="2343836" cy="675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495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694944" y="2208459"/>
            <a:ext cx="2343836" cy="5193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D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 episodes in 1M miles — one every ≈2,020 mi (≈40 h)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386252" y="1481328"/>
            <a:ext cx="2599868" cy="1298448"/>
          </a:xfrm>
          <a:prstGeom prst="roundRect">
            <a:avLst>
              <a:gd name="adj" fmla="val 4930"/>
            </a:avLst>
          </a:prstGeom>
          <a:solidFill>
            <a:srgbClr val="FFFFFF"/>
          </a:solidFill>
          <a:ln w="12700">
            <a:solidFill>
              <a:srgbClr val="D9E3E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14268" y="1572768"/>
            <a:ext cx="2343836" cy="675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0.0144%</a:t>
            </a:r>
            <a:endParaRPr lang="en-US" sz="2500" dirty="0"/>
          </a:p>
        </p:txBody>
      </p:sp>
      <p:sp>
        <p:nvSpPr>
          <p:cNvPr id="11" name="Text 9"/>
          <p:cNvSpPr/>
          <p:nvPr/>
        </p:nvSpPr>
        <p:spPr>
          <a:xfrm>
            <a:off x="3514268" y="2208459"/>
            <a:ext cx="2343836" cy="5193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D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driving time inside an unknown scenario (10,362 s total)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205576" y="1481328"/>
            <a:ext cx="2599868" cy="1298448"/>
          </a:xfrm>
          <a:prstGeom prst="roundRect">
            <a:avLst>
              <a:gd name="adj" fmla="val 4930"/>
            </a:avLst>
          </a:prstGeom>
          <a:solidFill>
            <a:srgbClr val="FFFFFF"/>
          </a:solidFill>
          <a:ln w="12700">
            <a:solidFill>
              <a:srgbClr val="D9E3E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3592" y="1572768"/>
            <a:ext cx="2343836" cy="675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20.9 s</a:t>
            </a:r>
            <a:endParaRPr lang="en-US" sz="2500" dirty="0"/>
          </a:p>
        </p:txBody>
      </p:sp>
      <p:sp>
        <p:nvSpPr>
          <p:cNvPr id="14" name="Text 12"/>
          <p:cNvSpPr/>
          <p:nvPr/>
        </p:nvSpPr>
        <p:spPr>
          <a:xfrm>
            <a:off x="6333592" y="2208459"/>
            <a:ext cx="2343836" cy="5193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D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episode duration · median 16.4 s · p90 42.6 s (≈0.29 mi)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9024899" y="1481328"/>
            <a:ext cx="2599868" cy="1298448"/>
          </a:xfrm>
          <a:prstGeom prst="roundRect">
            <a:avLst>
              <a:gd name="adj" fmla="val 4930"/>
            </a:avLst>
          </a:prstGeom>
          <a:solidFill>
            <a:srgbClr val="FFFFFF"/>
          </a:solidFill>
          <a:ln w="12700">
            <a:solidFill>
              <a:srgbClr val="D9E3E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52915" y="1572768"/>
            <a:ext cx="2343836" cy="675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D94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C3: 481</a:t>
            </a:r>
            <a:endParaRPr lang="en-US" sz="2500" dirty="0"/>
          </a:p>
        </p:txBody>
      </p:sp>
      <p:sp>
        <p:nvSpPr>
          <p:cNvPr id="17" name="Text 15"/>
          <p:cNvSpPr/>
          <p:nvPr/>
        </p:nvSpPr>
        <p:spPr>
          <a:xfrm>
            <a:off x="9152915" y="2208459"/>
            <a:ext cx="2343836" cy="5193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D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episodes from C3 rules · C4: 14 · C5/C6: 0 (too rare to observe)</a:t>
            </a:r>
            <a:endParaRPr lang="en-US" sz="1000" dirty="0"/>
          </a:p>
        </p:txBody>
      </p:sp>
      <p:pic>
        <p:nvPicPr>
          <p:cNvPr id="18" name="Image 0" descr="assets/cumulative_episod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3127248"/>
            <a:ext cx="5486400" cy="304800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566928" y="621182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D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Simulator output — cumulative episodes: steady, linear accumulation with no drift.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6446520" y="3291840"/>
            <a:ext cx="5178247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lnSpc>
                <a:spcPct val="104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b="1" dirty="0">
                <a:solidFill>
                  <a:srgbClr val="22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 of the 100 planted rules fired </a:t>
            </a:r>
            <a:pPr algn="l" marL="152400" indent="-152400">
              <a:lnSpc>
                <a:spcPct val="104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2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least once; the top rule produced 38 episodes (it contains slow street-layer elements).</a:t>
            </a:r>
            <a:endParaRPr lang="en-US" sz="1250" dirty="0"/>
          </a:p>
          <a:p>
            <a:pPr algn="l" marL="152400" indent="-152400">
              <a:lnSpc>
                <a:spcPct val="104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b="1" dirty="0">
                <a:solidFill>
                  <a:srgbClr val="22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495 episodes are rare-combination episodes </a:t>
            </a:r>
            <a:pPr algn="l" marL="152400" indent="-152400">
              <a:lnSpc>
                <a:spcPct val="104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2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the only unknown mechanism in v6; none were truncated at the horizon.</a:t>
            </a:r>
            <a:endParaRPr lang="en-US" sz="1250" dirty="0"/>
          </a:p>
          <a:p>
            <a:pPr algn="l" marL="152400" indent="-152400">
              <a:lnSpc>
                <a:spcPct val="104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b="1" dirty="0">
                <a:solidFill>
                  <a:srgbClr val="22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Rates are properties of the configured world </a:t>
            </a:r>
            <a:pPr algn="l" marL="152400" indent="-152400">
              <a:lnSpc>
                <a:spcPct val="104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2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(design defaults, not field calibration). The object under test is the distributional shape of the counts, not the absolute rate.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200" kern="0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530352"/>
            <a:ext cx="1105783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Window counts: the shape fits Poisson, the variance runs high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1505895" y="6510528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8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6928" y="6510528"/>
            <a:ext cx="594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A6B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Unknown-Scenario Poisson Verification · Layered Scenario Simulator v6</a:t>
            </a:r>
            <a:endParaRPr lang="en-US" sz="850" dirty="0"/>
          </a:p>
        </p:txBody>
      </p:sp>
      <p:pic>
        <p:nvPicPr>
          <p:cNvPr id="6" name="Image 0" descr="assets/window_coun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63040"/>
            <a:ext cx="6492240" cy="32461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66928" y="4782312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D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Simulator output — episode starts per 10,000-mile window across the run (99 complete windows).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7360920" y="1463040"/>
            <a:ext cx="4263847" cy="1024128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9E3E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562088" y="1554480"/>
            <a:ext cx="386151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mean 4.93  ·  var 6.68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7562088" y="1938528"/>
            <a:ext cx="3861511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5D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counts per 10,000-mile window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7360920" y="2633472"/>
            <a:ext cx="4263847" cy="1024128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9E3E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562088" y="2724912"/>
            <a:ext cx="386151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9C2E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 = 1.355</a:t>
            </a:r>
            <a:endParaRPr lang="en-US" sz="1900" dirty="0"/>
          </a:p>
        </p:txBody>
      </p:sp>
      <p:sp>
        <p:nvSpPr>
          <p:cNvPr id="13" name="Text 10"/>
          <p:cNvSpPr/>
          <p:nvPr/>
        </p:nvSpPr>
        <p:spPr>
          <a:xfrm>
            <a:off x="7562088" y="3108960"/>
            <a:ext cx="3861511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5D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dispersion index — ≈35% above the Poisson value of 1 (two-sided p ≈ 0.02: borderline)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7360920" y="3803904"/>
            <a:ext cx="4263847" cy="1024128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9E3E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562088" y="3895344"/>
            <a:ext cx="386151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5C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GOF p = 0.82</a:t>
            </a:r>
            <a:endParaRPr lang="en-US" sz="1900" dirty="0"/>
          </a:p>
        </p:txBody>
      </p:sp>
      <p:sp>
        <p:nvSpPr>
          <p:cNvPr id="16" name="Text 13"/>
          <p:cNvSpPr/>
          <p:nvPr/>
        </p:nvSpPr>
        <p:spPr>
          <a:xfrm>
            <a:off x="7562088" y="4279392"/>
            <a:ext cx="3861511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5D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χ² goodness of fit vs Poisson(4.93): the marginal shape is fully compatible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7360920" y="5029200"/>
            <a:ext cx="4263847" cy="1051560"/>
          </a:xfrm>
          <a:prstGeom prst="roundRect">
            <a:avLst>
              <a:gd name="adj" fmla="val 6087"/>
            </a:avLst>
          </a:prstGeom>
          <a:solidFill>
            <a:srgbClr val="EEF3FA"/>
          </a:solidFill>
          <a:ln w="12700">
            <a:solidFill>
              <a:srgbClr val="D9E3E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562088" y="5138928"/>
            <a:ext cx="3861511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22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run gives only 99 windows — under Poisson the dispersion estimate itself has sd ≈ 0.14, so 1.355 is a signal worth explaining, not yet a verdict.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200" kern="0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530352"/>
            <a:ext cx="1105783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Inter-arrival gaps expose fine-scale clustering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1505895" y="6510528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8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6928" y="6510528"/>
            <a:ext cx="594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A6B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Unknown-Scenario Poisson Verification · Layered Scenario Simulator v6</a:t>
            </a:r>
            <a:endParaRPr lang="en-US" sz="850" dirty="0"/>
          </a:p>
        </p:txBody>
      </p:sp>
      <p:pic>
        <p:nvPicPr>
          <p:cNvPr id="6" name="Image 0" descr="assets/inter_arrival_diagnostic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44752"/>
            <a:ext cx="6766560" cy="28194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66928" y="4319016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D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Simulator output — survival curve and Q–Q of the 495 inter-arrival times vs the fitted exponential.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66928" y="4666488"/>
            <a:ext cx="6766560" cy="1554480"/>
          </a:xfrm>
          <a:prstGeom prst="roundRect">
            <a:avLst>
              <a:gd name="adj" fmla="val 4118"/>
            </a:avLst>
          </a:prstGeom>
          <a:solidFill>
            <a:srgbClr val="FDEFEC"/>
          </a:solidFill>
          <a:ln w="12700">
            <a:solidFill>
              <a:srgbClr val="E8A09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86384" y="4776216"/>
            <a:ext cx="632764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9C2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mechanism.  </a:t>
            </a:r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22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layers hold rare elements in place for minutes (street ≈ 6 min, temporal ≈ 12 min, environment ≈ 37 min mean sojourns). A fast layer briefly breaks the match, then re-completes it — one persistent real-world condition is logged as several episodes in quick succession.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7635240" y="1444752"/>
            <a:ext cx="3989527" cy="1024128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9E3E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836408" y="1536192"/>
            <a:ext cx="358719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C2E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KS p &lt; 0.001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7836408" y="1920240"/>
            <a:ext cx="3587191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5D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exponential fit rejected (KS = 0.112, n = 495); CV² of gaps = 1.20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7635240" y="2615184"/>
            <a:ext cx="3989527" cy="1024128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9E3E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836408" y="2706624"/>
            <a:ext cx="358719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C2E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37 gaps &lt; 1 mile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7836408" y="3090672"/>
            <a:ext cx="3587191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5D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≈0.3 expected under exponential — a large excess of near-immediate re-arrivals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7635240" y="3785616"/>
            <a:ext cx="3989527" cy="1024128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9E3E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836408" y="3877056"/>
            <a:ext cx="358719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46 of 73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7836408" y="4261104"/>
            <a:ext cx="3587191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5D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gaps under 100 mi are the same rule re-opening moments after it closed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7635240" y="5029200"/>
            <a:ext cx="398952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D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analysis computed from the run's episodes.csv.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200" kern="0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530352"/>
            <a:ext cx="1105783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Count distinct manifestations — and Poisson is restored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1505895" y="6510528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8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6928" y="6510528"/>
            <a:ext cx="594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A6B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Unknown-Scenario Poisson Verification · Layered Scenario Simulator v6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66928" y="1371600"/>
            <a:ext cx="1105783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re-opens of the same rule within 10 miles as one manifestation </a:t>
            </a:r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5D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the episode-level analogue of “the same FI condition, briefly interrupted.” This merges 45 of 495 starts (9%).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566928" y="2039112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5D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EPISODE STARTS (495)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66928" y="2331720"/>
            <a:ext cx="2468880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2700">
            <a:solidFill>
              <a:srgbClr val="D9E3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94944" y="2423160"/>
            <a:ext cx="221284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9C2E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 = 1.355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694944" y="3099816"/>
            <a:ext cx="2212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D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dispersion, p ≈ 0.02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18688" y="2331720"/>
            <a:ext cx="2468880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2700">
            <a:solidFill>
              <a:srgbClr val="D9E3E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46704" y="2423160"/>
            <a:ext cx="221284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9C2E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KS p &lt; 0.001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3346704" y="3099816"/>
            <a:ext cx="2212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D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exponential rejected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742432" y="269748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AA8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6409944" y="2039112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5D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MERGED MANIFESTATIONS (450)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409944" y="2331720"/>
            <a:ext cx="2468880" cy="1371600"/>
          </a:xfrm>
          <a:prstGeom prst="roundRect">
            <a:avLst>
              <a:gd name="adj" fmla="val 4667"/>
            </a:avLst>
          </a:prstGeom>
          <a:solidFill>
            <a:srgbClr val="E8F3EE"/>
          </a:solidFill>
          <a:ln w="12700">
            <a:solidFill>
              <a:srgbClr val="9CC6B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37960" y="2423160"/>
            <a:ext cx="221284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F5C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 = 1.084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6537960" y="3099816"/>
            <a:ext cx="2212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D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dispersion, p = 0.53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9061704" y="2331720"/>
            <a:ext cx="2468880" cy="1371600"/>
          </a:xfrm>
          <a:prstGeom prst="roundRect">
            <a:avLst>
              <a:gd name="adj" fmla="val 4667"/>
            </a:avLst>
          </a:prstGeom>
          <a:solidFill>
            <a:srgbClr val="E8F3EE"/>
          </a:solidFill>
          <a:ln w="12700">
            <a:solidFill>
              <a:srgbClr val="9CC6B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89720" y="2423160"/>
            <a:ext cx="221284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F5C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KS p = 0.84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9189720" y="3099816"/>
            <a:ext cx="2212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D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exponential fits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66928" y="4160520"/>
            <a:ext cx="11057839" cy="1600200"/>
          </a:xfrm>
          <a:prstGeom prst="roundRect">
            <a:avLst>
              <a:gd name="adj" fmla="val 4000"/>
            </a:avLst>
          </a:prstGeom>
          <a:solidFill>
            <a:srgbClr val="F7FAFD"/>
          </a:solidFill>
          <a:ln w="12700">
            <a:solidFill>
              <a:srgbClr val="D9E3EF"/>
            </a:solidFill>
            <a:prstDash val="solid"/>
          </a:ln>
          <a:effectLst>
            <a:outerShdw sx="100000" sy="100000" kx="0" ky="0" algn="bl" rotWithShape="0" blurRad="88900" dist="25400" dir="5400000">
              <a:srgbClr val="1A2C4E">
                <a:alpha val="1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41248" y="4434840"/>
            <a:ext cx="566928" cy="566928"/>
          </a:xfrm>
          <a:prstGeom prst="ellipse">
            <a:avLst/>
          </a:prstGeom>
          <a:solidFill>
            <a:srgbClr val="2E7D5B"/>
          </a:solidFill>
          <a:ln/>
        </p:spPr>
      </p:sp>
      <p:pic>
        <p:nvPicPr>
          <p:cNvPr id="24" name="Image 0" descr="icons/merg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641" y="4565233"/>
            <a:ext cx="306141" cy="306141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1618488" y="4297680"/>
            <a:ext cx="9686239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Reading:  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22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entire measured deviation is re-opening bookkeeping, not genuine clustering of distinct unknown conditions. At the level that matters for the safety case — distinct manifestations — the v6 run is statistically indistinguishable from a Poisson process (dispersion p = 0.53, exponential-gap p = 0.84). The result is robust to the merge window: 10–100 mi all give the same answer.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566928" y="5897880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D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Recomputed from episodes.csv / windows.csv of the v6 reference run (same tests as poisson_tests.py).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200" kern="0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530352"/>
            <a:ext cx="1105783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formal verification battery: all tests pass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1505895" y="6510528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8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6928" y="6510528"/>
            <a:ext cx="594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A6B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Unknown-Scenario Poisson Verification · Layered Scenario Simulator v6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66928" y="1298448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poisson_tests.py </a:t>
            </a:r>
            <a:pPr indent="0" marL="0">
              <a:buNone/>
            </a:pPr>
            <a:r>
              <a:rPr lang="en-US" sz="1250" dirty="0">
                <a:solidFill>
                  <a:srgbClr val="5D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 the decisive experiments on the element-route configuration (the mechanism the proof covers, ≈20× higher episode rate — much more statistical power):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66928" y="1755648"/>
            <a:ext cx="3503066" cy="1481328"/>
          </a:xfrm>
          <a:prstGeom prst="roundRect">
            <a:avLst>
              <a:gd name="adj" fmla="val 4321"/>
            </a:avLst>
          </a:prstGeom>
          <a:solidFill>
            <a:srgbClr val="E8F3EE"/>
          </a:solidFill>
          <a:ln w="12700">
            <a:solidFill>
              <a:srgbClr val="9CC6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6384" y="1865376"/>
            <a:ext cx="306415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5C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· Replication   </a:t>
            </a:r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highlight>
                  <a:srgbClr val="2E7D5B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86384" y="2176272"/>
            <a:ext cx="306415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030" dirty="0">
                <a:solidFill>
                  <a:srgbClr val="22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 independent runs × 3,000 mi over the same built world (only run-time seeds vary): mean 58.6, dispersion 1.078 (p = 0.34); χ² GOF vs Poisson: p = 0.14.</a:t>
            </a:r>
            <a:endParaRPr lang="en-US" sz="1030" dirty="0"/>
          </a:p>
        </p:txBody>
      </p:sp>
      <p:sp>
        <p:nvSpPr>
          <p:cNvPr id="10" name="Shape 8"/>
          <p:cNvSpPr/>
          <p:nvPr/>
        </p:nvSpPr>
        <p:spPr>
          <a:xfrm>
            <a:off x="4344314" y="1755648"/>
            <a:ext cx="3503066" cy="1481328"/>
          </a:xfrm>
          <a:prstGeom prst="roundRect">
            <a:avLst>
              <a:gd name="adj" fmla="val 4321"/>
            </a:avLst>
          </a:prstGeom>
          <a:solidFill>
            <a:srgbClr val="E8F3EE"/>
          </a:solidFill>
          <a:ln w="12700">
            <a:solidFill>
              <a:srgbClr val="9CC6B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63770" y="1865376"/>
            <a:ext cx="306415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5C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· Windows   </a:t>
            </a:r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highlight>
                  <a:srgbClr val="2E7D5B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563770" y="2176272"/>
            <a:ext cx="306415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030" dirty="0">
                <a:solidFill>
                  <a:srgbClr val="22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disjoint 10,000-mi windows of a 2M-mile run: dispersion 0.956 (p = 0.68) — no over- or under-dispersion.</a:t>
            </a:r>
            <a:endParaRPr lang="en-US" sz="1030" dirty="0"/>
          </a:p>
        </p:txBody>
      </p:sp>
      <p:sp>
        <p:nvSpPr>
          <p:cNvPr id="13" name="Shape 11"/>
          <p:cNvSpPr/>
          <p:nvPr/>
        </p:nvSpPr>
        <p:spPr>
          <a:xfrm>
            <a:off x="8121701" y="1755648"/>
            <a:ext cx="3503066" cy="1481328"/>
          </a:xfrm>
          <a:prstGeom prst="roundRect">
            <a:avLst>
              <a:gd name="adj" fmla="val 4321"/>
            </a:avLst>
          </a:prstGeom>
          <a:solidFill>
            <a:srgbClr val="E8F3EE"/>
          </a:solidFill>
          <a:ln w="12700">
            <a:solidFill>
              <a:srgbClr val="9CC6B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41157" y="1865376"/>
            <a:ext cx="306415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5C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· Gaps   </a:t>
            </a:r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highlight>
                  <a:srgbClr val="2E7D5B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341157" y="2176272"/>
            <a:ext cx="306415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030" dirty="0">
                <a:solidFill>
                  <a:srgbClr val="22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39,227 inter-arrival distances vs exponential: KS = 0.0055, p = 0.18 — memoryless gaps ⇔ Poisson process.</a:t>
            </a:r>
            <a:endParaRPr lang="en-US" sz="1030" dirty="0"/>
          </a:p>
        </p:txBody>
      </p:sp>
      <p:pic>
        <p:nvPicPr>
          <p:cNvPr id="16" name="Image 0" descr="assets/poisson_proo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29588" y="3419856"/>
            <a:ext cx="8732520" cy="2677866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729588" y="6143442"/>
            <a:ext cx="8732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D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poisson_proof.png — replication counts vs Poisson PMF · window counts vs Poisson PMF · Q–Q of gaps vs exponential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200" kern="0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530352"/>
            <a:ext cx="1105783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 parameter studies: what actually moves the episode rate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1505895" y="6510528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8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6928" y="6510528"/>
            <a:ext cx="594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A6B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Unknown-Scenario Poisson Verification · Layered Scenario Simulator v6</a:t>
            </a:r>
            <a:endParaRPr lang="en-US" sz="850" dirty="0"/>
          </a:p>
        </p:txBody>
      </p:sp>
      <p:pic>
        <p:nvPicPr>
          <p:cNvPr id="6" name="Image 0" descr="assets/sensitivity_tornad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44752"/>
            <a:ext cx="5623560" cy="393531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66928" y="5453215"/>
            <a:ext cx="5623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D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output — one-factor sensitivity: effect range ÷ seed-only standard deviation (SNR).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583680" y="1554480"/>
            <a:ext cx="5041087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b="1" dirty="0">
                <a:solidFill>
                  <a:srgbClr val="22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Scale: </a:t>
            </a:r>
            <a:pPr algn="l" marL="152400" indent="-152400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2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component studies · 1,160 simulations · ≥10 levels per numeric control · 3 replicates per level.</a:t>
            </a:r>
            <a:endParaRPr lang="en-US" sz="1200" dirty="0"/>
          </a:p>
          <a:p>
            <a:pPr algn="l" marL="152400" indent="-152400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b="1" dirty="0">
                <a:solidFill>
                  <a:srgbClr val="22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Dominant drivers of the unknown-episode rate: </a:t>
            </a:r>
            <a:pPr algn="l" marL="152400" indent="-152400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2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 class percentages (SNR 123), selection class percentages (46), combination counts (19), rarity duration multipliers (9).</a:t>
            </a:r>
            <a:endParaRPr lang="en-US" sz="1200" dirty="0"/>
          </a:p>
          <a:p>
            <a:pPr algn="l" marL="152400" indent="-152400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b="1" dirty="0">
                <a:solidFill>
                  <a:srgbClr val="22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checks behave: </a:t>
            </a:r>
            <a:pPr algn="l" marL="152400" indent="-152400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2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speed and mileage-window size have exactly zero effect — they only relabel the same time axis, as designed.</a:t>
            </a:r>
            <a:endParaRPr lang="en-US" sz="1200" dirty="0"/>
          </a:p>
          <a:p>
            <a:pPr algn="l" marL="152400" indent="-152400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b="1" dirty="0">
                <a:solidFill>
                  <a:srgbClr val="22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noise is large: </a:t>
            </a:r>
            <a:pPr algn="l" marL="152400" indent="-152400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2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seed-only sd of the rate is ≈28% of its mean — single-run rates carry real construction uncertainty (→ discussion).</a:t>
            </a:r>
            <a:endParaRPr lang="en-US" sz="1200" dirty="0"/>
          </a:p>
          <a:p>
            <a:pPr algn="l" marL="152400" indent="-152400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b="1" dirty="0">
                <a:solidFill>
                  <a:srgbClr val="22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Caveat: </a:t>
            </a:r>
            <a:pPr algn="l" marL="152400" indent="-152400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2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screening ranges are deliberately wide; the ranking describes tested ranges, not unit-free importance.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200" kern="0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530352"/>
            <a:ext cx="1105783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 — is the Poisson assumption safe?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1505895" y="6510528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8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6928" y="6510528"/>
            <a:ext cx="594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A6B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Unknown-Scenario Poisson Verification · Layered Scenario Simulator v6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66928" y="1463040"/>
            <a:ext cx="3503066" cy="3931920"/>
          </a:xfrm>
          <a:prstGeom prst="roundRect">
            <a:avLst>
              <a:gd name="adj" fmla="val 1827"/>
            </a:avLst>
          </a:prstGeom>
          <a:solidFill>
            <a:srgbClr val="E8F3EE"/>
          </a:solidFill>
          <a:ln w="12700">
            <a:solidFill>
              <a:srgbClr val="9CC6B2"/>
            </a:solidFill>
            <a:prstDash val="solid"/>
          </a:ln>
          <a:effectLst>
            <a:outerShdw sx="100000" sy="100000" kx="0" ky="0" algn="bl" rotWithShape="0" blurRad="88900" dist="25400" dir="5400000">
              <a:srgbClr val="1A2C4E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04672" y="1700784"/>
            <a:ext cx="512064" cy="512064"/>
          </a:xfrm>
          <a:prstGeom prst="ellipse">
            <a:avLst/>
          </a:prstGeom>
          <a:solidFill>
            <a:srgbClr val="2E7D5B"/>
          </a:solidFill>
          <a:ln/>
        </p:spPr>
      </p:sp>
      <p:pic>
        <p:nvPicPr>
          <p:cNvPr id="8" name="Image 0" descr="icons/chec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2447" y="1818559"/>
            <a:ext cx="276515" cy="27651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35608" y="1737360"/>
            <a:ext cx="240578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5C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Supported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804672" y="2395728"/>
            <a:ext cx="3027578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3000"/>
              </a:lnSpc>
              <a:buNone/>
            </a:pPr>
            <a:r>
              <a:rPr lang="en-US" sz="1130" dirty="0">
                <a:solidFill>
                  <a:srgbClr val="22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on a fixed world model, unknown-scenario manifestations are Poisson: proven in the rare-event limit, confirmed by the full test battery, and — after merging same-rule re-opens — by the v6 run itself (D = 1.08, KS p = 0.84). Miles between manifestations are exponential, exactly as the validation-mileage math assumes.</a:t>
            </a:r>
            <a:endParaRPr lang="en-US" sz="1130" dirty="0"/>
          </a:p>
        </p:txBody>
      </p:sp>
      <p:sp>
        <p:nvSpPr>
          <p:cNvPr id="11" name="Shape 8"/>
          <p:cNvSpPr/>
          <p:nvPr/>
        </p:nvSpPr>
        <p:spPr>
          <a:xfrm>
            <a:off x="4344314" y="1463040"/>
            <a:ext cx="3503066" cy="3931920"/>
          </a:xfrm>
          <a:prstGeom prst="roundRect">
            <a:avLst>
              <a:gd name="adj" fmla="val 1827"/>
            </a:avLst>
          </a:prstGeom>
          <a:solidFill>
            <a:srgbClr val="FBF0DA"/>
          </a:solidFill>
          <a:ln w="12700">
            <a:solidFill>
              <a:srgbClr val="E2B25F"/>
            </a:solidFill>
            <a:prstDash val="solid"/>
          </a:ln>
          <a:effectLst>
            <a:outerShdw sx="100000" sy="100000" kx="0" ky="0" algn="bl" rotWithShape="0" blurRad="88900" dist="25400" dir="5400000">
              <a:srgbClr val="1A2C4E">
                <a:alpha val="1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582058" y="1700784"/>
            <a:ext cx="512064" cy="512064"/>
          </a:xfrm>
          <a:prstGeom prst="ellipse">
            <a:avLst/>
          </a:prstGeom>
          <a:solidFill>
            <a:srgbClr val="DB8B1F"/>
          </a:solidFill>
          <a:ln/>
        </p:spPr>
      </p:sp>
      <p:pic>
        <p:nvPicPr>
          <p:cNvPr id="13" name="Image 1" descr="icons/warn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9833" y="1818559"/>
            <a:ext cx="276515" cy="276515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212994" y="1737360"/>
            <a:ext cx="240578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A57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nuance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4582058" y="2395728"/>
            <a:ext cx="3027578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3000"/>
              </a:lnSpc>
              <a:buNone/>
            </a:pPr>
            <a:r>
              <a:rPr lang="en-US" sz="1130" dirty="0">
                <a:solidFill>
                  <a:srgbClr val="22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v6 episode counts are ≈35% overdispersed (D = 1.355). Cause identified: the same rule re-opens within persistent slow-layer states. Definitional fix: count manifestations (debounced episodes), or carry the measured dispersion factor into the mileage budget as a safety margin.</a:t>
            </a:r>
            <a:endParaRPr lang="en-US" sz="1130" dirty="0"/>
          </a:p>
        </p:txBody>
      </p:sp>
      <p:sp>
        <p:nvSpPr>
          <p:cNvPr id="16" name="Shape 12"/>
          <p:cNvSpPr/>
          <p:nvPr/>
        </p:nvSpPr>
        <p:spPr>
          <a:xfrm>
            <a:off x="8121701" y="1463040"/>
            <a:ext cx="3503066" cy="3931920"/>
          </a:xfrm>
          <a:prstGeom prst="roundRect">
            <a:avLst>
              <a:gd name="adj" fmla="val 1827"/>
            </a:avLst>
          </a:prstGeom>
          <a:solidFill>
            <a:srgbClr val="FDEFEC"/>
          </a:solidFill>
          <a:ln w="12700">
            <a:solidFill>
              <a:srgbClr val="E8A093"/>
            </a:solidFill>
            <a:prstDash val="solid"/>
          </a:ln>
          <a:effectLst>
            <a:outerShdw sx="100000" sy="100000" kx="0" ky="0" algn="bl" rotWithShape="0" blurRad="88900" dist="25400" dir="5400000">
              <a:srgbClr val="1A2C4E">
                <a:alpha val="16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359445" y="1700784"/>
            <a:ext cx="512064" cy="512064"/>
          </a:xfrm>
          <a:prstGeom prst="ellipse">
            <a:avLst/>
          </a:prstGeom>
          <a:solidFill>
            <a:srgbClr val="D94F3D"/>
          </a:solidFill>
          <a:ln/>
        </p:spPr>
      </p:sp>
      <p:pic>
        <p:nvPicPr>
          <p:cNvPr id="18" name="Image 2" descr="icons/warn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7220" y="1818559"/>
            <a:ext cx="276515" cy="276515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990381" y="1737360"/>
            <a:ext cx="240578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9C2E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caution</a:t>
            </a:r>
            <a:endParaRPr lang="en-US" sz="1700" dirty="0"/>
          </a:p>
        </p:txBody>
      </p:sp>
      <p:sp>
        <p:nvSpPr>
          <p:cNvPr id="20" name="Text 15"/>
          <p:cNvSpPr/>
          <p:nvPr/>
        </p:nvSpPr>
        <p:spPr>
          <a:xfrm>
            <a:off x="8359445" y="2395728"/>
            <a:ext cx="3027578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3000"/>
              </a:lnSpc>
              <a:buNone/>
            </a:pPr>
            <a:r>
              <a:rPr lang="en-US" sz="1130" dirty="0">
                <a:solidFill>
                  <a:srgbClr val="22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differently-built worlds the counts are mixed Poisson — overdispersed by construction (seed-only rate sd ≈ 28%). A validation-mileage figure derived from one Poisson rate understates uncertainty about the world itself. Budget for model uncertainty, not just within-model noise.</a:t>
            </a:r>
            <a:endParaRPr lang="en-US" sz="1130" dirty="0"/>
          </a:p>
        </p:txBody>
      </p:sp>
      <p:sp>
        <p:nvSpPr>
          <p:cNvPr id="21" name="Shape 16"/>
          <p:cNvSpPr/>
          <p:nvPr/>
        </p:nvSpPr>
        <p:spPr>
          <a:xfrm>
            <a:off x="566928" y="5596128"/>
            <a:ext cx="11057839" cy="749808"/>
          </a:xfrm>
          <a:prstGeom prst="roundRect">
            <a:avLst>
              <a:gd name="adj" fmla="val 8537"/>
            </a:avLst>
          </a:prstGeom>
          <a:solidFill>
            <a:srgbClr val="16233F"/>
          </a:solidFill>
          <a:ln/>
        </p:spPr>
      </p:sp>
      <p:sp>
        <p:nvSpPr>
          <p:cNvPr id="22" name="Text 17"/>
          <p:cNvSpPr/>
          <p:nvPr/>
        </p:nvSpPr>
        <p:spPr>
          <a:xfrm>
            <a:off x="804672" y="5596128"/>
            <a:ext cx="10582351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recommendation:  </a:t>
            </a:r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validation mileage on manifestation-level counts; where conditions are heterogeneous or the model uncertain, inflate targets by the measured dispersion index.</a:t>
            </a:r>
            <a:endParaRPr lang="en-US" sz="12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6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9808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49808" y="82296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Poisson holds where it is needed — and the exceptions are now understood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49808" y="2112264"/>
            <a:ext cx="475488" cy="475488"/>
          </a:xfrm>
          <a:prstGeom prst="ellipse">
            <a:avLst/>
          </a:prstGeom>
          <a:solidFill>
            <a:srgbClr val="2E4470"/>
          </a:solidFill>
          <a:ln/>
        </p:spPr>
      </p:sp>
      <p:pic>
        <p:nvPicPr>
          <p:cNvPr id="5" name="Image 0" descr="icons/cpu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170" y="2221626"/>
            <a:ext cx="256764" cy="25676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08176" y="2057400"/>
            <a:ext cx="4846320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verified instrument</a:t>
            </a:r>
            <a:endParaRPr lang="en-US" sz="14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80" dirty="0">
                <a:solidFill>
                  <a:srgbClr val="B9C7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reproducible six-layer scenario simulator: exact class masses, per-element Gamma durations, planted C3–C6 unknowns, 1M-mile histories in seconds, 39 tests.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6373368" y="2112264"/>
            <a:ext cx="475488" cy="475488"/>
          </a:xfrm>
          <a:prstGeom prst="ellipse">
            <a:avLst/>
          </a:prstGeom>
          <a:solidFill>
            <a:srgbClr val="2E4470"/>
          </a:solidFill>
          <a:ln/>
        </p:spPr>
      </p:sp>
      <p:pic>
        <p:nvPicPr>
          <p:cNvPr id="8" name="Image 1" descr="icons/check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2730" y="2221626"/>
            <a:ext cx="256764" cy="25676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031736" y="2057400"/>
            <a:ext cx="4846320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assumption verified</a:t>
            </a:r>
            <a:endParaRPr lang="en-US" sz="14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80" dirty="0">
                <a:solidFill>
                  <a:srgbClr val="B9C7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a fixed world, unknown-scenario manifestations are Poisson — proven in the rare-event limit, confirmed by replication, window, and gap tests.</a:t>
            </a:r>
            <a:endParaRPr lang="en-US" sz="1450" dirty="0"/>
          </a:p>
        </p:txBody>
      </p:sp>
      <p:sp>
        <p:nvSpPr>
          <p:cNvPr id="10" name="Shape 6"/>
          <p:cNvSpPr/>
          <p:nvPr/>
        </p:nvSpPr>
        <p:spPr>
          <a:xfrm>
            <a:off x="749808" y="3685032"/>
            <a:ext cx="475488" cy="475488"/>
          </a:xfrm>
          <a:prstGeom prst="ellipse">
            <a:avLst/>
          </a:prstGeom>
          <a:solidFill>
            <a:srgbClr val="2E4470"/>
          </a:solidFill>
          <a:ln/>
        </p:spPr>
      </p:sp>
      <p:pic>
        <p:nvPicPr>
          <p:cNvPr id="11" name="Image 2" descr="icons/merge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170" y="3794394"/>
            <a:ext cx="256764" cy="25676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408176" y="3630168"/>
            <a:ext cx="4846320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deviation explained</a:t>
            </a:r>
            <a:endParaRPr lang="en-US" sz="14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80" dirty="0">
                <a:solidFill>
                  <a:srgbClr val="B9C7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v6 overdispersion (D = 1.35) traces entirely to same-rule re-opens inside persistent slow-layer states; merged manifestations restore D = 1.08.</a:t>
            </a:r>
            <a:endParaRPr lang="en-US" sz="1450" dirty="0"/>
          </a:p>
        </p:txBody>
      </p:sp>
      <p:sp>
        <p:nvSpPr>
          <p:cNvPr id="13" name="Shape 8"/>
          <p:cNvSpPr/>
          <p:nvPr/>
        </p:nvSpPr>
        <p:spPr>
          <a:xfrm>
            <a:off x="6373368" y="3685032"/>
            <a:ext cx="475488" cy="475488"/>
          </a:xfrm>
          <a:prstGeom prst="ellipse">
            <a:avLst/>
          </a:prstGeom>
          <a:solidFill>
            <a:srgbClr val="2E4470"/>
          </a:solidFill>
          <a:ln/>
        </p:spPr>
      </p:sp>
      <p:pic>
        <p:nvPicPr>
          <p:cNvPr id="14" name="Image 3" descr="icons/trend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2730" y="3794394"/>
            <a:ext cx="256764" cy="256764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7031736" y="3630168"/>
            <a:ext cx="4846320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boundary that matters</a:t>
            </a:r>
            <a:endParaRPr lang="en-US" sz="14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80" dirty="0">
                <a:solidFill>
                  <a:srgbClr val="B9C7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model builds, counts are mixed Poisson — validation mileage and acceptance-criteria decompositions should budget for world-model uncertainty.</a:t>
            </a:r>
            <a:endParaRPr lang="en-US" sz="1450" dirty="0"/>
          </a:p>
        </p:txBody>
      </p:sp>
      <p:sp>
        <p:nvSpPr>
          <p:cNvPr id="16" name="Shape 10"/>
          <p:cNvSpPr/>
          <p:nvPr/>
        </p:nvSpPr>
        <p:spPr>
          <a:xfrm>
            <a:off x="749808" y="5349240"/>
            <a:ext cx="10972800" cy="0"/>
          </a:xfrm>
          <a:prstGeom prst="line">
            <a:avLst/>
          </a:prstGeom>
          <a:noFill/>
          <a:ln w="12700">
            <a:solidFill>
              <a:srgbClr val="2E4470"/>
            </a:solidFill>
            <a:prstDash val="solid"/>
          </a:ln>
        </p:spPr>
      </p:sp>
      <p:sp>
        <p:nvSpPr>
          <p:cNvPr id="17" name="Text 11"/>
          <p:cNvSpPr/>
          <p:nvPr/>
        </p:nvSpPr>
        <p:spPr>
          <a:xfrm>
            <a:off x="749808" y="553212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work:  </a:t>
            </a:r>
            <a:pPr indent="0" marL="0">
              <a:buNone/>
            </a:pPr>
            <a:r>
              <a:rPr lang="en-US" sz="1150" dirty="0">
                <a:solidFill>
                  <a:srgbClr val="B9C7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 layer catalogs and durations to field data · interaction studies beyond one-factor screening · conditional transition mode · multi-seed dispersion confidence intervals</a:t>
            </a:r>
            <a:endParaRPr lang="en-US" sz="1150" dirty="0"/>
          </a:p>
        </p:txBody>
      </p:sp>
      <p:sp>
        <p:nvSpPr>
          <p:cNvPr id="18" name="Text 12"/>
          <p:cNvSpPr/>
          <p:nvPr/>
        </p:nvSpPr>
        <p:spPr>
          <a:xfrm>
            <a:off x="749808" y="5989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Artifacts: simulator.py · config.yaml · episodes.csv / windows.csv / stats.json · poisson_proof.md · 21 studies under studies/</a:t>
            </a:r>
            <a:endParaRPr lang="en-US" sz="1000" dirty="0"/>
          </a:p>
        </p:txBody>
      </p:sp>
      <p:sp>
        <p:nvSpPr>
          <p:cNvPr id="19" name="Text 13"/>
          <p:cNvSpPr/>
          <p:nvPr/>
        </p:nvSpPr>
        <p:spPr>
          <a:xfrm>
            <a:off x="11505895" y="6510528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  <p:sp>
        <p:nvSpPr>
          <p:cNvPr id="20" name="Text 14"/>
          <p:cNvSpPr/>
          <p:nvPr/>
        </p:nvSpPr>
        <p:spPr>
          <a:xfrm>
            <a:off x="566928" y="6510528"/>
            <a:ext cx="594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Unknown-Scenario Poisson Verification · Layered Scenario Simulator v6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2026-08-12T15:12:23Z</dcterms:created>
  <dcterms:modified xsi:type="dcterms:W3CDTF">2026-08-12T15:12:23Z</dcterms:modified>
</cp:coreProperties>
</file>