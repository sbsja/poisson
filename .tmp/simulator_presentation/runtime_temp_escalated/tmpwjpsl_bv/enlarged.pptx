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9e9e707b5f243bf" Type="http://schemas.openxmlformats.org/package/2006/relationships/metadata/core-properties" Target="docProps/core.xml"/><Relationship Id="R4017b2f61cdd4bea" Type="http://schemas.openxmlformats.org/officeDocument/2006/relationships/extended-properties" Target="docProps/app.xml"/><Relationship Id="R7c3ec4c2047a47c2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cd798b776c4b74"/>
  </p:sldMasterIdLst>
  <p:notesMasterIdLst>
    <p:notesMasterId xmlns:r="http://schemas.openxmlformats.org/officeDocument/2006/relationships" r:id="R05a67ea83bb846ad"/>
  </p:notesMasterIdLst>
  <p:sldIdLst>
    <p:sldId xmlns:r="http://schemas.openxmlformats.org/officeDocument/2006/relationships" id="256" r:id="Rf1c0c3b8c3f34d6b"/>
    <p:sldId xmlns:r="http://schemas.openxmlformats.org/officeDocument/2006/relationships" id="257" r:id="R43adc87128e3482b"/>
    <p:sldId xmlns:r="http://schemas.openxmlformats.org/officeDocument/2006/relationships" id="258" r:id="Re1db3a2ff63246d6"/>
    <p:sldId xmlns:r="http://schemas.openxmlformats.org/officeDocument/2006/relationships" id="259" r:id="R5fcaffbf84284de7"/>
    <p:sldId xmlns:r="http://schemas.openxmlformats.org/officeDocument/2006/relationships" id="260" r:id="R06cfb4996ff846bd"/>
    <p:sldId xmlns:r="http://schemas.openxmlformats.org/officeDocument/2006/relationships" id="261" r:id="R3f18d0a795c4453f"/>
    <p:sldId xmlns:r="http://schemas.openxmlformats.org/officeDocument/2006/relationships" id="262" r:id="R5b78946b12c94cef"/>
    <p:sldId xmlns:r="http://schemas.openxmlformats.org/officeDocument/2006/relationships" id="263" r:id="R5b7a28969aca4cc2"/>
    <p:sldId xmlns:r="http://schemas.openxmlformats.org/officeDocument/2006/relationships" id="264" r:id="R09908b8c8db046fd"/>
    <p:sldId xmlns:r="http://schemas.openxmlformats.org/officeDocument/2006/relationships" id="265" r:id="Rad49313705d64730"/>
    <p:sldId xmlns:r="http://schemas.openxmlformats.org/officeDocument/2006/relationships" id="266" r:id="R29880609d36b4bff"/>
    <p:sldId xmlns:r="http://schemas.openxmlformats.org/officeDocument/2006/relationships" id="267" r:id="Re97a95634120482c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a67ea83bb846ad" Type="http://schemas.openxmlformats.org/officeDocument/2006/relationships/notesMaster" Target="notesMasters/notesMaster1.xml"/><Relationship Id="R06cfb4996ff846bd" Type="http://schemas.openxmlformats.org/officeDocument/2006/relationships/slide" Target="slides/slide5.xml"/><Relationship Id="R09908b8c8db046fd" Type="http://schemas.openxmlformats.org/officeDocument/2006/relationships/slide" Target="slides/slide9.xml"/><Relationship Id="R21a46056d469464c" Type="http://schemas.openxmlformats.org/officeDocument/2006/relationships/presProps" Target="presProps.xml"/><Relationship Id="R29880609d36b4bff" Type="http://schemas.openxmlformats.org/officeDocument/2006/relationships/slide" Target="slides/slide11.xml"/><Relationship Id="R3f18d0a795c4453f" Type="http://schemas.openxmlformats.org/officeDocument/2006/relationships/slide" Target="slides/slide6.xml"/><Relationship Id="R43adc87128e3482b" Type="http://schemas.openxmlformats.org/officeDocument/2006/relationships/slide" Target="slides/slide2.xml"/><Relationship Id="R5b78946b12c94cef" Type="http://schemas.openxmlformats.org/officeDocument/2006/relationships/slide" Target="slides/slide7.xml"/><Relationship Id="R5b7a28969aca4cc2" Type="http://schemas.openxmlformats.org/officeDocument/2006/relationships/slide" Target="slides/slide8.xml"/><Relationship Id="R5fcaffbf84284de7" Type="http://schemas.openxmlformats.org/officeDocument/2006/relationships/slide" Target="slides/slide4.xml"/><Relationship Id="Rad49313705d64730" Type="http://schemas.openxmlformats.org/officeDocument/2006/relationships/slide" Target="slides/slide10.xml"/><Relationship Id="Re1db3a2ff63246d6" Type="http://schemas.openxmlformats.org/officeDocument/2006/relationships/slide" Target="slides/slide3.xml"/><Relationship Id="Re7977b94f2f047f2" Type="http://schemas.openxmlformats.org/officeDocument/2006/relationships/tableStyles" Target="tableStyles.xml"/><Relationship Id="Re97a95634120482c" Type="http://schemas.openxmlformats.org/officeDocument/2006/relationships/slide" Target="slides/slide12.xml"/><Relationship Id="Rebb7693690684ab1" Type="http://schemas.openxmlformats.org/officeDocument/2006/relationships/theme" Target="theme/theme1.xml"/><Relationship Id="Reecd798b776c4b74" Type="http://schemas.openxmlformats.org/officeDocument/2006/relationships/slideMaster" Target="slideMasters/slideMaster1.xml"/><Relationship Id="Rf1c0c3b8c3f34d6b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0359d60d4c264dd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8492291e65e4bc2" Type="http://schemas.openxmlformats.org/officeDocument/2006/relationships/notesMaster" Target="../notesMasters/notesMaster1.xml"/><Relationship Id="R621ced83ea344e3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ce0fa965a8f4ab3" Type="http://schemas.openxmlformats.org/officeDocument/2006/relationships/slide" Target="../slides/slide2.xml"/><Relationship Id="Rc61666a292694a6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68133dc6e5547bf" Type="http://schemas.openxmlformats.org/officeDocument/2006/relationships/notesMaster" Target="../notesMasters/notesMaster1.xml"/><Relationship Id="R08d34d43854b4c7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72f69bd9772419b" Type="http://schemas.openxmlformats.org/officeDocument/2006/relationships/slide" Target="../slides/slide4.xml"/><Relationship Id="R668e21c06bdc44f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64aeee40ad94017" Type="http://schemas.openxmlformats.org/officeDocument/2006/relationships/notesMaster" Target="../notesMasters/notesMaster1.xml"/><Relationship Id="R5ca8dc868719461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b8831b136e64ff2" Type="http://schemas.openxmlformats.org/officeDocument/2006/relationships/notesMaster" Target="../notesMasters/notesMaster1.xml"/><Relationship Id="R6a9262f6450946fd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b609f32306d24c79" Type="http://schemas.openxmlformats.org/officeDocument/2006/relationships/notesMaster" Target="../notesMasters/notesMaster1.xml"/><Relationship Id="Re66bfe5759ab467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2c42ffba1ec4657" Type="http://schemas.openxmlformats.org/officeDocument/2006/relationships/slide" Target="../slides/slide8.xml"/><Relationship Id="R9576133e4ebd4528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5a4f3fd22eb4a27" Type="http://schemas.openxmlformats.org/officeDocument/2006/relationships/slide" Target="../slides/slide9.xml"/><Relationship Id="Rcb0fce8b11aa44b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cfeccd6960d841a0" Type="http://schemas.openxmlformats.org/officeDocument/2006/relationships/slide" Target="../slides/slide10.xml"/><Relationship Id="Rf97acf59814e49d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3d970273f4c4f1c" Type="http://schemas.openxmlformats.org/officeDocument/2006/relationships/notesMaster" Target="../notesMasters/notesMaster1.xml"/><Relationship Id="R8beda934c9624a9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18b3b507ca34801" Type="http://schemas.openxmlformats.org/officeDocument/2006/relationships/notesMaster" Target="../notesMasters/notesMaster1.xml"/><Relationship Id="Rb580e888f65447f0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system as a joint-state simulator, not a conventional Poisson arrival generator.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is best understood as six asynchronous renewal processes whose current values form one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simulator.py:42-52</a:t>
            </a:r>
          </a:p>
          <a:p xmlns:a="http://schemas.openxmlformats.org/drawingml/2006/main">
            <a:r>
              <a:t>- simulator.py:1118-1164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layers run simultaneously rather than as sequential processing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config.yaml:85-119</a:t>
            </a:r>
          </a:p>
          <a:p xmlns:a="http://schemas.openxmlformats.org/drawingml/2006/main">
            <a:r>
              <a:t>- simulator.py:42-52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shown are reproducible with the current element-count and rarity-assignment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config.yaml:45-119</a:t>
            </a:r>
          </a:p>
          <a:p xmlns:a="http://schemas.openxmlformats.org/drawingml/2006/main">
            <a:r>
              <a:t>- simulator.py:549-557</a:t>
            </a:r>
          </a:p>
          <a:p xmlns:a="http://schemas.openxmlformats.org/drawingml/2006/main">
            <a:r>
              <a:t>- simulator.py:703-749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Selection share is not occupancy share because rarity classes have different duration distributions.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DOCUMENTATION.md:24-63</a:t>
            </a:r>
          </a:p>
          <a:p xmlns:a="http://schemas.openxmlformats.org/drawingml/2006/main">
            <a:r>
              <a:t>- simulator.py:718-735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uses the street layer to make the configured non-overlapping mean bands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config.yaml:67-79</a:t>
            </a:r>
          </a:p>
          <a:p xmlns:a="http://schemas.openxmlformats.org/drawingml/2006/main">
            <a:r>
              <a:t>- simulator.py:673-700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fixed time step is used. Multiple layers expiring together are handled at the same event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simulator.py:1167-1252</a:t>
            </a:r>
          </a:p>
          <a:p xmlns:a="http://schemas.openxmlformats.org/drawingml/2006/main">
            <a:r>
              <a:t>- simulator.py:1284-1462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configuration selects 40 C3, 30 C4, 20 C5, and 10 C6 rules without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config.yaml:81-91</a:t>
            </a:r>
          </a:p>
          <a:p xmlns:a="http://schemas.openxmlformats.org/drawingml/2006/main">
            <a:r>
              <a:t>- simulator.py:974-1039</a:t>
            </a:r>
          </a:p>
          <a:p xmlns:a="http://schemas.openxmlformats.org/drawingml/2006/main">
            <a:r>
              <a:t>- simulator.py:1150-1164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semantic change in simulator version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README.md:44-57</a:t>
            </a:r>
          </a:p>
          <a:p xmlns:a="http://schemas.openxmlformats.org/drawingml/2006/main">
            <a:r>
              <a:t>- simulator.py:1045-1065</a:t>
            </a:r>
          </a:p>
          <a:p xmlns:a="http://schemas.openxmlformats.org/drawingml/2006/main">
            <a:r>
              <a:t>- simulator.py:1244-1251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50 mph, 20,000 simulated hours correspond to one million derived miles.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config.yaml:9-27</a:t>
            </a:r>
          </a:p>
          <a:p xmlns:a="http://schemas.openxmlformats.org/drawingml/2006/main">
            <a:r>
              <a:t>- simulator.py:1121-1148</a:t>
            </a:r>
          </a:p>
          <a:p xmlns:a="http://schemas.openxmlformats.org/drawingml/2006/main">
            <a:r>
              <a:t>- simulator.py:1358-1377</a:t>
            </a:r>
          </a:p>
          <a:p xmlns:a="http://schemas.openxmlformats.org/drawingml/2006/main">
            <a:r>
              <a:t>- run_simulation.py:682-717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cumulative line is a realized output from the current seeded configuration, not a theoretical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run_simulation.py:30-63</a:t>
            </a:r>
          </a:p>
          <a:p xmlns:a="http://schemas.openxmlformats.org/drawingml/2006/main">
            <a:r>
              <a:t>- run_simulation.py:336-382</a:t>
            </a:r>
          </a:p>
          <a:p xmlns:a="http://schemas.openxmlformats.org/drawingml/2006/main">
            <a:r>
              <a:t>- version 6/stats.json</a:t>
            </a:r>
          </a:p>
          <a:p xmlns:a="http://schemas.openxmlformats.org/drawingml/2006/main">
            <a:r>
              <a:t>- version 6/plots/cumulative_episodes.png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interpretation: Poisson-style statistics are outputs used for analysis, not the mechanism that drives the simulation.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DOCUMENTATION.md</a:t>
            </a:r>
          </a:p>
          <a:p xmlns:a="http://schemas.openxmlformats.org/drawingml/2006/main">
            <a:r>
              <a:t>- simulator.py:1-18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9ca9b84eea04b3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14bd65d9c454cfb" Type="http://schemas.openxmlformats.org/officeDocument/2006/relationships/slideLayout" Target="../slideLayouts/slideLayout1.xml"/><Relationship Id="Re2d4fda785f747b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bd65d9c454c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ca84d8e70684c75" Type="http://schemas.openxmlformats.org/officeDocument/2006/relationships/slideLayout" Target="../slideLayouts/slideLayout1.xml"/><Relationship Id="R5eff18b13b534d5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0f1b41daeea4280" Type="http://schemas.openxmlformats.org/officeDocument/2006/relationships/slideLayout" Target="../slideLayouts/slideLayout1.xml"/><Relationship Id="Rba3625c303c14eb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e152cd7dacd4013" Type="http://schemas.openxmlformats.org/officeDocument/2006/relationships/slideLayout" Target="../slideLayouts/slideLayout1.xml"/><Relationship Id="R738342f1aa76472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d1850361da594459" Type="http://schemas.openxmlformats.org/officeDocument/2006/relationships/slideLayout" Target="../slideLayouts/slideLayout1.xml"/><Relationship Id="Rf4d77731d55e41a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5412a0c7c63466e" Type="http://schemas.openxmlformats.org/officeDocument/2006/relationships/notesSlide" Target="../notesSlides/notesSlide5.xml"/><Relationship Id="R6f53995bfb76439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05672e5f04544ac" Type="http://schemas.openxmlformats.org/officeDocument/2006/relationships/chart" Target="charts/chart1.xml"/><Relationship Id="R381acb71f5c54706" Type="http://schemas.openxmlformats.org/officeDocument/2006/relationships/notesSlide" Target="../notesSlides/notesSlide6.xml"/><Relationship Id="R93a57317f6b74fc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e28e6d1c0c8a4ed5" Type="http://schemas.openxmlformats.org/officeDocument/2006/relationships/notesSlide" Target="../notesSlides/notesSlide7.xml"/><Relationship Id="Rfc12a91359f3433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9e2716a505e4b8f" Type="http://schemas.openxmlformats.org/officeDocument/2006/relationships/slideLayout" Target="../slideLayouts/slideLayout1.xml"/><Relationship Id="R585a471c76bb48a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54c504a12094380" Type="http://schemas.openxmlformats.org/officeDocument/2006/relationships/slideLayout" Target="../slideLayouts/slideLayout1.xml"/><Relationship Id="R25ce5ff5165842a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a8e63e35a0646c2" Type="http://schemas.openxmlformats.org/officeDocument/2006/relationships/slideLayout" Target="../slideLayouts/slideLayout1.xml"/><Relationship Id="Rf2b79e962d6a4aa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a1ce3d47d8764708" Type="http://schemas.openxmlformats.org/officeDocument/2006/relationships/slideLayout" Target="../slideLayouts/slideLayout1.xml"/><Relationship Id="Rada5df0177f24517" Type="http://schemas.openxmlformats.org/officeDocument/2006/relationships/image" Target="../media/image.png"/><Relationship Id="Reb0e09229d0a4d1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7477065c1744629" Type="http://schemas.openxmlformats.org/officeDocument/2006/relationships/slideLayout" Target="../slideLayouts/slideLayout1.xml"/><Relationship Id="Rd6584b16bef84c8d" Type="http://schemas.openxmlformats.org/officeDocument/2006/relationships/notesSlide" Target="../notesSlides/notesSlide12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Minimum mean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Common</c:v>
              </c:pt>
              <c:pt idx="1">
                <c:v>Rare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202.5</c:v>
              </c:pt>
              <c:pt idx="2">
                <c:v>75</c:v>
              </c:pt>
            </c:numLit>
          </c:val>
        </c:ser>
        <c:ser>
          <c:idx val="1"/>
          <c:order val="1"/>
          <c:tx>
            <c:v>Maximum mean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Common</c:v>
              </c:pt>
              <c:pt idx="1">
                <c:v>Rare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495</c:v>
              </c:pt>
              <c:pt idx="1">
                <c:v>247.5</c:v>
              </c:pt>
              <c:pt idx="2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4B5563"/>
                    </a:solidFill>
                  </a:rPr>
                  <a:t>Street mean duration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" name="Rectangle 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32BAD95-4A7D-4511-869F-8C4204BA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500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Autonomous-Vehicle
Scenario Simulator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FAA6830-3FED-4C42-9C69-E9814FC0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5504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reproducible, event-driven model of layered driving scenarios and exact rare-combination episodes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B792CE5-4403-410A-BD23-502B3843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54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EXPLAINER</a:t>
            </a:r>
          </a:p>
        </p:txBody>
      </p:sp>
    </p:spTree>
    <p:extLst>
      <p:ext uri="{BB962C8B-B14F-4D97-AF65-F5344CB8AC3E}">
        <p14:creationId xmlns:p14="http://schemas.microsoft.com/office/powerpoint/2010/main" val="18686414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B10ED63-9FB7-497F-B312-31D5C232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39CC407-84E0-4E29-AD93-3929466A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concurrent layers form one evolving scenario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FB46C9D-05A7-4247-ADA7-FFC5C8B0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4127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Parallel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element is active in every layer at every simulated instant.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4415288-880D-49D9-85B7-B1766850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7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Joint classification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complete six-layer state is checked against selected exact rare-element rules.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BAE2E97-E854-45A9-B861-B227CC8F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82" y="4127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Independent clocks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active element remains for a sampled Gamma duration before its layer updates.</a:t>
            </a:r>
          </a:p>
        </p:txBody>
      </p:sp>
    </p:spTree>
    <p:extLst>
      <p:ext uri="{BB962C8B-B14F-4D97-AF65-F5344CB8AC3E}">
        <p14:creationId xmlns:p14="http://schemas.microsoft.com/office/powerpoint/2010/main" val="18720350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E55FA2C-38F3-4B89-9BC0-ABD49B8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9A1E281-15E7-41D1-A3AA-5A531ED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six layers describe complementary context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1155668" y="2841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Street — persistent road and lane context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Temporal modifications — work zones and temporary traffic management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Ego maneuver — the autonomous vehicle's current maneuver class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Road-user maneuver — surrounding vehicle and road-user behavior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Environmental conditions — weather, visibility, and ambient context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D8DFF"/>
                          </a:solidFill>
                        </a:rPr>
                        <a:t>06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Triggering conditions — unexpected conditions that can complete a rare scenario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3006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B05C62D-829E-49DE-A9A5-12E519C6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EC1956B-EA14-42AE-93C7-14DF4FE3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Generated elements preserve the target class mix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F8CEB03-46D0-4E22-95F3-475CE97B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07" y="1819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SEEDED CONFIGURATION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Largest-remainder allocation converts 70% common / 20% rare / 10% unknown targets into exact integer counts.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1155668" y="3013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Common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Rare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Unknown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Street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Temporal modifications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Ego maneuver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Road-user maneuver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Environmental conditions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Triggering conditions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All layers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204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145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40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Configured target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100%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70%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20%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10%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7626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60B1270-AB89-43D6-95A4-B3ED46FC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1980F8A-D8E5-4552-A15E-DB0C004E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82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8731F6D-1473-4D43-AAF3-3F039797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267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69F9702-BB6E-414B-B2DC-7183ADD8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2D3EA4F-E09B-4E2E-B6F9-472F6AEA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Selection mass is exact; time occupancy is not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513A53D-6304-4D2C-B257-0FB2DB60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common transition mass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D66AC73-AC00-498B-931A-BC19CD83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830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unknown transition mass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993B164-777B-484A-AD64-7476F4E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24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rare transition mass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2143753-E557-4A09-AD9E-1CD5CA8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D7BA796B-EFEE-4EBF-9E59-D8B0226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958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5C3D8C7-C54F-4ADA-8111-8AF41256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40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651E0FD-F779-456C-B1B5-DEED0DA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900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 DIFFERENT PERCENTAGE CONTROLS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Element percentages set class counts. Selection percentages set total transition mass. A Dirichlet draw only redistributes probability within each class.</a:t>
            </a:r>
          </a:p>
        </p:txBody>
      </p:sp>
    </p:spTree>
    <p:extLst>
      <p:ext uri="{BB962C8B-B14F-4D97-AF65-F5344CB8AC3E}">
        <p14:creationId xmlns:p14="http://schemas.microsoft.com/office/powerpoint/2010/main" val="16136043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7813895-3212-4CA1-ACEA-A82399F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FFDF713-F5B5-4A6B-A338-1A6E042E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element carries its own Gamma clock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74D6CE16-6B6E-4C95-8B24-9AAE4BC5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402" y="3131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8F61B0B-6E80-4815-B9A8-7C826EC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677" y="3426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Rare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Middle band
0.75× layer mean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C89E2969-40A7-4D35-85BC-965D34A8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402" y="1155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1F128B7-A798-4A5E-9460-A04C990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677" y="1450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Common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Longest band
1.50× layer mean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A0C8BCF6-1A3E-4683-BDE3-15BA8DF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402" y="5143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3555D6C-9504-461D-A163-C47F747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677" y="5438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Unknown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Shortest band
0.25× layer mean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170718" y="1816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5672e5f04544ac"/>
          </a:graphicData>
        </a:graphic>
      </p:graphicFrame>
    </p:spTree>
    <p:extLst>
      <p:ext uri="{BB962C8B-B14F-4D97-AF65-F5344CB8AC3E}">
        <p14:creationId xmlns:p14="http://schemas.microsoft.com/office/powerpoint/2010/main" val="435593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42A5E96-FD86-40CE-A659-FDB6349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B5FCDE1-CDB6-49EB-BDEA-686C15FA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engine jumps from one expiry to the next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1099757" y="6103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BAFC405-2FC9-43F3-9AB1-F5665371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57" y="6050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AA1C0B7-54B8-48C1-B474-4FB92A3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770" y="6050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98CCBA3-00EF-4A32-A2CF-6EC50FA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70" y="6050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5EE6CF18-9AEA-4018-9630-F50AE66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163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89B684B-BD0D-41C3-AA4C-BBD435B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421" y="2568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Initialize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one element and sample one duration for all six layers.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43E51C9-022C-4706-976B-8D1590A1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443" y="2163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0C3C79B-49E5-455B-8826-59980345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196" y="2568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Advance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Jump by the smallest remaining duration and derive mileage from elapsed time.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B316739-EFAB-4025-98F6-8CD4791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506" y="2163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3C7D925-2519-4A14-9156-5121D56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259" y="2568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Replace + classify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Resample expired layers, then open, continue, or close the matching episode.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AB95CE3-EFB4-4C37-9329-02FB23C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770" y="6364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expiry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CA42E0A8-50AB-4B95-947C-EDD2D55E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06" y="6364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 = 0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3680CE8-1256-4743-B3B0-7D0A338A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409" y="6364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2125694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67250EB-21A9-4494-8B04-3B9B33F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2697AAE-6788-451E-9B35-250A89A5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unknown episode requires an exact rare set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2F57C17-5374-4639-A2E1-3281F2A6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920" y="4127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0C46FFB7-D935-4D77-83E3-B269E93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7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F29E958-BD36-4BFC-9843-CA5E2FB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816" y="4908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Trigger required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C3–C6 rule includes a rare triggering condition.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A4C4407-F794-4E20-9C73-1E8EE78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115" y="4908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Unknown disqualifies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Any unknown-rarity element prevents a match.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9F22A63-7708-4EB3-835F-47D1C6CE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626" y="4456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9D56D09-F107-4FEE-AE16-BCA7B67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257" y="4456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97781BB4-7EF3-4EAD-97B2-9917ACAA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34" y="4127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97556CD-1D59-46A4-A6D5-487A7DD1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135" y="4908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Exact rare set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additional rare element may be active.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814C654-1403-41DC-9F92-A7C115EA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041" y="4456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E94657A-ADFF-4C61-B91F-91ACC479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212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EXAMPLE SELECTED C3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street_000 + temporal_001 + trigger_032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remaining three layers must all be common.</a:t>
            </a:r>
          </a:p>
        </p:txBody>
      </p:sp>
    </p:spTree>
    <p:extLst>
      <p:ext uri="{BB962C8B-B14F-4D97-AF65-F5344CB8AC3E}">
        <p14:creationId xmlns:p14="http://schemas.microsoft.com/office/powerpoint/2010/main" val="5305975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12C43E9-4811-4EC5-A2EE-85C804A1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C729020-9E75-4D7E-8E37-DFFABDD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“Unknown” means two different things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2C674CD-4A5C-4F3B-A283-780B2A2F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02" y="4101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4E2FDE7-2FCA-4D6A-BC73-9E4D748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" y="4349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Unknown-rarity element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853B2E4-D473-4911-9A6A-4D581407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" y="5590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generated element class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Has its own probability and Gamma law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Does not open an episode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CC077B0-8BDA-4B3C-A008-2B051F0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783" y="4101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C71115F-AD2E-4E8A-B1C8-9E1D71E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58" y="4349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 scenario episode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BD00B35-C1A4-41C6-94D3-BEB1A42A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58" y="5590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selected C3–C6 rare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Starts when the full joint state matches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Ends when that exact match breaks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09D7749-EB56-40B6-92D1-8872C015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07" y="1919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DISTINCTION PREVENTS MISREADING THE RESULTS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Unknown-rarity elements participate in ordinary selection and duration statistics. Only exact rare combinations create reportable episodes.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240674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C54752C-8D7C-4654-9EFA-874D5E98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90E8696-8688-4223-ABA7-2793BB7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82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4524238-4EFC-440C-9A38-9226F908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267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6DC4BCB-35CF-40D4-B805-EC5FE0C2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C83A01D-70D1-4488-A764-63E4D48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Seeds and boundary rules make runs repeatable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A9F02A2-E1CC-4807-9CE9-2E26F07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configured time horizon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2C418DA-1D4A-41F8-9910-B96F03C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830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intentional overshoot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30BBC52-EE59-46C3-902F-9FB3B424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24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independent RNG streams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AD27029-E24C-42E3-AFD7-1A2B5B3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20,000 h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78880D7-A877-4471-BE5B-49759C38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958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EB2E9F4-3B51-4EBF-AE1F-9B64B2E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40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B05B7DA-034C-4351-B4CD-07174F4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900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DESIGNED FOR CONTROLLED EXPERIMENTS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random streams isolate model decisions, while checkpointing preserves generator state for bit-identical resumed execution.</a:t>
            </a:r>
          </a:p>
        </p:txBody>
      </p:sp>
    </p:spTree>
    <p:extLst>
      <p:ext uri="{BB962C8B-B14F-4D97-AF65-F5344CB8AC3E}">
        <p14:creationId xmlns:p14="http://schemas.microsoft.com/office/powerpoint/2010/main" val="278493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" name="Rectangle 1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9619A5DA-971E-4D4E-8A12-8FACE2E5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Outputs turn episodes into measurable evidence</a:t>
            </a:r>
          </a:p>
        </p:txBody>
      </p:sp>
      <p:sp>
        <p:nvSpPr>
          <p:cNvPr id="2" name="slide-11-body">
            <a:extLst xmlns:a="http://schemas.openxmlformats.org/drawingml/2006/main">
              <a:ext uri="{FF2B5EF4-FFF2-40B4-BE49-F238E27FC236}">
                <a16:creationId xmlns:a16="http://schemas.microsoft.com/office/drawing/2014/main" id="{B257705E-C5F2-462D-9F9F-40B23BF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381250"/>
            <a:ext cx="3952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runner produces: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episodes.csv — start, end, duration, inter-arrival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windows.csv — starts per complete mileage window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stats.json — rates, occupancy, composition, diagnostics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summary.md and plots — review-ready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seeded run: 495 episodes across 1,000,000 derived miles.</a:t>
            </a:r>
          </a:p>
        </p:txBody>
      </p:sp>
      <p:sp>
        <p:nvSpPr>
          <p:cNvPr id="3" name="plot-frame">
            <a:extLst xmlns:a="http://schemas.openxmlformats.org/drawingml/2006/main">
              <a:ext uri="{FF2B5EF4-FFF2-40B4-BE49-F238E27FC236}">
                <a16:creationId xmlns:a16="http://schemas.microsoft.com/office/drawing/2014/main" id="{BEB13F85-468B-404C-B1B7-BD6ABEC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7038975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5df0177f24517"/>
          <a:stretch xmlns:a="http://schemas.openxmlformats.org/drawingml/2006/main"/>
        </p:blipFill>
        <p:spPr>
          <a:xfrm xmlns:a="http://schemas.openxmlformats.org/drawingml/2006/main">
            <a:off x="5638800" y="2527829"/>
            <a:ext cx="6810375" cy="3783542"/>
          </a:xfrm>
          <a:prstGeom xmlns:a="http://schemas.openxmlformats.org/drawingml/2006/main" prst="rect">
            <a:avLst/>
          </a:prstGeom>
        </p:spPr>
      </p:pic>
      <p:sp>
        <p:nvSpPr>
          <p:cNvPr id="5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F4FDC2B2-54F7-4FD3-96D9-3B9991A9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24200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" name="Rectangle 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1317ED1-6E11-4A3D-98A7-0C49207D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500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reproducible joint-state engine—
not a Poisson clock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44FA7FA-B6B8-4826-A460-ECD46623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5735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asynchronous layers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Element-specific Gamma sojourns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C3–C6 episode rules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913FD0C-006E-45EB-95D2-AFFBDF7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54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CORE TAKEAWAY</a:t>
            </a:r>
          </a:p>
        </p:txBody>
      </p:sp>
    </p:spTree>
    <p:extLst>
      <p:ext uri="{BB962C8B-B14F-4D97-AF65-F5344CB8AC3E}">
        <p14:creationId xmlns:p14="http://schemas.microsoft.com/office/powerpoint/2010/main" val="1194811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2026-08-08T11:22:03.8530000Z</dcterms:created>
  <dcterms:modified xsi:type="dcterms:W3CDTF">2026-08-08T11:22:03.8540000Z</dcterms:modified>
</coreProperties>
</file>